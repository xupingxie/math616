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3D62"/>
        </a:solidFill>
        <a:effectLst/>
      </p:bgPr>
    </p:bg>
    <p:spTree>
      <p:nvGrpSpPr>
        <p:cNvPr id="1" name=""/>
        <p:cNvGrpSpPr/>
        <p:nvPr/>
      </p:nvGrpSpPr>
      <p:grpSpPr/>
      <p:sp>
        <p:nvSpPr>
          <p:cNvPr id="2" name="Direct Methods for Solving Linear Systems" descr="Direct Methods for Solving Linear Systems"/>
          <p:cNvSpPr>
            <a:spLocks noGrp="1"/>
          </p:cNvSpPr>
          <p:nvPr>
            <p:ph type="title"/>
          </p:nvPr>
        </p:nvSpPr>
        <p:spPr>
          <a:xfrm>
            <a:off x="566928" y="1938528"/>
            <a:ext cx="11058113" cy="1371600"/>
          </a:xfrm>
        </p:spPr>
        <p:txBody>
          <a:bodyPr wrap="square" lIns="0" rIns="0" tIns="0" bIns="0" anchor="ctr"/>
          <a:lstStyle/>
          <a:p>
            <a:pPr algn="l"/>
            <a:r>
              <a:rPr sz="4000" b="1" lang="en-US" dirty="0">
                <a:solidFill>
                  <a:srgbClr val="FFFFFF"/>
                </a:solidFill>
                <a:latin typeface="Calibri"/>
              </a:rPr>
              <a:t>Direct Methods for Solving Linear Systems</a:t>
            </a:r>
          </a:p>
        </p:txBody>
      </p:sp>
      <p:sp>
        <p:nvSpPr>
          <p:cNvPr id="3" name="MATH 616 · Computational Linear Algebra" descr="MATH 616 · Computational Linear Algebra"/>
          <p:cNvSpPr txBox="1"/>
          <p:nvPr/>
        </p:nvSpPr>
        <p:spPr>
          <a:xfrm>
            <a:off x="566928" y="1444752"/>
            <a:ext cx="11058113" cy="365760"/>
          </a:xfrm>
          <a:prstGeom prst="rect">
            <a:avLst/>
          </a:prstGeom>
          <a:noFill/>
        </p:spPr>
        <p:txBody>
          <a:bodyPr wrap="square" lIns="0" rIns="0" tIns="0" bIns="0">
            <a:spAutoFit/>
          </a:bodyPr>
          <a:lstStyle/>
          <a:p>
            <a:pPr algn="l">
              <a:spcBef>
                <a:spcPts val="0"/>
              </a:spcBef>
              <a:spcAft>
                <a:spcPts val="0"/>
              </a:spcAft>
              <a:buNone/>
            </a:pPr>
            <a:r>
              <a:rPr sz="2000" b="0" i="0" lang="en-US" dirty="0">
                <a:solidFill>
                  <a:srgbClr val="D7E4EE"/>
                </a:solidFill>
                <a:latin typeface="Calibri"/>
              </a:rPr>
              <a:t>MATH 616 · Computational Linear Algebra</a:t>
            </a:r>
          </a:p>
        </p:txBody>
      </p:sp>
      <p:sp>
        <p:nvSpPr>
          <p:cNvPr id="4" name="Triangular solves, Gaussian elimination, pivoting strategies" descr="Triangular solves, Gaussian elimination, pivoting strategies, and the cost of a solve"/>
          <p:cNvSpPr txBox="1"/>
          <p:nvPr/>
        </p:nvSpPr>
        <p:spPr>
          <a:xfrm>
            <a:off x="566928" y="3419856"/>
            <a:ext cx="11058113" cy="822960"/>
          </a:xfrm>
          <a:prstGeom prst="rect">
            <a:avLst/>
          </a:prstGeom>
          <a:noFill/>
        </p:spPr>
        <p:txBody>
          <a:bodyPr wrap="square" lIns="0" rIns="0" tIns="0" bIns="0">
            <a:spAutoFit/>
          </a:bodyPr>
          <a:lstStyle/>
          <a:p>
            <a:pPr algn="l">
              <a:spcBef>
                <a:spcPts val="0"/>
              </a:spcBef>
              <a:spcAft>
                <a:spcPts val="0"/>
              </a:spcAft>
              <a:buNone/>
            </a:pPr>
            <a:r>
              <a:rPr sz="2100" b="0" i="0" lang="en-US" dirty="0">
                <a:solidFill>
                  <a:srgbClr val="D7E4EE"/>
                </a:solidFill>
                <a:latin typeface="Calibri"/>
              </a:rPr>
              <a:t>Triangular solves, Gaussian elimination, pivoting strategies, and the cost of a solve</a:t>
            </a:r>
          </a:p>
        </p:txBody>
      </p:sp>
      <p:sp>
        <p:nvSpPr>
          <p:cNvPr id="5" name="Dr. Xuping Xie · Old Dominion University" descr="Dr. Xuping Xie · Old Dominion University"/>
          <p:cNvSpPr txBox="1"/>
          <p:nvPr/>
        </p:nvSpPr>
        <p:spPr>
          <a:xfrm>
            <a:off x="566928" y="4315968"/>
            <a:ext cx="11058113" cy="365760"/>
          </a:xfrm>
          <a:prstGeom prst="rect">
            <a:avLst/>
          </a:prstGeom>
          <a:noFill/>
        </p:spPr>
        <p:txBody>
          <a:bodyPr wrap="square" lIns="0" rIns="0" tIns="0" bIns="0">
            <a:spAutoFit/>
          </a:bodyPr>
          <a:lstStyle/>
          <a:p>
            <a:pPr algn="l">
              <a:spcBef>
                <a:spcPts val="0"/>
              </a:spcBef>
              <a:spcAft>
                <a:spcPts val="0"/>
              </a:spcAft>
              <a:buNone/>
            </a:pPr>
            <a:r>
              <a:rPr sz="1900" b="0" i="0" lang="en-US" dirty="0">
                <a:solidFill>
                  <a:srgbClr val="FFFFFF"/>
                </a:solidFill>
                <a:latin typeface="Calibri"/>
              </a:rPr>
              <a:t>Dr. Xuping Xie · Old Dominion University</a:t>
            </a:r>
          </a:p>
        </p:txBody>
      </p:sp>
      <p:sp>
        <p:nvSpPr>
          <p:cNvPr id="6" name="How to read these slides" descr="How to read these slides&#10;Every matrix is written in plain monospaced text, every slide has a unique title, and no meaning is carried by colour alone — so the deck reads correctly with a screen reader or at high zoom."/>
          <p:cNvSpPr/>
          <p:nvPr/>
        </p:nvSpPr>
        <p:spPr>
          <a:xfrm>
            <a:off x="566928" y="4956048"/>
            <a:ext cx="11058113" cy="1024128"/>
          </a:xfrm>
          <a:prstGeom prst="roundRect">
            <a:avLst>
              <a:gd name="adj" fmla="val 3500"/>
            </a:avLst>
          </a:prstGeom>
          <a:solidFill>
            <a:srgbClr val="104E7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700" b="1" i="0" lang="en-US" dirty="0">
                <a:solidFill>
                  <a:srgbClr val="FFFFFF"/>
                </a:solidFill>
                <a:latin typeface="Calibri"/>
              </a:rPr>
              <a:t>How to read these slides</a:t>
            </a:r>
          </a:p>
          <a:p>
            <a:pPr algn="l">
              <a:spcBef>
                <a:spcPts val="0"/>
              </a:spcBef>
              <a:spcAft>
                <a:spcPts val="0"/>
              </a:spcAft>
              <a:buNone/>
            </a:pPr>
            <a:r>
              <a:rPr sz="1500" b="0" i="0" lang="en-US" dirty="0">
                <a:solidFill>
                  <a:srgbClr val="D7E4EE"/>
                </a:solidFill>
                <a:latin typeface="Calibri"/>
              </a:rPr>
              <a:t>Every matrix is written in plain monospaced text, every slide has a unique title, and no meaning is carried by colour alone — so the deck reads correctly with a screen reader or at high zoom.</a:t>
            </a:r>
          </a:p>
        </p:txBody>
      </p:sp>
      <p:sp>
        <p:nvSpPr>
          <p:cNvPr id="7" name="MATH 616 · Computational Linear Algebra  ·  Direct Methods f" descr="MATH 616 · Computational Linear Algebra  ·  Direct Methods for Linear Systems  ·  Slide 1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C7D6E2"/>
                </a:solidFill>
                <a:latin typeface="Calibri"/>
              </a:rPr>
              <a:t>MATH 616 · Computational Linear Algebra  ·  Direct Methods for Linear Systems  ·  Slide 1 of 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hat this lecture covers" descr="What this lecture covers"/>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What this lecture covers</a:t>
            </a:r>
          </a:p>
        </p:txBody>
      </p:sp>
      <p:sp>
        <p:nvSpPr>
          <p:cNvPr id="3" name="Why direct methods" descr="Why direct methods&#10;Cramer's rule is exact and unusable. Triangular systems are the target."/>
          <p:cNvSpPr/>
          <p:nvPr/>
        </p:nvSpPr>
        <p:spPr>
          <a:xfrm>
            <a:off x="566928" y="1335024"/>
            <a:ext cx="5358384" cy="166420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32688" rIns="201168" tIns="146304" bIns="146304"/>
          <a:lstStyle/>
          <a:p>
            <a:pPr algn="l">
              <a:spcBef>
                <a:spcPts val="0"/>
              </a:spcBef>
              <a:spcAft>
                <a:spcPts val="600"/>
              </a:spcAft>
              <a:buNone/>
            </a:pPr>
            <a:r>
              <a:rPr sz="1800" b="1" i="0" lang="en-US" dirty="0">
                <a:solidFill>
                  <a:srgbClr val="083D62"/>
                </a:solidFill>
                <a:latin typeface="Calibri"/>
              </a:rPr>
              <a:t>Why direct methods</a:t>
            </a:r>
          </a:p>
          <a:p>
            <a:pPr algn="l">
              <a:spcBef>
                <a:spcPts val="0"/>
              </a:spcBef>
              <a:spcAft>
                <a:spcPts val="0"/>
              </a:spcAft>
              <a:buNone/>
            </a:pPr>
            <a:r>
              <a:rPr sz="1600" b="0" i="0" lang="en-US" dirty="0">
                <a:solidFill>
                  <a:srgbClr val="111827"/>
                </a:solidFill>
                <a:latin typeface="Calibri"/>
              </a:rPr>
              <a:t>Cramer's rule is exact and unusable. Triangular systems are the target.</a:t>
            </a:r>
          </a:p>
        </p:txBody>
      </p:sp>
      <p:sp>
        <p:nvSpPr>
          <p:cNvPr id="4" name="1" descr="1"/>
          <p:cNvSpPr/>
          <p:nvPr/>
        </p:nvSpPr>
        <p:spPr>
          <a:xfrm>
            <a:off x="804672" y="1591056"/>
            <a:ext cx="493776" cy="493776"/>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lang="en-US" dirty="0">
                <a:solidFill>
                  <a:srgbClr val="FFFFFF"/>
                </a:solidFill>
                <a:latin typeface="Calibri"/>
              </a:rPr>
              <a:t>1</a:t>
            </a:r>
          </a:p>
        </p:txBody>
      </p:sp>
      <p:sp>
        <p:nvSpPr>
          <p:cNvPr id="5" name="Naive Gaussian elimination" descr="Naive Gaussian elimination&#10;Three elementary row operations, the algorithm, and how it breaks down."/>
          <p:cNvSpPr/>
          <p:nvPr/>
        </p:nvSpPr>
        <p:spPr>
          <a:xfrm>
            <a:off x="6263640" y="1335024"/>
            <a:ext cx="5358384" cy="166420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32688" rIns="201168" tIns="146304" bIns="146304"/>
          <a:lstStyle/>
          <a:p>
            <a:pPr algn="l">
              <a:spcBef>
                <a:spcPts val="0"/>
              </a:spcBef>
              <a:spcAft>
                <a:spcPts val="600"/>
              </a:spcAft>
              <a:buNone/>
            </a:pPr>
            <a:r>
              <a:rPr sz="1800" b="1" i="0" lang="en-US" dirty="0">
                <a:solidFill>
                  <a:srgbClr val="083D62"/>
                </a:solidFill>
                <a:latin typeface="Calibri"/>
              </a:rPr>
              <a:t>Naive Gaussian elimination</a:t>
            </a:r>
          </a:p>
          <a:p>
            <a:pPr algn="l">
              <a:spcBef>
                <a:spcPts val="0"/>
              </a:spcBef>
              <a:spcAft>
                <a:spcPts val="0"/>
              </a:spcAft>
              <a:buNone/>
            </a:pPr>
            <a:r>
              <a:rPr sz="1600" b="0" i="0" lang="en-US" dirty="0">
                <a:solidFill>
                  <a:srgbClr val="111827"/>
                </a:solidFill>
                <a:latin typeface="Calibri"/>
              </a:rPr>
              <a:t>Three elementary row operations, the algorithm, and how it breaks down.</a:t>
            </a:r>
          </a:p>
        </p:txBody>
      </p:sp>
      <p:sp>
        <p:nvSpPr>
          <p:cNvPr id="6" name="2" descr="2"/>
          <p:cNvSpPr/>
          <p:nvPr/>
        </p:nvSpPr>
        <p:spPr>
          <a:xfrm>
            <a:off x="6501384" y="1591056"/>
            <a:ext cx="493776" cy="493776"/>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lang="en-US" dirty="0">
                <a:solidFill>
                  <a:srgbClr val="FFFFFF"/>
                </a:solidFill>
                <a:latin typeface="Calibri"/>
              </a:rPr>
              <a:t>2</a:t>
            </a:r>
          </a:p>
        </p:txBody>
      </p:sp>
      <p:sp>
        <p:nvSpPr>
          <p:cNvPr id="7" name="Stability and pivoting" descr="Stability and pivoting&#10;Partial pivoting, scaled-column pivoting, and the operation count."/>
          <p:cNvSpPr/>
          <p:nvPr/>
        </p:nvSpPr>
        <p:spPr>
          <a:xfrm>
            <a:off x="566928" y="3273552"/>
            <a:ext cx="5358384" cy="166420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32688" rIns="201168" tIns="146304" bIns="146304"/>
          <a:lstStyle/>
          <a:p>
            <a:pPr algn="l">
              <a:spcBef>
                <a:spcPts val="0"/>
              </a:spcBef>
              <a:spcAft>
                <a:spcPts val="600"/>
              </a:spcAft>
              <a:buNone/>
            </a:pPr>
            <a:r>
              <a:rPr sz="1800" b="1" i="0" lang="en-US" dirty="0">
                <a:solidFill>
                  <a:srgbClr val="083D62"/>
                </a:solidFill>
                <a:latin typeface="Calibri"/>
              </a:rPr>
              <a:t>Stability and pivoting</a:t>
            </a:r>
          </a:p>
          <a:p>
            <a:pPr algn="l">
              <a:spcBef>
                <a:spcPts val="0"/>
              </a:spcBef>
              <a:spcAft>
                <a:spcPts val="0"/>
              </a:spcAft>
              <a:buNone/>
            </a:pPr>
            <a:r>
              <a:rPr sz="1600" b="0" i="0" lang="en-US" dirty="0">
                <a:solidFill>
                  <a:srgbClr val="111827"/>
                </a:solidFill>
                <a:latin typeface="Calibri"/>
              </a:rPr>
              <a:t>Partial pivoting, scaled-column pivoting, and the operation count.</a:t>
            </a:r>
          </a:p>
        </p:txBody>
      </p:sp>
      <p:sp>
        <p:nvSpPr>
          <p:cNvPr id="8" name="3" descr="3"/>
          <p:cNvSpPr/>
          <p:nvPr/>
        </p:nvSpPr>
        <p:spPr>
          <a:xfrm>
            <a:off x="804672" y="3529584"/>
            <a:ext cx="493776" cy="493776"/>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lang="en-US" dirty="0">
                <a:solidFill>
                  <a:srgbClr val="FFFFFF"/>
                </a:solidFill>
                <a:latin typeface="Calibri"/>
              </a:rPr>
              <a:t>3</a:t>
            </a:r>
          </a:p>
        </p:txBody>
      </p:sp>
      <p:sp>
        <p:nvSpPr>
          <p:cNvPr id="9" name="Several right-hand sides" descr="Several right-hand sides&#10;Solving A x = b for many vectors b at once, and computing the inverse."/>
          <p:cNvSpPr/>
          <p:nvPr/>
        </p:nvSpPr>
        <p:spPr>
          <a:xfrm>
            <a:off x="6263640" y="3273552"/>
            <a:ext cx="5358384" cy="166420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32688" rIns="201168" tIns="146304" bIns="146304"/>
          <a:lstStyle/>
          <a:p>
            <a:pPr algn="l">
              <a:spcBef>
                <a:spcPts val="0"/>
              </a:spcBef>
              <a:spcAft>
                <a:spcPts val="600"/>
              </a:spcAft>
              <a:buNone/>
            </a:pPr>
            <a:r>
              <a:rPr sz="1800" b="1" i="0" lang="en-US" dirty="0">
                <a:solidFill>
                  <a:srgbClr val="083D62"/>
                </a:solidFill>
                <a:latin typeface="Calibri"/>
              </a:rPr>
              <a:t>Several right-hand sides</a:t>
            </a:r>
          </a:p>
          <a:p>
            <a:pPr algn="l">
              <a:spcBef>
                <a:spcPts val="0"/>
              </a:spcBef>
              <a:spcAft>
                <a:spcPts val="0"/>
              </a:spcAft>
              <a:buNone/>
            </a:pPr>
            <a:r>
              <a:rPr sz="1600" b="0" i="0" lang="en-US" dirty="0">
                <a:solidFill>
                  <a:srgbClr val="111827"/>
                </a:solidFill>
                <a:latin typeface="Calibri"/>
              </a:rPr>
              <a:t>Solving A x = b for many vectors b at once, and computing the inverse.</a:t>
            </a:r>
          </a:p>
        </p:txBody>
      </p:sp>
      <p:sp>
        <p:nvSpPr>
          <p:cNvPr id="10" name="4" descr="4"/>
          <p:cNvSpPr/>
          <p:nvPr/>
        </p:nvSpPr>
        <p:spPr>
          <a:xfrm>
            <a:off x="6501384" y="3529584"/>
            <a:ext cx="493776" cy="493776"/>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lang="en-US" dirty="0">
                <a:solidFill>
                  <a:srgbClr val="FFFFFF"/>
                </a:solidFill>
                <a:latin typeface="Calibri"/>
              </a:rPr>
              <a:t>4</a:t>
            </a:r>
          </a:p>
        </p:txBody>
      </p:sp>
      <p:sp>
        <p:nvSpPr>
          <p:cNvPr id="11" name="The single idea behind the whole lecture" descr="The single idea behind the whole lecture&#10;Reduce A x = b to an equivalent triangular system, then substitute — a finite recipe whose cost we can predict in advance."/>
          <p:cNvSpPr/>
          <p:nvPr/>
        </p:nvSpPr>
        <p:spPr>
          <a:xfrm>
            <a:off x="566928" y="5120640"/>
            <a:ext cx="11058113" cy="1078992"/>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FFFFFF"/>
                </a:solidFill>
                <a:latin typeface="Calibri"/>
              </a:rPr>
              <a:t>The single idea behind the whole lecture</a:t>
            </a:r>
          </a:p>
          <a:p>
            <a:pPr algn="l">
              <a:spcBef>
                <a:spcPts val="0"/>
              </a:spcBef>
              <a:spcAft>
                <a:spcPts val="0"/>
              </a:spcAft>
              <a:buNone/>
            </a:pPr>
            <a:r>
              <a:rPr sz="1700" b="0" i="0" lang="en-US" dirty="0">
                <a:solidFill>
                  <a:srgbClr val="FFFFFF"/>
                </a:solidFill>
                <a:latin typeface="Calibri"/>
              </a:rPr>
              <a:t>Reduce A x = b to an equivalent triangular system, then substitute — a finite recipe whose cost we can predict in advance.</a:t>
            </a:r>
          </a:p>
        </p:txBody>
      </p:sp>
      <p:sp>
        <p:nvSpPr>
          <p:cNvPr id="12" name="MATH 616 · Computational Linear Algebra  ·  Direct Methods f" descr="MATH 616 · Computational Linear Algebra  ·  Direct Methods for Linear Systems  ·  Slide 2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 of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3D62"/>
        </a:solidFill>
        <a:effectLst/>
      </p:bgPr>
    </p:bg>
    <p:spTree>
      <p:nvGrpSpPr>
        <p:cNvPr id="1" name=""/>
        <p:cNvGrpSpPr/>
        <p:nvPr/>
      </p:nvGrpSpPr>
      <p:grpSpPr/>
      <p:sp>
        <p:nvSpPr>
          <p:cNvPr id="2" name="Why we need direct methods" descr="Why we need direct methods"/>
          <p:cNvSpPr>
            <a:spLocks noGrp="1"/>
          </p:cNvSpPr>
          <p:nvPr>
            <p:ph type="title"/>
          </p:nvPr>
        </p:nvSpPr>
        <p:spPr>
          <a:xfrm>
            <a:off x="566928" y="2212848"/>
            <a:ext cx="11058113" cy="1133856"/>
          </a:xfrm>
        </p:spPr>
        <p:txBody>
          <a:bodyPr wrap="square" lIns="0" rIns="0" tIns="0" bIns="0" anchor="ctr"/>
          <a:lstStyle/>
          <a:p>
            <a:pPr algn="l"/>
            <a:r>
              <a:rPr sz="3200" b="1" lang="en-US" dirty="0">
                <a:solidFill>
                  <a:srgbClr val="FFFFFF"/>
                </a:solidFill>
                <a:latin typeface="Calibri"/>
              </a:rPr>
              <a:t>Why we need direct methods</a:t>
            </a:r>
          </a:p>
        </p:txBody>
      </p:sp>
      <p:sp>
        <p:nvSpPr>
          <p:cNvPr id="3" name="Topic 1" descr="Topic 1"/>
          <p:cNvSpPr txBox="1"/>
          <p:nvPr/>
        </p:nvSpPr>
        <p:spPr>
          <a:xfrm>
            <a:off x="566928" y="1792224"/>
            <a:ext cx="11058113" cy="365760"/>
          </a:xfrm>
          <a:prstGeom prst="rect">
            <a:avLst/>
          </a:prstGeom>
          <a:noFill/>
        </p:spPr>
        <p:txBody>
          <a:bodyPr wrap="square" lIns="0" rIns="0" tIns="0" bIns="0">
            <a:spAutoFit/>
          </a:bodyPr>
          <a:lstStyle/>
          <a:p>
            <a:pPr algn="l">
              <a:spcBef>
                <a:spcPts val="0"/>
              </a:spcBef>
              <a:spcAft>
                <a:spcPts val="0"/>
              </a:spcAft>
              <a:buNone/>
            </a:pPr>
            <a:r>
              <a:rPr sz="2000" b="0" i="0" lang="en-US" dirty="0">
                <a:solidFill>
                  <a:srgbClr val="D7E4EE"/>
                </a:solidFill>
                <a:latin typeface="Calibri"/>
              </a:rPr>
              <a:t>Topic 1</a:t>
            </a:r>
          </a:p>
        </p:txBody>
      </p:sp>
      <p:sp>
        <p:nvSpPr>
          <p:cNvPr id="4" name="▸  How we measure the cost of an algorithm, and why Cramer's" descr="▸  How we measure the cost of an algorithm, and why Cramer's rule fails the test&#10;▸  Triangular systems, and the two substitution algorithms that solve them"/>
          <p:cNvSpPr/>
          <p:nvPr/>
        </p:nvSpPr>
        <p:spPr>
          <a:xfrm>
            <a:off x="566928" y="3730752"/>
            <a:ext cx="11058113" cy="1581912"/>
          </a:xfrm>
          <a:prstGeom prst="roundRect">
            <a:avLst>
              <a:gd name="adj" fmla="val 3500"/>
            </a:avLst>
          </a:prstGeom>
          <a:solidFill>
            <a:srgbClr val="104E7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marL="274320" indent="-274320">
              <a:spcBef>
                <a:spcPts val="0"/>
              </a:spcBef>
              <a:spcAft>
                <a:spcPts val="700"/>
              </a:spcAft>
              <a:buNone/>
            </a:pPr>
            <a:r>
              <a:rPr sz="1700" b="0" i="0" lang="en-US" dirty="0">
                <a:solidFill>
                  <a:srgbClr val="FFFFFF"/>
                </a:solidFill>
                <a:latin typeface="Calibri"/>
              </a:rPr>
              <a:t>▸  How we measure the cost of an algorithm, and why Cramer's rule fails the test</a:t>
            </a:r>
          </a:p>
          <a:p>
            <a:pPr algn="l" marL="274320" indent="-274320">
              <a:spcBef>
                <a:spcPts val="0"/>
              </a:spcBef>
              <a:spcAft>
                <a:spcPts val="700"/>
              </a:spcAft>
              <a:buNone/>
            </a:pPr>
            <a:r>
              <a:rPr sz="1700" b="0" i="0" lang="en-US" dirty="0">
                <a:solidFill>
                  <a:srgbClr val="FFFFFF"/>
                </a:solidFill>
                <a:latin typeface="Calibri"/>
              </a:rPr>
              <a:t>▸  Triangular systems, and the two substitution algorithms that solve them</a:t>
            </a:r>
          </a:p>
        </p:txBody>
      </p:sp>
      <p:sp>
        <p:nvSpPr>
          <p:cNvPr id="5" name="MATH 616 · Computational Linear Algebra  ·  Direct Methods f" descr="MATH 616 · Computational Linear Algebra  ·  Direct Methods for Linear Systems  ·  Slide 3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C7D6E2"/>
                </a:solidFill>
                <a:latin typeface="Calibri"/>
              </a:rPr>
              <a:t>MATH 616 · Computational Linear Algebra  ·  Direct Methods for Linear Systems  ·  Slide 3 of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ow we measure the cost of a solve" descr="How we measure the cost of a solve"/>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How we measure the cost of a solve</a:t>
            </a:r>
          </a:p>
        </p:txBody>
      </p:sp>
      <p:sp>
        <p:nvSpPr>
          <p:cNvPr id="3" name="Computer speed is quoted in floating-point operations per se" descr="Computer speed is quoted in floating-point operations per second (FLOPS). The Top 500 list ranks supercomputers by their LAPACK benchmark performance."/>
          <p:cNvSpPr txBox="1"/>
          <p:nvPr/>
        </p:nvSpPr>
        <p:spPr>
          <a:xfrm>
            <a:off x="566928" y="1316736"/>
            <a:ext cx="11058113" cy="457200"/>
          </a:xfrm>
          <a:prstGeom prst="rect">
            <a:avLst/>
          </a:prstGeom>
          <a:noFill/>
        </p:spPr>
        <p:txBody>
          <a:bodyPr wrap="square" lIns="0" rIns="0" tIns="0" bIns="0">
            <a:spAutoFit/>
          </a:bodyPr>
          <a:lstStyle/>
          <a:p>
            <a:pPr algn="l">
              <a:spcBef>
                <a:spcPts val="0"/>
              </a:spcBef>
              <a:spcAft>
                <a:spcPts val="0"/>
              </a:spcAft>
              <a:buNone/>
            </a:pPr>
            <a:r>
              <a:rPr sz="1700" b="0" i="0" lang="en-US" dirty="0">
                <a:solidFill>
                  <a:srgbClr val="3F4B5C"/>
                </a:solidFill>
                <a:latin typeface="Calibri"/>
              </a:rPr>
              <a:t>Computer speed is quoted in floating-point operations per second (FLOPS). The Top 500 list ranks supercomputers by their LAPACK benchmark performance.</a:t>
            </a:r>
          </a:p>
        </p:txBody>
      </p:sp>
      <p:sp>
        <p:nvSpPr>
          <p:cNvPr id="4" name="Peak performance units" descr="Peak performance units&#10;Unit         Rate     Meaning&#10;gigaFLOPS    10^9     one billion operations per second&#10;teraFLOPS    10^12    one trillion operations per second&#10;petaFLOPS    10^15    one thousand trillion operations per second&#10;exaFLOPS     10^18    one million trillion operations per second"/>
          <p:cNvSpPr/>
          <p:nvPr/>
        </p:nvSpPr>
        <p:spPr>
          <a:xfrm>
            <a:off x="566928" y="1865376"/>
            <a:ext cx="11058113" cy="184708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800"/>
              </a:spcAft>
              <a:buNone/>
            </a:pPr>
            <a:r>
              <a:rPr sz="1800" b="1" i="0" lang="en-US" dirty="0">
                <a:solidFill>
                  <a:srgbClr val="083D62"/>
                </a:solidFill>
                <a:latin typeface="Calibri"/>
              </a:rPr>
              <a:t>Peak performance units</a:t>
            </a:r>
          </a:p>
          <a:p>
            <a:pPr algn="l">
              <a:lnSpc>
                <a:spcPct val="95000"/>
              </a:lnSpc>
              <a:spcBef>
                <a:spcPts val="0"/>
              </a:spcBef>
              <a:spcAft>
                <a:spcPts val="0"/>
              </a:spcAft>
              <a:buNone/>
            </a:pPr>
            <a:r>
              <a:rPr sz="1500" b="0" i="0" lang="en-US" dirty="0">
                <a:solidFill>
                  <a:srgbClr val="111827"/>
                </a:solidFill>
                <a:latin typeface="Courier New"/>
              </a:rPr>
              <a:t>Unit         Rate     Meaning</a:t>
            </a:r>
          </a:p>
          <a:p>
            <a:pPr algn="l">
              <a:lnSpc>
                <a:spcPct val="95000"/>
              </a:lnSpc>
              <a:spcBef>
                <a:spcPts val="0"/>
              </a:spcBef>
              <a:spcAft>
                <a:spcPts val="0"/>
              </a:spcAft>
              <a:buNone/>
            </a:pPr>
            <a:r>
              <a:rPr sz="1500" b="0" i="0" lang="en-US" dirty="0">
                <a:solidFill>
                  <a:srgbClr val="111827"/>
                </a:solidFill>
                <a:latin typeface="Courier New"/>
              </a:rPr>
              <a:t>gigaFLOPS    10^9     one billion operations per second</a:t>
            </a:r>
          </a:p>
          <a:p>
            <a:pPr algn="l">
              <a:lnSpc>
                <a:spcPct val="95000"/>
              </a:lnSpc>
              <a:spcBef>
                <a:spcPts val="0"/>
              </a:spcBef>
              <a:spcAft>
                <a:spcPts val="0"/>
              </a:spcAft>
              <a:buNone/>
            </a:pPr>
            <a:r>
              <a:rPr sz="1500" b="0" i="0" lang="en-US" dirty="0">
                <a:solidFill>
                  <a:srgbClr val="111827"/>
                </a:solidFill>
                <a:latin typeface="Courier New"/>
              </a:rPr>
              <a:t>teraFLOPS    10^12    one trillion operations per second</a:t>
            </a:r>
          </a:p>
          <a:p>
            <a:pPr algn="l">
              <a:lnSpc>
                <a:spcPct val="95000"/>
              </a:lnSpc>
              <a:spcBef>
                <a:spcPts val="0"/>
              </a:spcBef>
              <a:spcAft>
                <a:spcPts val="0"/>
              </a:spcAft>
              <a:buNone/>
            </a:pPr>
            <a:r>
              <a:rPr sz="1500" b="0" i="0" lang="en-US" dirty="0">
                <a:solidFill>
                  <a:srgbClr val="111827"/>
                </a:solidFill>
                <a:latin typeface="Courier New"/>
              </a:rPr>
              <a:t>petaFLOPS    10^15    one thousand trillion operations per second</a:t>
            </a:r>
          </a:p>
          <a:p>
            <a:pPr algn="l">
              <a:lnSpc>
                <a:spcPct val="95000"/>
              </a:lnSpc>
              <a:spcBef>
                <a:spcPts val="0"/>
              </a:spcBef>
              <a:spcAft>
                <a:spcPts val="0"/>
              </a:spcAft>
              <a:buNone/>
            </a:pPr>
            <a:r>
              <a:rPr sz="1500" b="0" i="0" lang="en-US" dirty="0">
                <a:solidFill>
                  <a:srgbClr val="111827"/>
                </a:solidFill>
                <a:latin typeface="Courier New"/>
              </a:rPr>
              <a:t>exaFLOPS     10^18    one million trillion operations per second</a:t>
            </a:r>
          </a:p>
        </p:txBody>
      </p:sp>
      <p:sp>
        <p:nvSpPr>
          <p:cNvPr id="5" name="Why the unit is not the point" descr="Why the unit is not the point&#10;Hardware buys us a constant factor. An algorithm that needs n! operations stays out of reach on any machine, so the useful question is how the work grows with n."/>
          <p:cNvSpPr/>
          <p:nvPr/>
        </p:nvSpPr>
        <p:spPr>
          <a:xfrm>
            <a:off x="566928" y="3931920"/>
            <a:ext cx="11058113" cy="137160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600"/>
              </a:spcAft>
              <a:buNone/>
            </a:pPr>
            <a:r>
              <a:rPr sz="1800" b="1" i="0" lang="en-US" dirty="0">
                <a:solidFill>
                  <a:srgbClr val="083D62"/>
                </a:solidFill>
                <a:latin typeface="Calibri"/>
              </a:rPr>
              <a:t>Why the unit is not the point</a:t>
            </a:r>
          </a:p>
          <a:p>
            <a:pPr algn="l">
              <a:spcBef>
                <a:spcPts val="0"/>
              </a:spcBef>
              <a:spcAft>
                <a:spcPts val="0"/>
              </a:spcAft>
              <a:buNone/>
            </a:pPr>
            <a:r>
              <a:rPr sz="1600" b="0" i="0" lang="en-US" dirty="0">
                <a:solidFill>
                  <a:srgbClr val="111827"/>
                </a:solidFill>
                <a:latin typeface="Calibri"/>
              </a:rPr>
              <a:t>Hardware buys us a constant factor. An algorithm that needs n! operations stays out of reach on any machine, so the useful question is how the work grows with n.</a:t>
            </a:r>
          </a:p>
        </p:txBody>
      </p:sp>
      <p:sp>
        <p:nvSpPr>
          <p:cNvPr id="6" name="MATH 616 · Computational Linear Algebra  ·  Direct Methods f" descr="MATH 616 · Computational Linear Algebra  ·  Direct Methods for Linear Systems  ·  Slide 4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4 of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ramer's rule: exact, but unusable" descr="Cramer's rule: exact, but unusable"/>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Cramer's rule: exact, but unusable</a:t>
            </a:r>
          </a:p>
        </p:txBody>
      </p:sp>
      <p:sp>
        <p:nvSpPr>
          <p:cNvPr id="3" name="The rule" descr="The rule&#10;x_i = det(A_i) / det(A)&#10;i = 1, 2, ..., n&#10;A_i is A with its i-th column replaced by b. The formula is exact and it is a fine theoretical tool."/>
          <p:cNvSpPr/>
          <p:nvPr/>
        </p:nvSpPr>
        <p:spPr>
          <a:xfrm>
            <a:off x="566928" y="1335024"/>
            <a:ext cx="5175504" cy="202996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rule</a:t>
            </a:r>
          </a:p>
          <a:p>
            <a:pPr algn="l">
              <a:lnSpc>
                <a:spcPct val="95000"/>
              </a:lnSpc>
              <a:spcBef>
                <a:spcPts val="0"/>
              </a:spcBef>
              <a:spcAft>
                <a:spcPts val="0"/>
              </a:spcAft>
              <a:buNone/>
            </a:pPr>
            <a:r>
              <a:rPr sz="1500" b="0" i="0" lang="en-US" dirty="0">
                <a:solidFill>
                  <a:srgbClr val="111827"/>
                </a:solidFill>
                <a:latin typeface="Courier New"/>
              </a:rPr>
              <a:t>x_i = det(A_i) / det(A)</a:t>
            </a:r>
          </a:p>
          <a:p>
            <a:pPr algn="l">
              <a:lnSpc>
                <a:spcPct val="95000"/>
              </a:lnSpc>
              <a:spcBef>
                <a:spcPts val="0"/>
              </a:spcBef>
              <a:spcAft>
                <a:spcPts val="1000"/>
              </a:spcAft>
              <a:buNone/>
            </a:pPr>
            <a:r>
              <a:rPr sz="1500" b="0" i="0" lang="en-US" dirty="0">
                <a:solidFill>
                  <a:srgbClr val="111827"/>
                </a:solidFill>
                <a:latin typeface="Courier New"/>
              </a:rPr>
              <a:t>i = 1, 2, ..., n</a:t>
            </a:r>
          </a:p>
          <a:p>
            <a:pPr algn="l">
              <a:spcBef>
                <a:spcPts val="0"/>
              </a:spcBef>
              <a:spcAft>
                <a:spcPts val="0"/>
              </a:spcAft>
              <a:buNone/>
            </a:pPr>
            <a:r>
              <a:rPr sz="1600" b="0" i="0" lang="en-US" dirty="0">
                <a:solidFill>
                  <a:srgbClr val="111827"/>
                </a:solidFill>
                <a:latin typeface="Calibri"/>
              </a:rPr>
              <a:t>A_i is A with its i-th column replaced by b. The formula is exact and it is a fine theoretical tool.</a:t>
            </a:r>
          </a:p>
        </p:txBody>
      </p:sp>
      <p:sp>
        <p:nvSpPr>
          <p:cNvPr id="4" name="The bill" descr="The bill&#10; n     operations      CPU time (exaFLOPS)&#10; 5     120             less than one second&#10;10     3,628,800       less than one second&#10;20     ~2 x 10^18      a few seconds&#10;30     ~2 x 10^32      about 3,000 years"/>
          <p:cNvSpPr/>
          <p:nvPr/>
        </p:nvSpPr>
        <p:spPr>
          <a:xfrm>
            <a:off x="6071616" y="1335024"/>
            <a:ext cx="5553425" cy="202996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bill</a:t>
            </a:r>
          </a:p>
          <a:p>
            <a:pPr algn="l">
              <a:lnSpc>
                <a:spcPct val="95000"/>
              </a:lnSpc>
              <a:spcBef>
                <a:spcPts val="0"/>
              </a:spcBef>
              <a:spcAft>
                <a:spcPts val="0"/>
              </a:spcAft>
              <a:buNone/>
            </a:pPr>
            <a:r>
              <a:rPr sz="1500" b="0" i="0" lang="en-US" dirty="0">
                <a:solidFill>
                  <a:srgbClr val="111827"/>
                </a:solidFill>
                <a:latin typeface="Courier New"/>
              </a:rPr>
              <a:t> n     operations      CPU time (exaFLOPS)</a:t>
            </a:r>
          </a:p>
          <a:p>
            <a:pPr algn="l">
              <a:lnSpc>
                <a:spcPct val="95000"/>
              </a:lnSpc>
              <a:spcBef>
                <a:spcPts val="0"/>
              </a:spcBef>
              <a:spcAft>
                <a:spcPts val="0"/>
              </a:spcAft>
              <a:buNone/>
            </a:pPr>
            <a:r>
              <a:rPr sz="1500" b="0" i="0" lang="en-US" dirty="0">
                <a:solidFill>
                  <a:srgbClr val="111827"/>
                </a:solidFill>
                <a:latin typeface="Courier New"/>
              </a:rPr>
              <a:t> 5     120             less than one second</a:t>
            </a:r>
          </a:p>
          <a:p>
            <a:pPr algn="l">
              <a:lnSpc>
                <a:spcPct val="95000"/>
              </a:lnSpc>
              <a:spcBef>
                <a:spcPts val="0"/>
              </a:spcBef>
              <a:spcAft>
                <a:spcPts val="0"/>
              </a:spcAft>
              <a:buNone/>
            </a:pPr>
            <a:r>
              <a:rPr sz="1500" b="0" i="0" lang="en-US" dirty="0">
                <a:solidFill>
                  <a:srgbClr val="111827"/>
                </a:solidFill>
                <a:latin typeface="Courier New"/>
              </a:rPr>
              <a:t>10     3,628,800       less than one second</a:t>
            </a:r>
          </a:p>
          <a:p>
            <a:pPr algn="l">
              <a:lnSpc>
                <a:spcPct val="95000"/>
              </a:lnSpc>
              <a:spcBef>
                <a:spcPts val="0"/>
              </a:spcBef>
              <a:spcAft>
                <a:spcPts val="0"/>
              </a:spcAft>
              <a:buNone/>
            </a:pPr>
            <a:r>
              <a:rPr sz="1500" b="0" i="0" lang="en-US" dirty="0">
                <a:solidFill>
                  <a:srgbClr val="111827"/>
                </a:solidFill>
                <a:latin typeface="Courier New"/>
              </a:rPr>
              <a:t>20     ~2 x 10^18      a few seconds</a:t>
            </a:r>
          </a:p>
          <a:p>
            <a:pPr algn="l">
              <a:lnSpc>
                <a:spcPct val="95000"/>
              </a:lnSpc>
              <a:spcBef>
                <a:spcPts val="0"/>
              </a:spcBef>
              <a:spcAft>
                <a:spcPts val="0"/>
              </a:spcAft>
              <a:buNone/>
            </a:pPr>
            <a:r>
              <a:rPr sz="1500" b="0" i="0" lang="en-US" dirty="0">
                <a:solidFill>
                  <a:srgbClr val="111827"/>
                </a:solidFill>
                <a:latin typeface="Courier New"/>
              </a:rPr>
              <a:t>30     ~2 x 10^32      about 3,000 years</a:t>
            </a:r>
          </a:p>
        </p:txBody>
      </p:sp>
      <p:sp>
        <p:nvSpPr>
          <p:cNvPr id="5" name="The factorial wall" descr="The factorial wall&#10;Expanding an n x n determinant by cofactors costs O(n!) operations. Gaussian elimination solves the same system in about n^3/3 — that gap is what today is about."/>
          <p:cNvSpPr/>
          <p:nvPr/>
        </p:nvSpPr>
        <p:spPr>
          <a:xfrm>
            <a:off x="566928" y="3639312"/>
            <a:ext cx="11058113" cy="1298448"/>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7C2D12"/>
                </a:solidFill>
                <a:latin typeface="Calibri"/>
              </a:rPr>
              <a:t>The factorial wall</a:t>
            </a:r>
          </a:p>
          <a:p>
            <a:pPr algn="l">
              <a:spcBef>
                <a:spcPts val="0"/>
              </a:spcBef>
              <a:spcAft>
                <a:spcPts val="0"/>
              </a:spcAft>
              <a:buNone/>
            </a:pPr>
            <a:r>
              <a:rPr sz="1700" b="0" i="0" lang="en-US" dirty="0">
                <a:solidFill>
                  <a:srgbClr val="7C2D12"/>
                </a:solidFill>
                <a:latin typeface="Calibri"/>
              </a:rPr>
              <a:t>Expanding an n x n determinant by cofactors costs O(n!) operations. Gaussian elimination solves the same system in about n^3/3 — that gap is what today is about.</a:t>
            </a:r>
          </a:p>
        </p:txBody>
      </p:sp>
      <p:sp>
        <p:nvSpPr>
          <p:cNvPr id="6" name="MATH 616 · Computational Linear Algebra  ·  Direct Methods f" descr="MATH 616 · Computational Linear Algebra  ·  Direct Methods for Linear Systems  ·  Slide 5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5 of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 kind of system we want to solve" descr="The kind of system we want to solve"/>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The kind of system we want to solve</a:t>
            </a:r>
          </a:p>
        </p:txBody>
      </p:sp>
      <p:sp>
        <p:nvSpPr>
          <p:cNvPr id="3" name="Four equations in four unknowns" descr="Four equations in four unknowns&#10;2x1 + 3x2 -  5x3        =   1&#10;2x1 -  x2 +  6x3 +  x4  =  -1&#10; x1 + 5x2 - 16x3 - 8x4  =  13&#10; x1 +  x2         +  x4 =  13"/>
          <p:cNvSpPr/>
          <p:nvPr/>
        </p:nvSpPr>
        <p:spPr>
          <a:xfrm>
            <a:off x="566928" y="1335024"/>
            <a:ext cx="5760720"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Four equations in four unknowns</a:t>
            </a:r>
          </a:p>
          <a:p>
            <a:pPr algn="l">
              <a:lnSpc>
                <a:spcPct val="95000"/>
              </a:lnSpc>
              <a:spcBef>
                <a:spcPts val="0"/>
              </a:spcBef>
              <a:spcAft>
                <a:spcPts val="0"/>
              </a:spcAft>
              <a:buNone/>
            </a:pPr>
            <a:r>
              <a:rPr sz="1600" b="0" i="0" lang="en-US" dirty="0">
                <a:solidFill>
                  <a:srgbClr val="111827"/>
                </a:solidFill>
                <a:latin typeface="Courier New"/>
              </a:rPr>
              <a:t>2x1 + 3x2 -  5x3        =   1</a:t>
            </a:r>
          </a:p>
          <a:p>
            <a:pPr algn="l">
              <a:lnSpc>
                <a:spcPct val="95000"/>
              </a:lnSpc>
              <a:spcBef>
                <a:spcPts val="0"/>
              </a:spcBef>
              <a:spcAft>
                <a:spcPts val="0"/>
              </a:spcAft>
              <a:buNone/>
            </a:pPr>
            <a:r>
              <a:rPr sz="1600" b="0" i="0" lang="en-US" dirty="0">
                <a:solidFill>
                  <a:srgbClr val="111827"/>
                </a:solidFill>
                <a:latin typeface="Courier New"/>
              </a:rPr>
              <a:t>2x1 -  x2 +  6x3 +  x4  =  -1</a:t>
            </a:r>
          </a:p>
          <a:p>
            <a:pPr algn="l">
              <a:lnSpc>
                <a:spcPct val="95000"/>
              </a:lnSpc>
              <a:spcBef>
                <a:spcPts val="0"/>
              </a:spcBef>
              <a:spcAft>
                <a:spcPts val="0"/>
              </a:spcAft>
              <a:buNone/>
            </a:pPr>
            <a:r>
              <a:rPr sz="1600" b="0" i="0" lang="en-US" dirty="0">
                <a:solidFill>
                  <a:srgbClr val="111827"/>
                </a:solidFill>
                <a:latin typeface="Courier New"/>
              </a:rPr>
              <a:t> x1 + 5x2 - 16x3 - 8x4  =  13</a:t>
            </a:r>
          </a:p>
          <a:p>
            <a:pPr algn="l">
              <a:lnSpc>
                <a:spcPct val="95000"/>
              </a:lnSpc>
              <a:spcBef>
                <a:spcPts val="0"/>
              </a:spcBef>
              <a:spcAft>
                <a:spcPts val="0"/>
              </a:spcAft>
              <a:buNone/>
            </a:pPr>
            <a:r>
              <a:rPr sz="1600" b="0" i="0" lang="en-US" dirty="0">
                <a:solidFill>
                  <a:srgbClr val="111827"/>
                </a:solidFill>
                <a:latin typeface="Courier New"/>
              </a:rPr>
              <a:t> x1 +  x2         +  x4 =  13</a:t>
            </a:r>
          </a:p>
        </p:txBody>
      </p:sp>
      <p:sp>
        <p:nvSpPr>
          <p:cNvPr id="4" name="The same system as an augmented matrix" descr="The same system as an augmented matrix&#10;[ 2   3   -5    0 |   1 ]&#10;[ 2  -1    6    1 |  -1 ]&#10;[ 1   5  -16   -8 |  13 ]&#10;[ 1   1    0    1 |  13 ]"/>
          <p:cNvSpPr/>
          <p:nvPr/>
        </p:nvSpPr>
        <p:spPr>
          <a:xfrm>
            <a:off x="6656832" y="1335024"/>
            <a:ext cx="4968209"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same system as an augmented matrix</a:t>
            </a:r>
          </a:p>
          <a:p>
            <a:pPr algn="l">
              <a:lnSpc>
                <a:spcPct val="95000"/>
              </a:lnSpc>
              <a:spcBef>
                <a:spcPts val="0"/>
              </a:spcBef>
              <a:spcAft>
                <a:spcPts val="0"/>
              </a:spcAft>
              <a:buNone/>
            </a:pPr>
            <a:r>
              <a:rPr sz="1600" b="0" i="0" lang="en-US" dirty="0">
                <a:solidFill>
                  <a:srgbClr val="111827"/>
                </a:solidFill>
                <a:latin typeface="Courier New"/>
              </a:rPr>
              <a:t>[ 2   3   -5    0 |   1 ]</a:t>
            </a:r>
          </a:p>
          <a:p>
            <a:pPr algn="l">
              <a:lnSpc>
                <a:spcPct val="95000"/>
              </a:lnSpc>
              <a:spcBef>
                <a:spcPts val="0"/>
              </a:spcBef>
              <a:spcAft>
                <a:spcPts val="0"/>
              </a:spcAft>
              <a:buNone/>
            </a:pPr>
            <a:r>
              <a:rPr sz="1600" b="0" i="0" lang="en-US" dirty="0">
                <a:solidFill>
                  <a:srgbClr val="111827"/>
                </a:solidFill>
                <a:latin typeface="Courier New"/>
              </a:rPr>
              <a:t>[ 2  -1    6    1 |  -1 ]</a:t>
            </a:r>
          </a:p>
          <a:p>
            <a:pPr algn="l">
              <a:lnSpc>
                <a:spcPct val="95000"/>
              </a:lnSpc>
              <a:spcBef>
                <a:spcPts val="0"/>
              </a:spcBef>
              <a:spcAft>
                <a:spcPts val="0"/>
              </a:spcAft>
              <a:buNone/>
            </a:pPr>
            <a:r>
              <a:rPr sz="1600" b="0" i="0" lang="en-US" dirty="0">
                <a:solidFill>
                  <a:srgbClr val="111827"/>
                </a:solidFill>
                <a:latin typeface="Courier New"/>
              </a:rPr>
              <a:t>[ 1   5  -16   -8 |  13 ]</a:t>
            </a:r>
          </a:p>
          <a:p>
            <a:pPr algn="l">
              <a:lnSpc>
                <a:spcPct val="95000"/>
              </a:lnSpc>
              <a:spcBef>
                <a:spcPts val="0"/>
              </a:spcBef>
              <a:spcAft>
                <a:spcPts val="0"/>
              </a:spcAft>
              <a:buNone/>
            </a:pPr>
            <a:r>
              <a:rPr sz="1600" b="0" i="0" lang="en-US" dirty="0">
                <a:solidFill>
                  <a:srgbClr val="111827"/>
                </a:solidFill>
                <a:latin typeface="Courier New"/>
              </a:rPr>
              <a:t>[ 1   1    0    1 |  13 ]</a:t>
            </a:r>
          </a:p>
        </p:txBody>
      </p:sp>
      <p:sp>
        <p:nvSpPr>
          <p:cNvPr id="5" name="Why we bother" descr="Why we bother&#10;Nothing about this matrix is special, so we cannot solve it by inspection. The plan is to make it triangular — and triangular systems we can solve directly."/>
          <p:cNvSpPr/>
          <p:nvPr/>
        </p:nvSpPr>
        <p:spPr>
          <a:xfrm>
            <a:off x="566928" y="3895344"/>
            <a:ext cx="11058113" cy="1207008"/>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FFFFFF"/>
                </a:solidFill>
                <a:latin typeface="Calibri"/>
              </a:rPr>
              <a:t>Why we bother</a:t>
            </a:r>
          </a:p>
          <a:p>
            <a:pPr algn="l">
              <a:spcBef>
                <a:spcPts val="0"/>
              </a:spcBef>
              <a:spcAft>
                <a:spcPts val="0"/>
              </a:spcAft>
              <a:buNone/>
            </a:pPr>
            <a:r>
              <a:rPr sz="1700" b="0" i="0" lang="en-US" dirty="0">
                <a:solidFill>
                  <a:srgbClr val="FFFFFF"/>
                </a:solidFill>
                <a:latin typeface="Calibri"/>
              </a:rPr>
              <a:t>Nothing about this matrix is special, so we cannot solve it by inspection. The plan is to make it triangular — and triangular systems we can solve directly.</a:t>
            </a:r>
          </a:p>
        </p:txBody>
      </p:sp>
      <p:sp>
        <p:nvSpPr>
          <p:cNvPr id="6" name="MATH 616 · Computational Linear Algebra  ·  Direct Methods f" descr="MATH 616 · Computational Linear Algebra  ·  Direct Methods for Linear Systems  ·  Slide 6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6 of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Upper-triangular systems: backward substitution" descr="Upper-triangular systems: backward substitutio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Upper-triangular systems: backward substitution</a:t>
            </a:r>
          </a:p>
        </p:txBody>
      </p:sp>
      <p:sp>
        <p:nvSpPr>
          <p:cNvPr id="3" name="An upper-triangular system" descr="An upper-triangular system&#10;[ 3   1   1   0 |  4 ]&#10;[ 0  -2   0   1 |  0 ]&#10;[ 0   0   3   2 |  4 ]&#10;[ 0   0   0   4 |  8 ]"/>
          <p:cNvSpPr/>
          <p:nvPr/>
        </p:nvSpPr>
        <p:spPr>
          <a:xfrm>
            <a:off x="566928" y="1335024"/>
            <a:ext cx="4114800" cy="221284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An upper-triangular system</a:t>
            </a:r>
          </a:p>
          <a:p>
            <a:pPr algn="l">
              <a:lnSpc>
                <a:spcPct val="95000"/>
              </a:lnSpc>
              <a:spcBef>
                <a:spcPts val="0"/>
              </a:spcBef>
              <a:spcAft>
                <a:spcPts val="0"/>
              </a:spcAft>
              <a:buNone/>
            </a:pPr>
            <a:r>
              <a:rPr sz="1600" b="0" i="0" lang="en-US" dirty="0">
                <a:solidFill>
                  <a:srgbClr val="111827"/>
                </a:solidFill>
                <a:latin typeface="Courier New"/>
              </a:rPr>
              <a:t>[ 3   1   1   0 |  4 ]</a:t>
            </a:r>
          </a:p>
          <a:p>
            <a:pPr algn="l">
              <a:lnSpc>
                <a:spcPct val="95000"/>
              </a:lnSpc>
              <a:spcBef>
                <a:spcPts val="0"/>
              </a:spcBef>
              <a:spcAft>
                <a:spcPts val="0"/>
              </a:spcAft>
              <a:buNone/>
            </a:pPr>
            <a:r>
              <a:rPr sz="1600" b="0" i="0" lang="en-US" dirty="0">
                <a:solidFill>
                  <a:srgbClr val="111827"/>
                </a:solidFill>
                <a:latin typeface="Courier New"/>
              </a:rPr>
              <a:t>[ 0  -2   0   1 |  0 ]</a:t>
            </a:r>
          </a:p>
          <a:p>
            <a:pPr algn="l">
              <a:lnSpc>
                <a:spcPct val="95000"/>
              </a:lnSpc>
              <a:spcBef>
                <a:spcPts val="0"/>
              </a:spcBef>
              <a:spcAft>
                <a:spcPts val="0"/>
              </a:spcAft>
              <a:buNone/>
            </a:pPr>
            <a:r>
              <a:rPr sz="1600" b="0" i="0" lang="en-US" dirty="0">
                <a:solidFill>
                  <a:srgbClr val="111827"/>
                </a:solidFill>
                <a:latin typeface="Courier New"/>
              </a:rPr>
              <a:t>[ 0   0   3   2 |  4 ]</a:t>
            </a:r>
          </a:p>
          <a:p>
            <a:pPr algn="l">
              <a:lnSpc>
                <a:spcPct val="95000"/>
              </a:lnSpc>
              <a:spcBef>
                <a:spcPts val="0"/>
              </a:spcBef>
              <a:spcAft>
                <a:spcPts val="0"/>
              </a:spcAft>
              <a:buNone/>
            </a:pPr>
            <a:r>
              <a:rPr sz="1600" b="0" i="0" lang="en-US" dirty="0">
                <a:solidFill>
                  <a:srgbClr val="111827"/>
                </a:solidFill>
                <a:latin typeface="Courier New"/>
              </a:rPr>
              <a:t>[ 0   0   0   4 |  8 ]</a:t>
            </a:r>
          </a:p>
        </p:txBody>
      </p:sp>
      <p:sp>
        <p:nvSpPr>
          <p:cNvPr id="4" name="Start at the bottom and work up" descr="Start at the bottom and work up&#10;Equation 4:   4x4 = 8            -&gt;  x4 = 2&#10;Equation 3:   3x3 + 2x4 = 4      -&gt;  x3 = 0&#10;Equation 2:  -2x2 + x4 = 0       -&gt;  x2 = 1&#10;Equation 1:   3x1 + x2 + x3 = 4  -&gt;  x1 = 1"/>
          <p:cNvSpPr/>
          <p:nvPr/>
        </p:nvSpPr>
        <p:spPr>
          <a:xfrm>
            <a:off x="5010912" y="1335024"/>
            <a:ext cx="6614129" cy="221284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Start at the bottom and work up</a:t>
            </a:r>
          </a:p>
          <a:p>
            <a:pPr algn="l">
              <a:lnSpc>
                <a:spcPct val="95000"/>
              </a:lnSpc>
              <a:spcBef>
                <a:spcPts val="0"/>
              </a:spcBef>
              <a:spcAft>
                <a:spcPts val="0"/>
              </a:spcAft>
              <a:buNone/>
            </a:pPr>
            <a:r>
              <a:rPr sz="1500" b="0" i="0" lang="en-US" dirty="0">
                <a:solidFill>
                  <a:srgbClr val="111827"/>
                </a:solidFill>
                <a:latin typeface="Courier New"/>
              </a:rPr>
              <a:t>Equation 4:   4x4 = 8            -&gt;  x4 = 2</a:t>
            </a:r>
          </a:p>
          <a:p>
            <a:pPr algn="l">
              <a:lnSpc>
                <a:spcPct val="95000"/>
              </a:lnSpc>
              <a:spcBef>
                <a:spcPts val="0"/>
              </a:spcBef>
              <a:spcAft>
                <a:spcPts val="0"/>
              </a:spcAft>
              <a:buNone/>
            </a:pPr>
            <a:r>
              <a:rPr sz="1500" b="0" i="0" lang="en-US" dirty="0">
                <a:solidFill>
                  <a:srgbClr val="111827"/>
                </a:solidFill>
                <a:latin typeface="Courier New"/>
              </a:rPr>
              <a:t>Equation 3:   3x3 + 2x4 = 4      -&gt;  x3 = 0</a:t>
            </a:r>
          </a:p>
          <a:p>
            <a:pPr algn="l">
              <a:lnSpc>
                <a:spcPct val="95000"/>
              </a:lnSpc>
              <a:spcBef>
                <a:spcPts val="0"/>
              </a:spcBef>
              <a:spcAft>
                <a:spcPts val="0"/>
              </a:spcAft>
              <a:buNone/>
            </a:pPr>
            <a:r>
              <a:rPr sz="1500" b="0" i="0" lang="en-US" dirty="0">
                <a:solidFill>
                  <a:srgbClr val="111827"/>
                </a:solidFill>
                <a:latin typeface="Courier New"/>
              </a:rPr>
              <a:t>Equation 2:  -2x2 + x4 = 0       -&gt;  x2 = 1</a:t>
            </a:r>
          </a:p>
          <a:p>
            <a:pPr algn="l">
              <a:lnSpc>
                <a:spcPct val="95000"/>
              </a:lnSpc>
              <a:spcBef>
                <a:spcPts val="0"/>
              </a:spcBef>
              <a:spcAft>
                <a:spcPts val="0"/>
              </a:spcAft>
              <a:buNone/>
            </a:pPr>
            <a:r>
              <a:rPr sz="1500" b="0" i="0" lang="en-US" dirty="0">
                <a:solidFill>
                  <a:srgbClr val="111827"/>
                </a:solidFill>
                <a:latin typeface="Courier New"/>
              </a:rPr>
              <a:t>Equation 1:   3x1 + x2 + x3 = 4  -&gt;  x1 = 1</a:t>
            </a:r>
          </a:p>
        </p:txBody>
      </p:sp>
      <p:sp>
        <p:nvSpPr>
          <p:cNvPr id="5" name="Result" descr="Result&#10;Solution x = (1, 1, 0, 2). Each step costs one division plus a few multiply–subtract pairs, so the whole solve is about n^2/2 multiplications — cheap."/>
          <p:cNvSpPr/>
          <p:nvPr/>
        </p:nvSpPr>
        <p:spPr>
          <a:xfrm>
            <a:off x="566928" y="3822191"/>
            <a:ext cx="11058113" cy="128016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111827"/>
                </a:solidFill>
                <a:latin typeface="Calibri"/>
              </a:rPr>
              <a:t>Result</a:t>
            </a:r>
          </a:p>
          <a:p>
            <a:pPr algn="l">
              <a:spcBef>
                <a:spcPts val="0"/>
              </a:spcBef>
              <a:spcAft>
                <a:spcPts val="0"/>
              </a:spcAft>
              <a:buNone/>
            </a:pPr>
            <a:r>
              <a:rPr sz="1700" b="0" i="0" lang="en-US" dirty="0">
                <a:solidFill>
                  <a:srgbClr val="111827"/>
                </a:solidFill>
                <a:latin typeface="Calibri"/>
              </a:rPr>
              <a:t>Solution x = (1, 1, 0, 2). Each step costs one division plus a few multiply–subtract pairs, so the whole solve is about n^2/2 multiplications — cheap.</a:t>
            </a:r>
          </a:p>
        </p:txBody>
      </p:sp>
      <p:sp>
        <p:nvSpPr>
          <p:cNvPr id="6" name="MATH 616 · Computational Linear Algebra  ·  Direct Methods f" descr="MATH 616 · Computational Linear Algebra  ·  Direct Methods for Linear Systems  ·  Slide 7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7 of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ward substitution in Python" descr="Backward substitution in Pytho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Backward substitution in Python</a:t>
            </a:r>
          </a:p>
        </p:txBody>
      </p:sp>
      <p:sp>
        <p:nvSpPr>
          <p:cNvPr id="3" name="import numpy as np" descr="import numpy as np&#10; &#10;def backward(U, b):&#10;    &quot;&quot;&quot;Solve U x = b for an upper-triangular U.&#10;    U is (n, n), b is (n, m), and the result x is (n, m).&#10;    &quot;&quot;&quot;&#10;    n, m = b.shape&#10;    x = np.zeros((n, m))&#10;    x[n-1] = b[n-1] / U[n-1, n-1]&#10;    for i in range(n-2, -1, -1):&#10;        x[i] = (b[i] - U[i, i+1:] @ x[i+1:]) / U[i, i]&#10;    return x"/>
          <p:cNvSpPr/>
          <p:nvPr/>
        </p:nvSpPr>
        <p:spPr>
          <a:xfrm>
            <a:off x="566928" y="1335024"/>
            <a:ext cx="11058113" cy="2798064"/>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95000"/>
              </a:lnSpc>
              <a:spcBef>
                <a:spcPts val="0"/>
              </a:spcBef>
              <a:spcAft>
                <a:spcPts val="0"/>
              </a:spcAft>
              <a:buNone/>
            </a:pPr>
            <a:r>
              <a:rPr sz="1500" b="0" i="0" lang="en-US" dirty="0">
                <a:solidFill>
                  <a:srgbClr val="111827"/>
                </a:solidFill>
                <a:latin typeface="Courier New"/>
              </a:rPr>
              <a:t>import numpy as np</a:t>
            </a:r>
          </a:p>
          <a:p>
            <a:pPr algn="l">
              <a:lnSpc>
                <a:spcPct val="95000"/>
              </a:lnSpc>
              <a:spcBef>
                <a:spcPts val="0"/>
              </a:spcBef>
              <a:spcAft>
                <a:spcPts val="0"/>
              </a:spcAft>
              <a:buNone/>
            </a:pPr>
            <a:r>
              <a:rPr sz="1500" lang="en-US" dirty="0">
                <a:solidFill>
                  <a:srgbClr val="111827"/>
                </a:solidFill>
                <a:latin typeface="Courier New"/>
              </a:rPr>
              <a:t> </a:t>
            </a:r>
          </a:p>
          <a:p>
            <a:pPr algn="l">
              <a:lnSpc>
                <a:spcPct val="95000"/>
              </a:lnSpc>
              <a:spcBef>
                <a:spcPts val="0"/>
              </a:spcBef>
              <a:spcAft>
                <a:spcPts val="0"/>
              </a:spcAft>
              <a:buNone/>
            </a:pPr>
            <a:r>
              <a:rPr sz="1500" b="0" i="0" lang="en-US" dirty="0">
                <a:solidFill>
                  <a:srgbClr val="111827"/>
                </a:solidFill>
                <a:latin typeface="Courier New"/>
              </a:rPr>
              <a:t>def backward(U, b):</a:t>
            </a:r>
          </a:p>
          <a:p>
            <a:pPr algn="l">
              <a:lnSpc>
                <a:spcPct val="95000"/>
              </a:lnSpc>
              <a:spcBef>
                <a:spcPts val="0"/>
              </a:spcBef>
              <a:spcAft>
                <a:spcPts val="0"/>
              </a:spcAft>
              <a:buNone/>
            </a:pPr>
            <a:r>
              <a:rPr sz="1500" b="0" i="0" lang="en-US" dirty="0">
                <a:solidFill>
                  <a:srgbClr val="111827"/>
                </a:solidFill>
                <a:latin typeface="Courier New"/>
              </a:rPr>
              <a:t>    """Solve U x = b for an upper-triangular U.</a:t>
            </a:r>
          </a:p>
          <a:p>
            <a:pPr algn="l">
              <a:lnSpc>
                <a:spcPct val="95000"/>
              </a:lnSpc>
              <a:spcBef>
                <a:spcPts val="0"/>
              </a:spcBef>
              <a:spcAft>
                <a:spcPts val="0"/>
              </a:spcAft>
              <a:buNone/>
            </a:pPr>
            <a:r>
              <a:rPr sz="1500" b="0" i="0" lang="en-US" dirty="0">
                <a:solidFill>
                  <a:srgbClr val="111827"/>
                </a:solidFill>
                <a:latin typeface="Courier New"/>
              </a:rPr>
              <a:t>    U is (n, n), b is (n, m), and the result x is (n, m).</a:t>
            </a:r>
          </a:p>
          <a:p>
            <a:pPr algn="l">
              <a:lnSpc>
                <a:spcPct val="95000"/>
              </a:lnSpc>
              <a:spcBef>
                <a:spcPts val="0"/>
              </a:spcBef>
              <a:spcAft>
                <a:spcPts val="0"/>
              </a:spcAft>
              <a:buNone/>
            </a:pPr>
            <a:r>
              <a:rPr sz="1500" b="0" i="0" lang="en-US" dirty="0">
                <a:solidFill>
                  <a:srgbClr val="111827"/>
                </a:solidFill>
                <a:latin typeface="Courier New"/>
              </a:rPr>
              <a:t>    """</a:t>
            </a:r>
          </a:p>
          <a:p>
            <a:pPr algn="l">
              <a:lnSpc>
                <a:spcPct val="95000"/>
              </a:lnSpc>
              <a:spcBef>
                <a:spcPts val="0"/>
              </a:spcBef>
              <a:spcAft>
                <a:spcPts val="0"/>
              </a:spcAft>
              <a:buNone/>
            </a:pPr>
            <a:r>
              <a:rPr sz="1500" b="0" i="0" lang="en-US" dirty="0">
                <a:solidFill>
                  <a:srgbClr val="111827"/>
                </a:solidFill>
                <a:latin typeface="Courier New"/>
              </a:rPr>
              <a:t>    n, m = b.shape</a:t>
            </a:r>
          </a:p>
          <a:p>
            <a:pPr algn="l">
              <a:lnSpc>
                <a:spcPct val="95000"/>
              </a:lnSpc>
              <a:spcBef>
                <a:spcPts val="0"/>
              </a:spcBef>
              <a:spcAft>
                <a:spcPts val="0"/>
              </a:spcAft>
              <a:buNone/>
            </a:pPr>
            <a:r>
              <a:rPr sz="1500" b="0" i="0" lang="en-US" dirty="0">
                <a:solidFill>
                  <a:srgbClr val="111827"/>
                </a:solidFill>
                <a:latin typeface="Courier New"/>
              </a:rPr>
              <a:t>    x = np.zeros((n, m))</a:t>
            </a:r>
          </a:p>
          <a:p>
            <a:pPr algn="l">
              <a:lnSpc>
                <a:spcPct val="95000"/>
              </a:lnSpc>
              <a:spcBef>
                <a:spcPts val="0"/>
              </a:spcBef>
              <a:spcAft>
                <a:spcPts val="0"/>
              </a:spcAft>
              <a:buNone/>
            </a:pPr>
            <a:r>
              <a:rPr sz="1500" b="0" i="0" lang="en-US" dirty="0">
                <a:solidFill>
                  <a:srgbClr val="111827"/>
                </a:solidFill>
                <a:latin typeface="Courier New"/>
              </a:rPr>
              <a:t>    x[n-1] = b[n-1] / U[n-1, n-1]</a:t>
            </a:r>
          </a:p>
          <a:p>
            <a:pPr algn="l">
              <a:lnSpc>
                <a:spcPct val="95000"/>
              </a:lnSpc>
              <a:spcBef>
                <a:spcPts val="0"/>
              </a:spcBef>
              <a:spcAft>
                <a:spcPts val="0"/>
              </a:spcAft>
              <a:buNone/>
            </a:pPr>
            <a:r>
              <a:rPr sz="1500" b="0" i="0" lang="en-US" dirty="0">
                <a:solidFill>
                  <a:srgbClr val="111827"/>
                </a:solidFill>
                <a:latin typeface="Courier New"/>
              </a:rPr>
              <a:t>    for i in range(n-2, -1, -1):</a:t>
            </a:r>
          </a:p>
          <a:p>
            <a:pPr algn="l">
              <a:lnSpc>
                <a:spcPct val="95000"/>
              </a:lnSpc>
              <a:spcBef>
                <a:spcPts val="0"/>
              </a:spcBef>
              <a:spcAft>
                <a:spcPts val="0"/>
              </a:spcAft>
              <a:buNone/>
            </a:pPr>
            <a:r>
              <a:rPr sz="1500" b="0" i="0" lang="en-US" dirty="0">
                <a:solidFill>
                  <a:srgbClr val="111827"/>
                </a:solidFill>
                <a:latin typeface="Courier New"/>
              </a:rPr>
              <a:t>        x[i] = (b[i] - U[i, i+1:] @ x[i+1:]) / U[i, i]</a:t>
            </a:r>
          </a:p>
          <a:p>
            <a:pPr algn="l">
              <a:lnSpc>
                <a:spcPct val="95000"/>
              </a:lnSpc>
              <a:spcBef>
                <a:spcPts val="0"/>
              </a:spcBef>
              <a:spcAft>
                <a:spcPts val="0"/>
              </a:spcAft>
              <a:buNone/>
            </a:pPr>
            <a:r>
              <a:rPr sz="1500" b="0" i="0" lang="en-US" dirty="0">
                <a:solidFill>
                  <a:srgbClr val="111827"/>
                </a:solidFill>
                <a:latin typeface="Courier New"/>
              </a:rPr>
              <a:t>    return x</a:t>
            </a:r>
          </a:p>
        </p:txBody>
      </p:sp>
      <p:sp>
        <p:nvSpPr>
          <p:cNvPr id="4" name="Two things to notice" descr="Two things to notice&#10;The loop counts downward, and b is a 2-D array rather than a vector — so the same function solves m right-hand sides at once. We come back to that in topic 4."/>
          <p:cNvSpPr/>
          <p:nvPr/>
        </p:nvSpPr>
        <p:spPr>
          <a:xfrm>
            <a:off x="566928" y="4315968"/>
            <a:ext cx="11058113" cy="128016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Two things to notice</a:t>
            </a:r>
          </a:p>
          <a:p>
            <a:pPr algn="l">
              <a:spcBef>
                <a:spcPts val="0"/>
              </a:spcBef>
              <a:spcAft>
                <a:spcPts val="0"/>
              </a:spcAft>
              <a:buNone/>
            </a:pPr>
            <a:r>
              <a:rPr sz="1600" b="0" i="0" lang="en-US" dirty="0">
                <a:solidFill>
                  <a:srgbClr val="111827"/>
                </a:solidFill>
                <a:latin typeface="Calibri"/>
              </a:rPr>
              <a:t>The loop counts downward, and b is a 2-D array rather than a vector — so the same function solves m right-hand sides at once. We come back to that in topic 4.</a:t>
            </a:r>
          </a:p>
        </p:txBody>
      </p:sp>
      <p:sp>
        <p:nvSpPr>
          <p:cNvPr id="5" name="MATH 616 · Computational Linear Algebra  ·  Direct Methods f" descr="MATH 616 · Computational Linear Algebra  ·  Direct Methods for Linear Systems  ·  Slide 8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8 of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ower-triangular systems: forward substitution" descr="Lower-triangular systems: forward substitutio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Lower-triangular systems: forward substitution</a:t>
            </a:r>
          </a:p>
        </p:txBody>
      </p:sp>
      <p:sp>
        <p:nvSpPr>
          <p:cNvPr id="3" name="A lower-triangular system" descr="A lower-triangular system&#10;[  5   0   0   0 | -5 ]&#10;[  2   1   0   0 | -4 ]&#10;[ -1   0   1   0 |  1 ]&#10;[ -2   3   0  -4 | -4 ]"/>
          <p:cNvSpPr/>
          <p:nvPr/>
        </p:nvSpPr>
        <p:spPr>
          <a:xfrm>
            <a:off x="566928" y="1335024"/>
            <a:ext cx="4114800" cy="221284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A lower-triangular system</a:t>
            </a:r>
          </a:p>
          <a:p>
            <a:pPr algn="l">
              <a:lnSpc>
                <a:spcPct val="95000"/>
              </a:lnSpc>
              <a:spcBef>
                <a:spcPts val="0"/>
              </a:spcBef>
              <a:spcAft>
                <a:spcPts val="0"/>
              </a:spcAft>
              <a:buNone/>
            </a:pPr>
            <a:r>
              <a:rPr sz="1600" b="0" i="0" lang="en-US" dirty="0">
                <a:solidFill>
                  <a:srgbClr val="111827"/>
                </a:solidFill>
                <a:latin typeface="Courier New"/>
              </a:rPr>
              <a:t>[  5   0   0   0 | -5 ]</a:t>
            </a:r>
          </a:p>
          <a:p>
            <a:pPr algn="l">
              <a:lnSpc>
                <a:spcPct val="95000"/>
              </a:lnSpc>
              <a:spcBef>
                <a:spcPts val="0"/>
              </a:spcBef>
              <a:spcAft>
                <a:spcPts val="0"/>
              </a:spcAft>
              <a:buNone/>
            </a:pPr>
            <a:r>
              <a:rPr sz="1600" b="0" i="0" lang="en-US" dirty="0">
                <a:solidFill>
                  <a:srgbClr val="111827"/>
                </a:solidFill>
                <a:latin typeface="Courier New"/>
              </a:rPr>
              <a:t>[  2   1   0   0 | -4 ]</a:t>
            </a:r>
          </a:p>
          <a:p>
            <a:pPr algn="l">
              <a:lnSpc>
                <a:spcPct val="95000"/>
              </a:lnSpc>
              <a:spcBef>
                <a:spcPts val="0"/>
              </a:spcBef>
              <a:spcAft>
                <a:spcPts val="0"/>
              </a:spcAft>
              <a:buNone/>
            </a:pPr>
            <a:r>
              <a:rPr sz="1600" b="0" i="0" lang="en-US" dirty="0">
                <a:solidFill>
                  <a:srgbClr val="111827"/>
                </a:solidFill>
                <a:latin typeface="Courier New"/>
              </a:rPr>
              <a:t>[ -1   0   1   0 |  1 ]</a:t>
            </a:r>
          </a:p>
          <a:p>
            <a:pPr algn="l">
              <a:lnSpc>
                <a:spcPct val="95000"/>
              </a:lnSpc>
              <a:spcBef>
                <a:spcPts val="0"/>
              </a:spcBef>
              <a:spcAft>
                <a:spcPts val="0"/>
              </a:spcAft>
              <a:buNone/>
            </a:pPr>
            <a:r>
              <a:rPr sz="1600" b="0" i="0" lang="en-US" dirty="0">
                <a:solidFill>
                  <a:srgbClr val="111827"/>
                </a:solidFill>
                <a:latin typeface="Courier New"/>
              </a:rPr>
              <a:t>[ -2   3   0  -4 | -4 ]</a:t>
            </a:r>
          </a:p>
        </p:txBody>
      </p:sp>
      <p:sp>
        <p:nvSpPr>
          <p:cNvPr id="4" name="Start at the top and work down" descr="Start at the top and work down&#10;Equation 1:   5x1 = -5              -&gt;  x1 = -1&#10;Equation 2:   2x1 + x2 = -4         -&gt;  x2 = -2&#10;Equation 3:  -x1 + x3 = 1           -&gt;  x3 =  0&#10;Equation 4:  -2x1 + 3x2 - 4x4 = -4  -&gt;  x4 =  0"/>
          <p:cNvSpPr/>
          <p:nvPr/>
        </p:nvSpPr>
        <p:spPr>
          <a:xfrm>
            <a:off x="5010912" y="1335024"/>
            <a:ext cx="6614129" cy="221284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Start at the top and work down</a:t>
            </a:r>
          </a:p>
          <a:p>
            <a:pPr algn="l">
              <a:lnSpc>
                <a:spcPct val="95000"/>
              </a:lnSpc>
              <a:spcBef>
                <a:spcPts val="0"/>
              </a:spcBef>
              <a:spcAft>
                <a:spcPts val="0"/>
              </a:spcAft>
              <a:buNone/>
            </a:pPr>
            <a:r>
              <a:rPr sz="1500" b="0" i="0" lang="en-US" dirty="0">
                <a:solidFill>
                  <a:srgbClr val="111827"/>
                </a:solidFill>
                <a:latin typeface="Courier New"/>
              </a:rPr>
              <a:t>Equation 1:   5x1 = -5              -&gt;  x1 = -1</a:t>
            </a:r>
          </a:p>
          <a:p>
            <a:pPr algn="l">
              <a:lnSpc>
                <a:spcPct val="95000"/>
              </a:lnSpc>
              <a:spcBef>
                <a:spcPts val="0"/>
              </a:spcBef>
              <a:spcAft>
                <a:spcPts val="0"/>
              </a:spcAft>
              <a:buNone/>
            </a:pPr>
            <a:r>
              <a:rPr sz="1500" b="0" i="0" lang="en-US" dirty="0">
                <a:solidFill>
                  <a:srgbClr val="111827"/>
                </a:solidFill>
                <a:latin typeface="Courier New"/>
              </a:rPr>
              <a:t>Equation 2:   2x1 + x2 = -4         -&gt;  x2 = -2</a:t>
            </a:r>
          </a:p>
          <a:p>
            <a:pPr algn="l">
              <a:lnSpc>
                <a:spcPct val="95000"/>
              </a:lnSpc>
              <a:spcBef>
                <a:spcPts val="0"/>
              </a:spcBef>
              <a:spcAft>
                <a:spcPts val="0"/>
              </a:spcAft>
              <a:buNone/>
            </a:pPr>
            <a:r>
              <a:rPr sz="1500" b="0" i="0" lang="en-US" dirty="0">
                <a:solidFill>
                  <a:srgbClr val="111827"/>
                </a:solidFill>
                <a:latin typeface="Courier New"/>
              </a:rPr>
              <a:t>Equation 3:  -x1 + x3 = 1           -&gt;  x3 =  0</a:t>
            </a:r>
          </a:p>
          <a:p>
            <a:pPr algn="l">
              <a:lnSpc>
                <a:spcPct val="95000"/>
              </a:lnSpc>
              <a:spcBef>
                <a:spcPts val="0"/>
              </a:spcBef>
              <a:spcAft>
                <a:spcPts val="0"/>
              </a:spcAft>
              <a:buNone/>
            </a:pPr>
            <a:r>
              <a:rPr sz="1500" b="0" i="0" lang="en-US" dirty="0">
                <a:solidFill>
                  <a:srgbClr val="111827"/>
                </a:solidFill>
                <a:latin typeface="Courier New"/>
              </a:rPr>
              <a:t>Equation 4:  -2x1 + 3x2 - 4x4 = -4  -&gt;  x4 =  0</a:t>
            </a:r>
          </a:p>
        </p:txBody>
      </p:sp>
      <p:sp>
        <p:nvSpPr>
          <p:cNvPr id="5" name="Result" descr="Result&#10;Solution x = (-1, -2, 0, 0). The same algorithm read in the other direction; the cost is again about n^2/2 multiplications."/>
          <p:cNvSpPr/>
          <p:nvPr/>
        </p:nvSpPr>
        <p:spPr>
          <a:xfrm>
            <a:off x="566928" y="3822191"/>
            <a:ext cx="11058113" cy="128016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111827"/>
                </a:solidFill>
                <a:latin typeface="Calibri"/>
              </a:rPr>
              <a:t>Result</a:t>
            </a:r>
          </a:p>
          <a:p>
            <a:pPr algn="l">
              <a:spcBef>
                <a:spcPts val="0"/>
              </a:spcBef>
              <a:spcAft>
                <a:spcPts val="0"/>
              </a:spcAft>
              <a:buNone/>
            </a:pPr>
            <a:r>
              <a:rPr sz="1700" b="0" i="0" lang="en-US" dirty="0">
                <a:solidFill>
                  <a:srgbClr val="111827"/>
                </a:solidFill>
                <a:latin typeface="Calibri"/>
              </a:rPr>
              <a:t>Solution x = (-1, -2, 0, 0). The same algorithm read in the other direction; the cost is again about n^2/2 multiplications.</a:t>
            </a:r>
          </a:p>
        </p:txBody>
      </p:sp>
      <p:sp>
        <p:nvSpPr>
          <p:cNvPr id="6" name="MATH 616 · Computational Linear Algebra  ·  Direct Methods f" descr="MATH 616 · Computational Linear Algebra  ·  Direct Methods for Linear Systems  ·  Slide 9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9 of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rward substitution in Python" descr="Forward substitution in Pytho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Forward substitution in Python</a:t>
            </a:r>
          </a:p>
        </p:txBody>
      </p:sp>
      <p:sp>
        <p:nvSpPr>
          <p:cNvPr id="3" name="import numpy as np" descr="import numpy as np&#10; &#10;def forward(L, b):&#10;    &quot;&quot;&quot;Solve L x = b for a lower-triangular L.&#10;    L is (n, n), b is (n, m), and the result x is (n, m).&#10;    &quot;&quot;&quot;&#10;    n, m = b.shape&#10;    x = np.zeros((n, m))&#10;    x[0] = b[0] / L[0, 0]&#10;    for i in range(1, n):&#10;        x[i] = (b[i] - L[i, :i] @ x[:i]) / L[i, i]&#10;    return x"/>
          <p:cNvSpPr/>
          <p:nvPr/>
        </p:nvSpPr>
        <p:spPr>
          <a:xfrm>
            <a:off x="566928" y="1335024"/>
            <a:ext cx="11058113" cy="2798064"/>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95000"/>
              </a:lnSpc>
              <a:spcBef>
                <a:spcPts val="0"/>
              </a:spcBef>
              <a:spcAft>
                <a:spcPts val="0"/>
              </a:spcAft>
              <a:buNone/>
            </a:pPr>
            <a:r>
              <a:rPr sz="1500" b="0" i="0" lang="en-US" dirty="0">
                <a:solidFill>
                  <a:srgbClr val="111827"/>
                </a:solidFill>
                <a:latin typeface="Courier New"/>
              </a:rPr>
              <a:t>import numpy as np</a:t>
            </a:r>
          </a:p>
          <a:p>
            <a:pPr algn="l">
              <a:lnSpc>
                <a:spcPct val="95000"/>
              </a:lnSpc>
              <a:spcBef>
                <a:spcPts val="0"/>
              </a:spcBef>
              <a:spcAft>
                <a:spcPts val="0"/>
              </a:spcAft>
              <a:buNone/>
            </a:pPr>
            <a:r>
              <a:rPr sz="1500" lang="en-US" dirty="0">
                <a:solidFill>
                  <a:srgbClr val="111827"/>
                </a:solidFill>
                <a:latin typeface="Courier New"/>
              </a:rPr>
              <a:t> </a:t>
            </a:r>
          </a:p>
          <a:p>
            <a:pPr algn="l">
              <a:lnSpc>
                <a:spcPct val="95000"/>
              </a:lnSpc>
              <a:spcBef>
                <a:spcPts val="0"/>
              </a:spcBef>
              <a:spcAft>
                <a:spcPts val="0"/>
              </a:spcAft>
              <a:buNone/>
            </a:pPr>
            <a:r>
              <a:rPr sz="1500" b="0" i="0" lang="en-US" dirty="0">
                <a:solidFill>
                  <a:srgbClr val="111827"/>
                </a:solidFill>
                <a:latin typeface="Courier New"/>
              </a:rPr>
              <a:t>def forward(L, b):</a:t>
            </a:r>
          </a:p>
          <a:p>
            <a:pPr algn="l">
              <a:lnSpc>
                <a:spcPct val="95000"/>
              </a:lnSpc>
              <a:spcBef>
                <a:spcPts val="0"/>
              </a:spcBef>
              <a:spcAft>
                <a:spcPts val="0"/>
              </a:spcAft>
              <a:buNone/>
            </a:pPr>
            <a:r>
              <a:rPr sz="1500" b="0" i="0" lang="en-US" dirty="0">
                <a:solidFill>
                  <a:srgbClr val="111827"/>
                </a:solidFill>
                <a:latin typeface="Courier New"/>
              </a:rPr>
              <a:t>    """Solve L x = b for a lower-triangular L.</a:t>
            </a:r>
          </a:p>
          <a:p>
            <a:pPr algn="l">
              <a:lnSpc>
                <a:spcPct val="95000"/>
              </a:lnSpc>
              <a:spcBef>
                <a:spcPts val="0"/>
              </a:spcBef>
              <a:spcAft>
                <a:spcPts val="0"/>
              </a:spcAft>
              <a:buNone/>
            </a:pPr>
            <a:r>
              <a:rPr sz="1500" b="0" i="0" lang="en-US" dirty="0">
                <a:solidFill>
                  <a:srgbClr val="111827"/>
                </a:solidFill>
                <a:latin typeface="Courier New"/>
              </a:rPr>
              <a:t>    L is (n, n), b is (n, m), and the result x is (n, m).</a:t>
            </a:r>
          </a:p>
          <a:p>
            <a:pPr algn="l">
              <a:lnSpc>
                <a:spcPct val="95000"/>
              </a:lnSpc>
              <a:spcBef>
                <a:spcPts val="0"/>
              </a:spcBef>
              <a:spcAft>
                <a:spcPts val="0"/>
              </a:spcAft>
              <a:buNone/>
            </a:pPr>
            <a:r>
              <a:rPr sz="1500" b="0" i="0" lang="en-US" dirty="0">
                <a:solidFill>
                  <a:srgbClr val="111827"/>
                </a:solidFill>
                <a:latin typeface="Courier New"/>
              </a:rPr>
              <a:t>    """</a:t>
            </a:r>
          </a:p>
          <a:p>
            <a:pPr algn="l">
              <a:lnSpc>
                <a:spcPct val="95000"/>
              </a:lnSpc>
              <a:spcBef>
                <a:spcPts val="0"/>
              </a:spcBef>
              <a:spcAft>
                <a:spcPts val="0"/>
              </a:spcAft>
              <a:buNone/>
            </a:pPr>
            <a:r>
              <a:rPr sz="1500" b="0" i="0" lang="en-US" dirty="0">
                <a:solidFill>
                  <a:srgbClr val="111827"/>
                </a:solidFill>
                <a:latin typeface="Courier New"/>
              </a:rPr>
              <a:t>    n, m = b.shape</a:t>
            </a:r>
          </a:p>
          <a:p>
            <a:pPr algn="l">
              <a:lnSpc>
                <a:spcPct val="95000"/>
              </a:lnSpc>
              <a:spcBef>
                <a:spcPts val="0"/>
              </a:spcBef>
              <a:spcAft>
                <a:spcPts val="0"/>
              </a:spcAft>
              <a:buNone/>
            </a:pPr>
            <a:r>
              <a:rPr sz="1500" b="0" i="0" lang="en-US" dirty="0">
                <a:solidFill>
                  <a:srgbClr val="111827"/>
                </a:solidFill>
                <a:latin typeface="Courier New"/>
              </a:rPr>
              <a:t>    x = np.zeros((n, m))</a:t>
            </a:r>
          </a:p>
          <a:p>
            <a:pPr algn="l">
              <a:lnSpc>
                <a:spcPct val="95000"/>
              </a:lnSpc>
              <a:spcBef>
                <a:spcPts val="0"/>
              </a:spcBef>
              <a:spcAft>
                <a:spcPts val="0"/>
              </a:spcAft>
              <a:buNone/>
            </a:pPr>
            <a:r>
              <a:rPr sz="1500" b="0" i="0" lang="en-US" dirty="0">
                <a:solidFill>
                  <a:srgbClr val="111827"/>
                </a:solidFill>
                <a:latin typeface="Courier New"/>
              </a:rPr>
              <a:t>    x[0] = b[0] / L[0, 0]</a:t>
            </a:r>
          </a:p>
          <a:p>
            <a:pPr algn="l">
              <a:lnSpc>
                <a:spcPct val="95000"/>
              </a:lnSpc>
              <a:spcBef>
                <a:spcPts val="0"/>
              </a:spcBef>
              <a:spcAft>
                <a:spcPts val="0"/>
              </a:spcAft>
              <a:buNone/>
            </a:pPr>
            <a:r>
              <a:rPr sz="1500" b="0" i="0" lang="en-US" dirty="0">
                <a:solidFill>
                  <a:srgbClr val="111827"/>
                </a:solidFill>
                <a:latin typeface="Courier New"/>
              </a:rPr>
              <a:t>    for i in range(1, n):</a:t>
            </a:r>
          </a:p>
          <a:p>
            <a:pPr algn="l">
              <a:lnSpc>
                <a:spcPct val="95000"/>
              </a:lnSpc>
              <a:spcBef>
                <a:spcPts val="0"/>
              </a:spcBef>
              <a:spcAft>
                <a:spcPts val="0"/>
              </a:spcAft>
              <a:buNone/>
            </a:pPr>
            <a:r>
              <a:rPr sz="1500" b="0" i="0" lang="en-US" dirty="0">
                <a:solidFill>
                  <a:srgbClr val="111827"/>
                </a:solidFill>
                <a:latin typeface="Courier New"/>
              </a:rPr>
              <a:t>        x[i] = (b[i] - L[i, :i] @ x[:i]) / L[i, i]</a:t>
            </a:r>
          </a:p>
          <a:p>
            <a:pPr algn="l">
              <a:lnSpc>
                <a:spcPct val="95000"/>
              </a:lnSpc>
              <a:spcBef>
                <a:spcPts val="0"/>
              </a:spcBef>
              <a:spcAft>
                <a:spcPts val="0"/>
              </a:spcAft>
              <a:buNone/>
            </a:pPr>
            <a:r>
              <a:rPr sz="1500" b="0" i="0" lang="en-US" dirty="0">
                <a:solidFill>
                  <a:srgbClr val="111827"/>
                </a:solidFill>
                <a:latin typeface="Courier New"/>
              </a:rPr>
              <a:t>    return x</a:t>
            </a:r>
          </a:p>
        </p:txBody>
      </p:sp>
      <p:sp>
        <p:nvSpPr>
          <p:cNvPr id="4" name="The one thing that can go wrong" descr="The one thing that can go wrong&#10;Both functions divide by a diagonal entry. If any U[i, i] or L[i, i] is zero the triangular matrix is singular and there is nothing to compute."/>
          <p:cNvSpPr/>
          <p:nvPr/>
        </p:nvSpPr>
        <p:spPr>
          <a:xfrm>
            <a:off x="566928" y="4315968"/>
            <a:ext cx="11058113" cy="1280160"/>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7C2D12"/>
                </a:solidFill>
                <a:latin typeface="Calibri"/>
              </a:rPr>
              <a:t>The one thing that can go wrong</a:t>
            </a:r>
          </a:p>
          <a:p>
            <a:pPr algn="l">
              <a:spcBef>
                <a:spcPts val="0"/>
              </a:spcBef>
              <a:spcAft>
                <a:spcPts val="0"/>
              </a:spcAft>
              <a:buNone/>
            </a:pPr>
            <a:r>
              <a:rPr sz="1600" b="0" i="0" lang="en-US" dirty="0">
                <a:solidFill>
                  <a:srgbClr val="7C2D12"/>
                </a:solidFill>
                <a:latin typeface="Calibri"/>
              </a:rPr>
              <a:t>Both functions divide by a diagonal entry. If any U[i, i] or L[i, i] is zero the triangular matrix is singular and there is nothing to compute.</a:t>
            </a:r>
          </a:p>
        </p:txBody>
      </p:sp>
      <p:sp>
        <p:nvSpPr>
          <p:cNvPr id="5" name="MATH 616 · Computational Linear Algebra  ·  Direct Methods f" descr="MATH 616 · Computational Linear Algebra  ·  Direct Methods for Linear Systems  ·  Slide 10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10 of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3D62"/>
        </a:solidFill>
        <a:effectLst/>
      </p:bgPr>
    </p:bg>
    <p:spTree>
      <p:nvGrpSpPr>
        <p:cNvPr id="1" name=""/>
        <p:cNvGrpSpPr/>
        <p:nvPr/>
      </p:nvGrpSpPr>
      <p:grpSpPr/>
      <p:sp>
        <p:nvSpPr>
          <p:cNvPr id="2" name="Naive Gaussian elimination" descr="Naive Gaussian elimination"/>
          <p:cNvSpPr>
            <a:spLocks noGrp="1"/>
          </p:cNvSpPr>
          <p:nvPr>
            <p:ph type="title"/>
          </p:nvPr>
        </p:nvSpPr>
        <p:spPr>
          <a:xfrm>
            <a:off x="566928" y="2212848"/>
            <a:ext cx="11058113" cy="1133856"/>
          </a:xfrm>
        </p:spPr>
        <p:txBody>
          <a:bodyPr wrap="square" lIns="0" rIns="0" tIns="0" bIns="0" anchor="ctr"/>
          <a:lstStyle/>
          <a:p>
            <a:pPr algn="l"/>
            <a:r>
              <a:rPr sz="3200" b="1" lang="en-US" dirty="0">
                <a:solidFill>
                  <a:srgbClr val="FFFFFF"/>
                </a:solidFill>
                <a:latin typeface="Calibri"/>
              </a:rPr>
              <a:t>Naive Gaussian elimination</a:t>
            </a:r>
          </a:p>
        </p:txBody>
      </p:sp>
      <p:sp>
        <p:nvSpPr>
          <p:cNvPr id="3" name="Topic 2" descr="Topic 2"/>
          <p:cNvSpPr txBox="1"/>
          <p:nvPr/>
        </p:nvSpPr>
        <p:spPr>
          <a:xfrm>
            <a:off x="566928" y="1792224"/>
            <a:ext cx="11058113" cy="365760"/>
          </a:xfrm>
          <a:prstGeom prst="rect">
            <a:avLst/>
          </a:prstGeom>
          <a:noFill/>
        </p:spPr>
        <p:txBody>
          <a:bodyPr wrap="square" lIns="0" rIns="0" tIns="0" bIns="0">
            <a:spAutoFit/>
          </a:bodyPr>
          <a:lstStyle/>
          <a:p>
            <a:pPr algn="l">
              <a:spcBef>
                <a:spcPts val="0"/>
              </a:spcBef>
              <a:spcAft>
                <a:spcPts val="0"/>
              </a:spcAft>
              <a:buNone/>
            </a:pPr>
            <a:r>
              <a:rPr sz="2000" b="0" i="0" lang="en-US" dirty="0">
                <a:solidFill>
                  <a:srgbClr val="D7E4EE"/>
                </a:solidFill>
                <a:latin typeface="Calibri"/>
              </a:rPr>
              <a:t>Topic 2</a:t>
            </a:r>
          </a:p>
        </p:txBody>
      </p:sp>
      <p:sp>
        <p:nvSpPr>
          <p:cNvPr id="4" name="▸  The three elementary row operations, and why they preserv" descr="▸  The three elementary row operations, and why they preserve the solution&#10;▸  The algorithm on a 4 x 4 example, step by step&#10;▸  The zero-pivot breakdown that motivates everything in topic 3"/>
          <p:cNvSpPr/>
          <p:nvPr/>
        </p:nvSpPr>
        <p:spPr>
          <a:xfrm>
            <a:off x="566928" y="3730752"/>
            <a:ext cx="11058113" cy="1892808"/>
          </a:xfrm>
          <a:prstGeom prst="roundRect">
            <a:avLst>
              <a:gd name="adj" fmla="val 3500"/>
            </a:avLst>
          </a:prstGeom>
          <a:solidFill>
            <a:srgbClr val="104E7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marL="274320" indent="-274320">
              <a:spcBef>
                <a:spcPts val="0"/>
              </a:spcBef>
              <a:spcAft>
                <a:spcPts val="700"/>
              </a:spcAft>
              <a:buNone/>
            </a:pPr>
            <a:r>
              <a:rPr sz="1700" b="0" i="0" lang="en-US" dirty="0">
                <a:solidFill>
                  <a:srgbClr val="FFFFFF"/>
                </a:solidFill>
                <a:latin typeface="Calibri"/>
              </a:rPr>
              <a:t>▸  The three elementary row operations, and why they preserve the solution</a:t>
            </a:r>
          </a:p>
          <a:p>
            <a:pPr algn="l" marL="274320" indent="-274320">
              <a:spcBef>
                <a:spcPts val="0"/>
              </a:spcBef>
              <a:spcAft>
                <a:spcPts val="700"/>
              </a:spcAft>
              <a:buNone/>
            </a:pPr>
            <a:r>
              <a:rPr sz="1700" b="0" i="0" lang="en-US" dirty="0">
                <a:solidFill>
                  <a:srgbClr val="FFFFFF"/>
                </a:solidFill>
                <a:latin typeface="Calibri"/>
              </a:rPr>
              <a:t>▸  The algorithm on a 4 x 4 example, step by step</a:t>
            </a:r>
          </a:p>
          <a:p>
            <a:pPr algn="l" marL="274320" indent="-274320">
              <a:spcBef>
                <a:spcPts val="0"/>
              </a:spcBef>
              <a:spcAft>
                <a:spcPts val="700"/>
              </a:spcAft>
              <a:buNone/>
            </a:pPr>
            <a:r>
              <a:rPr sz="1700" b="0" i="0" lang="en-US" dirty="0">
                <a:solidFill>
                  <a:srgbClr val="FFFFFF"/>
                </a:solidFill>
                <a:latin typeface="Calibri"/>
              </a:rPr>
              <a:t>▸  The zero-pivot breakdown that motivates everything in topic 3</a:t>
            </a:r>
          </a:p>
        </p:txBody>
      </p:sp>
      <p:sp>
        <p:nvSpPr>
          <p:cNvPr id="5" name="MATH 616 · Computational Linear Algebra  ·  Direct Methods f" descr="MATH 616 · Computational Linear Algebra  ·  Direct Methods for Linear Systems  ·  Slide 11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C7D6E2"/>
                </a:solidFill>
                <a:latin typeface="Calibri"/>
              </a:rPr>
              <a:t>MATH 616 · Computational Linear Algebra  ·  Direct Methods for Linear Systems  ·  Slide 11 of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ree elementary row operations" descr="Three elementary row operations"/>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Three elementary row operations</a:t>
            </a:r>
          </a:p>
        </p:txBody>
      </p:sp>
      <p:sp>
        <p:nvSpPr>
          <p:cNvPr id="3" name="Scale a row" descr="Scale a row&#10;E_i  &lt;-  L * E_i,   L != 0&#10;Multiplying an equation by a non-zero number does not change its solutions."/>
          <p:cNvSpPr/>
          <p:nvPr/>
        </p:nvSpPr>
        <p:spPr>
          <a:xfrm>
            <a:off x="566928" y="1335024"/>
            <a:ext cx="3478773"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Scale a row</a:t>
            </a:r>
          </a:p>
          <a:p>
            <a:pPr algn="l">
              <a:lnSpc>
                <a:spcPct val="95000"/>
              </a:lnSpc>
              <a:spcBef>
                <a:spcPts val="0"/>
              </a:spcBef>
              <a:spcAft>
                <a:spcPts val="1000"/>
              </a:spcAft>
              <a:buNone/>
            </a:pPr>
            <a:r>
              <a:rPr sz="1500" b="0" i="0" lang="en-US" dirty="0">
                <a:solidFill>
                  <a:srgbClr val="111827"/>
                </a:solidFill>
                <a:latin typeface="Courier New"/>
              </a:rPr>
              <a:t>E_i  &lt;-  L * E_i,   L != 0</a:t>
            </a:r>
          </a:p>
          <a:p>
            <a:pPr algn="l">
              <a:spcBef>
                <a:spcPts val="0"/>
              </a:spcBef>
              <a:spcAft>
                <a:spcPts val="0"/>
              </a:spcAft>
              <a:buNone/>
            </a:pPr>
            <a:r>
              <a:rPr sz="1500" b="0" i="0" lang="en-US" dirty="0">
                <a:solidFill>
                  <a:srgbClr val="111827"/>
                </a:solidFill>
                <a:latin typeface="Calibri"/>
              </a:rPr>
              <a:t>Multiplying an equation by a non-zero number does not change its solutions.</a:t>
            </a:r>
          </a:p>
        </p:txBody>
      </p:sp>
      <p:sp>
        <p:nvSpPr>
          <p:cNvPr id="4" name="Eliminate" descr="Eliminate&#10;E_j  &lt;-  E_j - L * E_i&#10;Subtracting a multiple of one equation from another is how we create zeros."/>
          <p:cNvSpPr/>
          <p:nvPr/>
        </p:nvSpPr>
        <p:spPr>
          <a:xfrm>
            <a:off x="4356597" y="1335024"/>
            <a:ext cx="3478773"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Eliminate</a:t>
            </a:r>
          </a:p>
          <a:p>
            <a:pPr algn="l">
              <a:lnSpc>
                <a:spcPct val="95000"/>
              </a:lnSpc>
              <a:spcBef>
                <a:spcPts val="0"/>
              </a:spcBef>
              <a:spcAft>
                <a:spcPts val="1000"/>
              </a:spcAft>
              <a:buNone/>
            </a:pPr>
            <a:r>
              <a:rPr sz="1500" b="0" i="0" lang="en-US" dirty="0">
                <a:solidFill>
                  <a:srgbClr val="111827"/>
                </a:solidFill>
                <a:latin typeface="Courier New"/>
              </a:rPr>
              <a:t>E_j  &lt;-  E_j - L * E_i</a:t>
            </a:r>
          </a:p>
          <a:p>
            <a:pPr algn="l">
              <a:spcBef>
                <a:spcPts val="0"/>
              </a:spcBef>
              <a:spcAft>
                <a:spcPts val="0"/>
              </a:spcAft>
              <a:buNone/>
            </a:pPr>
            <a:r>
              <a:rPr sz="1500" b="0" i="0" lang="en-US" dirty="0">
                <a:solidFill>
                  <a:srgbClr val="111827"/>
                </a:solidFill>
                <a:latin typeface="Calibri"/>
              </a:rPr>
              <a:t>Subtracting a multiple of one equation from another is how we create zeros.</a:t>
            </a:r>
          </a:p>
        </p:txBody>
      </p:sp>
      <p:sp>
        <p:nvSpPr>
          <p:cNvPr id="5" name="Interchange" descr="Interchange&#10;E_i  &lt;-&gt;  E_j&#10;Reordering the equations changes nothing mathematically — but a great deal numerically, as the next topic shows."/>
          <p:cNvSpPr/>
          <p:nvPr/>
        </p:nvSpPr>
        <p:spPr>
          <a:xfrm>
            <a:off x="8146267" y="1335024"/>
            <a:ext cx="3478773"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Interchange</a:t>
            </a:r>
          </a:p>
          <a:p>
            <a:pPr algn="l">
              <a:lnSpc>
                <a:spcPct val="95000"/>
              </a:lnSpc>
              <a:spcBef>
                <a:spcPts val="0"/>
              </a:spcBef>
              <a:spcAft>
                <a:spcPts val="1000"/>
              </a:spcAft>
              <a:buNone/>
            </a:pPr>
            <a:r>
              <a:rPr sz="1500" b="0" i="0" lang="en-US" dirty="0">
                <a:solidFill>
                  <a:srgbClr val="111827"/>
                </a:solidFill>
                <a:latin typeface="Courier New"/>
              </a:rPr>
              <a:t>E_i  &lt;-&gt;  E_j</a:t>
            </a:r>
          </a:p>
          <a:p>
            <a:pPr algn="l">
              <a:spcBef>
                <a:spcPts val="0"/>
              </a:spcBef>
              <a:spcAft>
                <a:spcPts val="0"/>
              </a:spcAft>
              <a:buNone/>
            </a:pPr>
            <a:r>
              <a:rPr sz="1500" b="0" i="0" lang="en-US" dirty="0">
                <a:solidFill>
                  <a:srgbClr val="111827"/>
                </a:solidFill>
                <a:latin typeface="Calibri"/>
              </a:rPr>
              <a:t>Reordering the equations changes nothing mathematically — but a great deal numerically, as the next topic shows.</a:t>
            </a:r>
          </a:p>
        </p:txBody>
      </p:sp>
      <p:sp>
        <p:nvSpPr>
          <p:cNvPr id="6" name="Why we are allowed to do this" descr="Why we are allowed to do this&#10;Each operation is invertible and none of them changes the solution set, so the system we finish with is equivalent to the one we started with. Applying an operation to the identity matrix produces an elementary matrix whose inverse is immediate — the fact that becomes the LU factorization next time."/>
          <p:cNvSpPr/>
          <p:nvPr/>
        </p:nvSpPr>
        <p:spPr>
          <a:xfrm>
            <a:off x="566928" y="3840480"/>
            <a:ext cx="11058113" cy="1371600"/>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FFFFFF"/>
                </a:solidFill>
                <a:latin typeface="Calibri"/>
              </a:rPr>
              <a:t>Why we are allowed to do this</a:t>
            </a:r>
          </a:p>
          <a:p>
            <a:pPr algn="l">
              <a:spcBef>
                <a:spcPts val="0"/>
              </a:spcBef>
              <a:spcAft>
                <a:spcPts val="0"/>
              </a:spcAft>
              <a:buNone/>
            </a:pPr>
            <a:r>
              <a:rPr sz="1700" b="0" i="0" lang="en-US" dirty="0">
                <a:solidFill>
                  <a:srgbClr val="FFFFFF"/>
                </a:solidFill>
                <a:latin typeface="Calibri"/>
              </a:rPr>
              <a:t>Each operation is invertible and none of them changes the solution set, so the system we finish with is equivalent to the one we started with. Applying an operation to the identity matrix produces an elementary matrix whose inverse is immediate — the fact that becomes the LU factorization next time.</a:t>
            </a:r>
          </a:p>
        </p:txBody>
      </p:sp>
      <p:sp>
        <p:nvSpPr>
          <p:cNvPr id="7" name="MATH 616 · Computational Linear Algebra  ·  Direct Methods f" descr="MATH 616 · Computational Linear Algebra  ·  Direct Methods for Linear Systems  ·  Slide 12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12 of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 plan: turn A x = b into U x = b̃" descr="The plan: turn A x = b into U x = b̃"/>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The plan: turn A x = b into U x = b̃</a:t>
            </a:r>
          </a:p>
        </p:txBody>
      </p:sp>
      <p:sp>
        <p:nvSpPr>
          <p:cNvPr id="3" name="What we are given" descr="What we are given&#10;a11 x1 + a12 x2 + ... + a1n xn  =  b1&#10;a21 x1 + a22 x2 + ... + a2n xn  =  b2&#10;                 ...                 &#10;an1 x1 + an2 x2 + ... + ann xn  =  bn"/>
          <p:cNvSpPr/>
          <p:nvPr/>
        </p:nvSpPr>
        <p:spPr>
          <a:xfrm>
            <a:off x="566928" y="1335024"/>
            <a:ext cx="5504688" cy="237744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What we are given</a:t>
            </a:r>
          </a:p>
          <a:p>
            <a:pPr algn="l">
              <a:lnSpc>
                <a:spcPct val="95000"/>
              </a:lnSpc>
              <a:spcBef>
                <a:spcPts val="0"/>
              </a:spcBef>
              <a:spcAft>
                <a:spcPts val="0"/>
              </a:spcAft>
              <a:buNone/>
            </a:pPr>
            <a:r>
              <a:rPr sz="1500" b="0" i="0" lang="en-US" dirty="0">
                <a:solidFill>
                  <a:srgbClr val="111827"/>
                </a:solidFill>
                <a:latin typeface="Courier New"/>
              </a:rPr>
              <a:t>a11 x1 + a12 x2 + ... + a1n xn  =  b1</a:t>
            </a:r>
          </a:p>
          <a:p>
            <a:pPr algn="l">
              <a:lnSpc>
                <a:spcPct val="95000"/>
              </a:lnSpc>
              <a:spcBef>
                <a:spcPts val="0"/>
              </a:spcBef>
              <a:spcAft>
                <a:spcPts val="0"/>
              </a:spcAft>
              <a:buNone/>
            </a:pPr>
            <a:r>
              <a:rPr sz="1500" b="0" i="0" lang="en-US" dirty="0">
                <a:solidFill>
                  <a:srgbClr val="111827"/>
                </a:solidFill>
                <a:latin typeface="Courier New"/>
              </a:rPr>
              <a:t>a21 x1 + a22 x2 + ... + a2n xn  =  b2</a:t>
            </a:r>
          </a:p>
          <a:p>
            <a:pPr algn="l">
              <a:lnSpc>
                <a:spcPct val="95000"/>
              </a:lnSpc>
              <a:spcBef>
                <a:spcPts val="0"/>
              </a:spcBef>
              <a:spcAft>
                <a:spcPts val="0"/>
              </a:spcAft>
              <a:buNone/>
            </a:pPr>
            <a:r>
              <a:rPr sz="1500" b="0" i="0" lang="en-US" dirty="0">
                <a:solidFill>
                  <a:srgbClr val="111827"/>
                </a:solidFill>
                <a:latin typeface="Courier New"/>
              </a:rPr>
              <a:t>                 ...                 </a:t>
            </a:r>
          </a:p>
          <a:p>
            <a:pPr algn="l">
              <a:lnSpc>
                <a:spcPct val="95000"/>
              </a:lnSpc>
              <a:spcBef>
                <a:spcPts val="0"/>
              </a:spcBef>
              <a:spcAft>
                <a:spcPts val="0"/>
              </a:spcAft>
              <a:buNone/>
            </a:pPr>
            <a:r>
              <a:rPr sz="1500" b="0" i="0" lang="en-US" dirty="0">
                <a:solidFill>
                  <a:srgbClr val="111827"/>
                </a:solidFill>
                <a:latin typeface="Courier New"/>
              </a:rPr>
              <a:t>an1 x1 + an2 x2 + ... + ann xn  =  bn</a:t>
            </a:r>
          </a:p>
        </p:txBody>
      </p:sp>
      <p:sp>
        <p:nvSpPr>
          <p:cNvPr id="4" name="What we want" descr="What we want&#10;u11 x1 + u12 x2 + ... + u1n xn  =  b1~&#10;         u22 x2 + ... + u2n xn  =  b2~&#10;                        ...          &#10;                  unn xn        =  bn~"/>
          <p:cNvSpPr/>
          <p:nvPr/>
        </p:nvSpPr>
        <p:spPr>
          <a:xfrm>
            <a:off x="6400800" y="1335024"/>
            <a:ext cx="5224241" cy="237744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What we want</a:t>
            </a:r>
          </a:p>
          <a:p>
            <a:pPr algn="l">
              <a:lnSpc>
                <a:spcPct val="95000"/>
              </a:lnSpc>
              <a:spcBef>
                <a:spcPts val="0"/>
              </a:spcBef>
              <a:spcAft>
                <a:spcPts val="0"/>
              </a:spcAft>
              <a:buNone/>
            </a:pPr>
            <a:r>
              <a:rPr sz="1500" b="0" i="0" lang="en-US" dirty="0">
                <a:solidFill>
                  <a:srgbClr val="111827"/>
                </a:solidFill>
                <a:latin typeface="Courier New"/>
              </a:rPr>
              <a:t>u11 x1 + u12 x2 + ... + u1n xn  =  b1~</a:t>
            </a:r>
          </a:p>
          <a:p>
            <a:pPr algn="l">
              <a:lnSpc>
                <a:spcPct val="95000"/>
              </a:lnSpc>
              <a:spcBef>
                <a:spcPts val="0"/>
              </a:spcBef>
              <a:spcAft>
                <a:spcPts val="0"/>
              </a:spcAft>
              <a:buNone/>
            </a:pPr>
            <a:r>
              <a:rPr sz="1500" b="0" i="0" lang="en-US" dirty="0">
                <a:solidFill>
                  <a:srgbClr val="111827"/>
                </a:solidFill>
                <a:latin typeface="Courier New"/>
              </a:rPr>
              <a:t>         u22 x2 + ... + u2n xn  =  b2~</a:t>
            </a:r>
          </a:p>
          <a:p>
            <a:pPr algn="l">
              <a:lnSpc>
                <a:spcPct val="95000"/>
              </a:lnSpc>
              <a:spcBef>
                <a:spcPts val="0"/>
              </a:spcBef>
              <a:spcAft>
                <a:spcPts val="0"/>
              </a:spcAft>
              <a:buNone/>
            </a:pPr>
            <a:r>
              <a:rPr sz="1500" b="0" i="0" lang="en-US" dirty="0">
                <a:solidFill>
                  <a:srgbClr val="111827"/>
                </a:solidFill>
                <a:latin typeface="Courier New"/>
              </a:rPr>
              <a:t>                        ...          </a:t>
            </a:r>
          </a:p>
          <a:p>
            <a:pPr algn="l">
              <a:lnSpc>
                <a:spcPct val="95000"/>
              </a:lnSpc>
              <a:spcBef>
                <a:spcPts val="0"/>
              </a:spcBef>
              <a:spcAft>
                <a:spcPts val="0"/>
              </a:spcAft>
              <a:buNone/>
            </a:pPr>
            <a:r>
              <a:rPr sz="1500" b="0" i="0" lang="en-US" dirty="0">
                <a:solidFill>
                  <a:srgbClr val="111827"/>
                </a:solidFill>
                <a:latin typeface="Courier New"/>
              </a:rPr>
              <a:t>                  unn xn        =  bn~</a:t>
            </a:r>
          </a:p>
        </p:txBody>
      </p:sp>
      <p:sp>
        <p:nvSpPr>
          <p:cNvPr id="5" name="The loop" descr="The loop&#10;At step k we use row k to clear every entry below the pivot a_kk, for k = 1, 2, ..., n-1. Then one backward substitution finishes the solve."/>
          <p:cNvSpPr/>
          <p:nvPr/>
        </p:nvSpPr>
        <p:spPr>
          <a:xfrm>
            <a:off x="566928" y="3950208"/>
            <a:ext cx="11058113" cy="1243584"/>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FFFFFF"/>
                </a:solidFill>
                <a:latin typeface="Calibri"/>
              </a:rPr>
              <a:t>The loop</a:t>
            </a:r>
          </a:p>
          <a:p>
            <a:pPr algn="l">
              <a:spcBef>
                <a:spcPts val="0"/>
              </a:spcBef>
              <a:spcAft>
                <a:spcPts val="0"/>
              </a:spcAft>
              <a:buNone/>
            </a:pPr>
            <a:r>
              <a:rPr sz="1700" b="0" i="0" lang="en-US" dirty="0">
                <a:solidFill>
                  <a:srgbClr val="FFFFFF"/>
                </a:solidFill>
                <a:latin typeface="Calibri"/>
              </a:rPr>
              <a:t>At step k we use row k to clear every entry below the pivot a_kk, for k = 1, 2, ..., n-1. Then one backward substitution finishes the solve.</a:t>
            </a:r>
          </a:p>
        </p:txBody>
      </p:sp>
      <p:sp>
        <p:nvSpPr>
          <p:cNvPr id="6" name="MATH 616 · Computational Linear Algebra  ·  Direct Methods f" descr="MATH 616 · Computational Linear Algebra  ·  Direct Methods for Linear Systems  ·  Slide 13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13 of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aussian elimination: a 4 x 4 example, step 1" descr="Gaussian elimination: a 4 x 4 example, step 1"/>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Gaussian elimination: a 4 x 4 example, step 1</a:t>
            </a:r>
          </a:p>
        </p:txBody>
      </p:sp>
      <p:sp>
        <p:nvSpPr>
          <p:cNvPr id="3" name="Start" descr="Start&#10;[  1   1   0   3 |   4 ]&#10;[  2   1  -1   1 |   1 ]&#10;[  3  -1  -1   2 |  -3 ]&#10;[ -1   2   3  -1 |   4 ]&#10;Operations (pivot a11 = 1)&#10;E2 - 2 E1  -&gt;  E2&#10;E3 - 3 E1  -&gt;  E3&#10;E4 + 1 E1  -&gt;  E4"/>
          <p:cNvSpPr/>
          <p:nvPr/>
        </p:nvSpPr>
        <p:spPr>
          <a:xfrm>
            <a:off x="566928" y="1335024"/>
            <a:ext cx="5504688" cy="268833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Start</a:t>
            </a:r>
          </a:p>
          <a:p>
            <a:pPr algn="l">
              <a:lnSpc>
                <a:spcPct val="95000"/>
              </a:lnSpc>
              <a:spcBef>
                <a:spcPts val="0"/>
              </a:spcBef>
              <a:spcAft>
                <a:spcPts val="0"/>
              </a:spcAft>
              <a:buNone/>
            </a:pPr>
            <a:r>
              <a:rPr sz="1600" b="0" i="0" lang="en-US" dirty="0">
                <a:solidFill>
                  <a:srgbClr val="111827"/>
                </a:solidFill>
                <a:latin typeface="Courier New"/>
              </a:rPr>
              <a:t>[  1   1   0   3 |   4 ]</a:t>
            </a:r>
          </a:p>
          <a:p>
            <a:pPr algn="l">
              <a:lnSpc>
                <a:spcPct val="95000"/>
              </a:lnSpc>
              <a:spcBef>
                <a:spcPts val="0"/>
              </a:spcBef>
              <a:spcAft>
                <a:spcPts val="0"/>
              </a:spcAft>
              <a:buNone/>
            </a:pPr>
            <a:r>
              <a:rPr sz="1600" b="0" i="0" lang="en-US" dirty="0">
                <a:solidFill>
                  <a:srgbClr val="111827"/>
                </a:solidFill>
                <a:latin typeface="Courier New"/>
              </a:rPr>
              <a:t>[  2   1  -1   1 |   1 ]</a:t>
            </a:r>
          </a:p>
          <a:p>
            <a:pPr algn="l">
              <a:lnSpc>
                <a:spcPct val="95000"/>
              </a:lnSpc>
              <a:spcBef>
                <a:spcPts val="0"/>
              </a:spcBef>
              <a:spcAft>
                <a:spcPts val="0"/>
              </a:spcAft>
              <a:buNone/>
            </a:pPr>
            <a:r>
              <a:rPr sz="1600" b="0" i="0" lang="en-US" dirty="0">
                <a:solidFill>
                  <a:srgbClr val="111827"/>
                </a:solidFill>
                <a:latin typeface="Courier New"/>
              </a:rPr>
              <a:t>[  3  -1  -1   2 |  -3 ]</a:t>
            </a:r>
          </a:p>
          <a:p>
            <a:pPr algn="l">
              <a:lnSpc>
                <a:spcPct val="95000"/>
              </a:lnSpc>
              <a:spcBef>
                <a:spcPts val="0"/>
              </a:spcBef>
              <a:spcAft>
                <a:spcPts val="1200"/>
              </a:spcAft>
              <a:buNone/>
            </a:pPr>
            <a:r>
              <a:rPr sz="1600" b="0" i="0" lang="en-US" dirty="0">
                <a:solidFill>
                  <a:srgbClr val="111827"/>
                </a:solidFill>
                <a:latin typeface="Courier New"/>
              </a:rPr>
              <a:t>[ -1   2   3  -1 |   4 ]</a:t>
            </a:r>
          </a:p>
          <a:p>
            <a:pPr algn="l">
              <a:spcBef>
                <a:spcPts val="0"/>
              </a:spcBef>
              <a:spcAft>
                <a:spcPts val="700"/>
              </a:spcAft>
              <a:buNone/>
            </a:pPr>
            <a:r>
              <a:rPr sz="1700" b="1" i="0" lang="en-US" dirty="0">
                <a:solidFill>
                  <a:srgbClr val="083D62"/>
                </a:solidFill>
                <a:latin typeface="Calibri"/>
              </a:rPr>
              <a:t>Operations (pivot a11 = 1)</a:t>
            </a:r>
          </a:p>
          <a:p>
            <a:pPr algn="l">
              <a:lnSpc>
                <a:spcPct val="95000"/>
              </a:lnSpc>
              <a:spcBef>
                <a:spcPts val="0"/>
              </a:spcBef>
              <a:spcAft>
                <a:spcPts val="0"/>
              </a:spcAft>
              <a:buNone/>
            </a:pPr>
            <a:r>
              <a:rPr sz="1500" b="0" i="0" lang="en-US" dirty="0">
                <a:solidFill>
                  <a:srgbClr val="111827"/>
                </a:solidFill>
                <a:latin typeface="Courier New"/>
              </a:rPr>
              <a:t>E2 - 2 E1  -&gt;  E2</a:t>
            </a:r>
          </a:p>
          <a:p>
            <a:pPr algn="l">
              <a:lnSpc>
                <a:spcPct val="95000"/>
              </a:lnSpc>
              <a:spcBef>
                <a:spcPts val="0"/>
              </a:spcBef>
              <a:spcAft>
                <a:spcPts val="0"/>
              </a:spcAft>
              <a:buNone/>
            </a:pPr>
            <a:r>
              <a:rPr sz="1500" b="0" i="0" lang="en-US" dirty="0">
                <a:solidFill>
                  <a:srgbClr val="111827"/>
                </a:solidFill>
                <a:latin typeface="Courier New"/>
              </a:rPr>
              <a:t>E3 - 3 E1  -&gt;  E3</a:t>
            </a:r>
          </a:p>
          <a:p>
            <a:pPr algn="l">
              <a:lnSpc>
                <a:spcPct val="95000"/>
              </a:lnSpc>
              <a:spcBef>
                <a:spcPts val="0"/>
              </a:spcBef>
              <a:spcAft>
                <a:spcPts val="0"/>
              </a:spcAft>
              <a:buNone/>
            </a:pPr>
            <a:r>
              <a:rPr sz="1500" b="0" i="0" lang="en-US" dirty="0">
                <a:solidFill>
                  <a:srgbClr val="111827"/>
                </a:solidFill>
                <a:latin typeface="Courier New"/>
              </a:rPr>
              <a:t>E4 + 1 E1  -&gt;  E4</a:t>
            </a:r>
          </a:p>
        </p:txBody>
      </p:sp>
      <p:sp>
        <p:nvSpPr>
          <p:cNvPr id="4" name="After step 1" descr="After step 1&#10;[ 1   1   0   3 |   4 ]&#10;[ 0  -1  -1  -5 |  -7 ]&#10;[ 0  -4  -1  -7 | -15 ]&#10;[ 0   3   3   2 |   8 ]&#10;Column 1 is now zero below the pivot. The first row is finished and never changes again."/>
          <p:cNvSpPr/>
          <p:nvPr/>
        </p:nvSpPr>
        <p:spPr>
          <a:xfrm>
            <a:off x="6400800" y="1335024"/>
            <a:ext cx="5224241" cy="268833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After step 1</a:t>
            </a:r>
          </a:p>
          <a:p>
            <a:pPr algn="l">
              <a:lnSpc>
                <a:spcPct val="95000"/>
              </a:lnSpc>
              <a:spcBef>
                <a:spcPts val="0"/>
              </a:spcBef>
              <a:spcAft>
                <a:spcPts val="0"/>
              </a:spcAft>
              <a:buNone/>
            </a:pPr>
            <a:r>
              <a:rPr sz="1600" b="0" i="0" lang="en-US" dirty="0">
                <a:solidFill>
                  <a:srgbClr val="111827"/>
                </a:solidFill>
                <a:latin typeface="Courier New"/>
              </a:rPr>
              <a:t>[ 1   1   0   3 |   4 ]</a:t>
            </a:r>
          </a:p>
          <a:p>
            <a:pPr algn="l">
              <a:lnSpc>
                <a:spcPct val="95000"/>
              </a:lnSpc>
              <a:spcBef>
                <a:spcPts val="0"/>
              </a:spcBef>
              <a:spcAft>
                <a:spcPts val="0"/>
              </a:spcAft>
              <a:buNone/>
            </a:pPr>
            <a:r>
              <a:rPr sz="1600" b="0" i="0" lang="en-US" dirty="0">
                <a:solidFill>
                  <a:srgbClr val="111827"/>
                </a:solidFill>
                <a:latin typeface="Courier New"/>
              </a:rPr>
              <a:t>[ 0  -1  -1  -5 |  -7 ]</a:t>
            </a:r>
          </a:p>
          <a:p>
            <a:pPr algn="l">
              <a:lnSpc>
                <a:spcPct val="95000"/>
              </a:lnSpc>
              <a:spcBef>
                <a:spcPts val="0"/>
              </a:spcBef>
              <a:spcAft>
                <a:spcPts val="0"/>
              </a:spcAft>
              <a:buNone/>
            </a:pPr>
            <a:r>
              <a:rPr sz="1600" b="0" i="0" lang="en-US" dirty="0">
                <a:solidFill>
                  <a:srgbClr val="111827"/>
                </a:solidFill>
                <a:latin typeface="Courier New"/>
              </a:rPr>
              <a:t>[ 0  -4  -1  -7 | -15 ]</a:t>
            </a:r>
          </a:p>
          <a:p>
            <a:pPr algn="l">
              <a:lnSpc>
                <a:spcPct val="95000"/>
              </a:lnSpc>
              <a:spcBef>
                <a:spcPts val="0"/>
              </a:spcBef>
              <a:spcAft>
                <a:spcPts val="1200"/>
              </a:spcAft>
              <a:buNone/>
            </a:pPr>
            <a:r>
              <a:rPr sz="1600" b="0" i="0" lang="en-US" dirty="0">
                <a:solidFill>
                  <a:srgbClr val="111827"/>
                </a:solidFill>
                <a:latin typeface="Courier New"/>
              </a:rPr>
              <a:t>[ 0   3   3   2 |   8 ]</a:t>
            </a:r>
          </a:p>
          <a:p>
            <a:pPr algn="l">
              <a:spcBef>
                <a:spcPts val="0"/>
              </a:spcBef>
              <a:spcAft>
                <a:spcPts val="0"/>
              </a:spcAft>
              <a:buNone/>
            </a:pPr>
            <a:r>
              <a:rPr sz="1600" b="0" i="0" lang="en-US" dirty="0">
                <a:solidFill>
                  <a:srgbClr val="111827"/>
                </a:solidFill>
                <a:latin typeface="Calibri"/>
              </a:rPr>
              <a:t>Column 1 is now zero below the pivot. The first row is finished and never changes again.</a:t>
            </a:r>
          </a:p>
        </p:txBody>
      </p:sp>
      <p:sp>
        <p:nvSpPr>
          <p:cNvPr id="5" name="Each multiplier is L_j = a_j1 / a11. Every entry of row j fr" descr="Each multiplier is L_j = a_j1 / a11. Every entry of row j from column 1 onward, and the right-hand side, is updated together."/>
          <p:cNvSpPr/>
          <p:nvPr/>
        </p:nvSpPr>
        <p:spPr>
          <a:xfrm>
            <a:off x="566928" y="4224528"/>
            <a:ext cx="11058113" cy="1042415"/>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0"/>
              </a:spcAft>
              <a:buNone/>
            </a:pPr>
            <a:r>
              <a:rPr sz="1700" b="0" i="0" lang="en-US" dirty="0">
                <a:solidFill>
                  <a:srgbClr val="FFFFFF"/>
                </a:solidFill>
                <a:latin typeface="Calibri"/>
              </a:rPr>
              <a:t>Each multiplier is L_j = a_j1 / a11. Every entry of row j from column 1 onward, and the right-hand side, is updated together.</a:t>
            </a:r>
          </a:p>
        </p:txBody>
      </p:sp>
      <p:sp>
        <p:nvSpPr>
          <p:cNvPr id="6" name="MATH 616 · Computational Linear Algebra  ·  Direct Methods f" descr="MATH 616 · Computational Linear Algebra  ·  Direct Methods for Linear Systems  ·  Slide 14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14 of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aussian elimination: steps 2 and 3" descr="Gaussian elimination: steps 2 and 3"/>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Gaussian elimination: steps 2 and 3</a:t>
            </a:r>
          </a:p>
        </p:txBody>
      </p:sp>
      <p:sp>
        <p:nvSpPr>
          <p:cNvPr id="3" name="Step 2 (pivot a22 = -1)" descr="Step 2 (pivot a22 = -1)&#10;E3 - 4 E2  -&gt;  E3&#10;E4 + 3 E2  -&gt;  E4&#10;[ 1   1   0    3 |   4 ]&#10;[ 0  -1  -1   -5 |  -7 ]&#10;[ 0   0   3   13 |  13 ]&#10;[ 0   0   0  -13 | -13 ]"/>
          <p:cNvSpPr/>
          <p:nvPr/>
        </p:nvSpPr>
        <p:spPr>
          <a:xfrm>
            <a:off x="566928" y="1335024"/>
            <a:ext cx="5504688" cy="268833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2 (pivot a22 = -1)</a:t>
            </a:r>
          </a:p>
          <a:p>
            <a:pPr algn="l">
              <a:lnSpc>
                <a:spcPct val="95000"/>
              </a:lnSpc>
              <a:spcBef>
                <a:spcPts val="0"/>
              </a:spcBef>
              <a:spcAft>
                <a:spcPts val="0"/>
              </a:spcAft>
              <a:buNone/>
            </a:pPr>
            <a:r>
              <a:rPr sz="1500" b="0" i="0" lang="en-US" dirty="0">
                <a:solidFill>
                  <a:srgbClr val="111827"/>
                </a:solidFill>
                <a:latin typeface="Courier New"/>
              </a:rPr>
              <a:t>E3 - 4 E2  -&gt;  E3</a:t>
            </a:r>
          </a:p>
          <a:p>
            <a:pPr algn="l">
              <a:lnSpc>
                <a:spcPct val="95000"/>
              </a:lnSpc>
              <a:spcBef>
                <a:spcPts val="0"/>
              </a:spcBef>
              <a:spcAft>
                <a:spcPts val="1200"/>
              </a:spcAft>
              <a:buNone/>
            </a:pPr>
            <a:r>
              <a:rPr sz="1500" b="0" i="0" lang="en-US" dirty="0">
                <a:solidFill>
                  <a:srgbClr val="111827"/>
                </a:solidFill>
                <a:latin typeface="Courier New"/>
              </a:rPr>
              <a:t>E4 + 3 E2  -&gt;  E4</a:t>
            </a:r>
          </a:p>
          <a:p>
            <a:pPr algn="l">
              <a:lnSpc>
                <a:spcPct val="95000"/>
              </a:lnSpc>
              <a:spcBef>
                <a:spcPts val="0"/>
              </a:spcBef>
              <a:spcAft>
                <a:spcPts val="0"/>
              </a:spcAft>
              <a:buNone/>
            </a:pPr>
            <a:r>
              <a:rPr sz="1600" b="0" i="0" lang="en-US" dirty="0">
                <a:solidFill>
                  <a:srgbClr val="111827"/>
                </a:solidFill>
                <a:latin typeface="Courier New"/>
              </a:rPr>
              <a:t>[ 1   1   0    3 |   4 ]</a:t>
            </a:r>
          </a:p>
          <a:p>
            <a:pPr algn="l">
              <a:lnSpc>
                <a:spcPct val="95000"/>
              </a:lnSpc>
              <a:spcBef>
                <a:spcPts val="0"/>
              </a:spcBef>
              <a:spcAft>
                <a:spcPts val="0"/>
              </a:spcAft>
              <a:buNone/>
            </a:pPr>
            <a:r>
              <a:rPr sz="1600" b="0" i="0" lang="en-US" dirty="0">
                <a:solidFill>
                  <a:srgbClr val="111827"/>
                </a:solidFill>
                <a:latin typeface="Courier New"/>
              </a:rPr>
              <a:t>[ 0  -1  -1   -5 |  -7 ]</a:t>
            </a:r>
          </a:p>
          <a:p>
            <a:pPr algn="l">
              <a:lnSpc>
                <a:spcPct val="95000"/>
              </a:lnSpc>
              <a:spcBef>
                <a:spcPts val="0"/>
              </a:spcBef>
              <a:spcAft>
                <a:spcPts val="0"/>
              </a:spcAft>
              <a:buNone/>
            </a:pPr>
            <a:r>
              <a:rPr sz="1600" b="0" i="0" lang="en-US" dirty="0">
                <a:solidFill>
                  <a:srgbClr val="111827"/>
                </a:solidFill>
                <a:latin typeface="Courier New"/>
              </a:rPr>
              <a:t>[ 0   0   3   13 |  13 ]</a:t>
            </a:r>
          </a:p>
          <a:p>
            <a:pPr algn="l">
              <a:lnSpc>
                <a:spcPct val="95000"/>
              </a:lnSpc>
              <a:spcBef>
                <a:spcPts val="0"/>
              </a:spcBef>
              <a:spcAft>
                <a:spcPts val="0"/>
              </a:spcAft>
              <a:buNone/>
            </a:pPr>
            <a:r>
              <a:rPr sz="1600" b="0" i="0" lang="en-US" dirty="0">
                <a:solidFill>
                  <a:srgbClr val="111827"/>
                </a:solidFill>
                <a:latin typeface="Courier New"/>
              </a:rPr>
              <a:t>[ 0   0   0  -13 | -13 ]</a:t>
            </a:r>
          </a:p>
        </p:txBody>
      </p:sp>
      <p:sp>
        <p:nvSpPr>
          <p:cNvPr id="4" name="Step 3 (pivot a33 = 3)" descr="Step 3 (pivot a33 = 3)&#10;The entry a43 is already zero, so nothing happens. In code we perform the step anyway rather than testing for zeros — the test costs as much as the arithmetic it would save.&#10;The system is now upper triangular&#10;U x = b̃ has exactly the same solution as the original A x = b, because every step was an elementary row operation."/>
          <p:cNvSpPr/>
          <p:nvPr/>
        </p:nvSpPr>
        <p:spPr>
          <a:xfrm>
            <a:off x="6400800" y="1335024"/>
            <a:ext cx="5224241" cy="268833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3 (pivot a33 = 3)</a:t>
            </a:r>
          </a:p>
          <a:p>
            <a:pPr algn="l">
              <a:spcBef>
                <a:spcPts val="0"/>
              </a:spcBef>
              <a:spcAft>
                <a:spcPts val="1000"/>
              </a:spcAft>
              <a:buNone/>
            </a:pPr>
            <a:r>
              <a:rPr sz="1600" b="0" i="0" lang="en-US" dirty="0">
                <a:solidFill>
                  <a:srgbClr val="111827"/>
                </a:solidFill>
                <a:latin typeface="Calibri"/>
              </a:rPr>
              <a:t>The entry a43 is already zero, so nothing happens. In code we perform the step anyway rather than testing for zeros — the test costs as much as the arithmetic it would save.</a:t>
            </a:r>
          </a:p>
          <a:p>
            <a:pPr algn="l">
              <a:spcBef>
                <a:spcPts val="0"/>
              </a:spcBef>
              <a:spcAft>
                <a:spcPts val="700"/>
              </a:spcAft>
              <a:buNone/>
            </a:pPr>
            <a:r>
              <a:rPr sz="1700" b="1" i="0" lang="en-US" dirty="0">
                <a:solidFill>
                  <a:srgbClr val="083D62"/>
                </a:solidFill>
                <a:latin typeface="Calibri"/>
              </a:rPr>
              <a:t>The system is now upper triangular</a:t>
            </a:r>
          </a:p>
          <a:p>
            <a:pPr algn="l">
              <a:spcBef>
                <a:spcPts val="0"/>
              </a:spcBef>
              <a:spcAft>
                <a:spcPts val="0"/>
              </a:spcAft>
              <a:buNone/>
            </a:pPr>
            <a:r>
              <a:rPr sz="1600" b="0" i="0" lang="en-US" dirty="0">
                <a:solidFill>
                  <a:srgbClr val="111827"/>
                </a:solidFill>
                <a:latin typeface="Calibri"/>
              </a:rPr>
              <a:t>U x = b̃ has exactly the same solution as the original A x = b, because every step was an elementary row operation.</a:t>
            </a:r>
          </a:p>
        </p:txBody>
      </p:sp>
      <p:sp>
        <p:nvSpPr>
          <p:cNvPr id="5" name="Two steps were enough to triangularize a 4 x 4 system; in ge" descr="Two steps were enough to triangularize a 4 x 4 system; in general we need n - 1 steps."/>
          <p:cNvSpPr/>
          <p:nvPr/>
        </p:nvSpPr>
        <p:spPr>
          <a:xfrm>
            <a:off x="566928" y="4224528"/>
            <a:ext cx="11058113" cy="914400"/>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0"/>
              </a:spcAft>
              <a:buNone/>
            </a:pPr>
            <a:r>
              <a:rPr sz="1700" b="0" i="0" lang="en-US" dirty="0">
                <a:solidFill>
                  <a:srgbClr val="FFFFFF"/>
                </a:solidFill>
                <a:latin typeface="Calibri"/>
              </a:rPr>
              <a:t>Two steps were enough to triangularize a 4 x 4 system; in general we need n - 1 steps.</a:t>
            </a:r>
          </a:p>
        </p:txBody>
      </p:sp>
      <p:sp>
        <p:nvSpPr>
          <p:cNvPr id="6" name="MATH 616 · Computational Linear Algebra  ·  Direct Methods f" descr="MATH 616 · Computational Linear Algebra  ·  Direct Methods for Linear Systems  ·  Slide 15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15 of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ward substitution finishes the example" descr="Backward substitution finishes the example"/>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Backward substitution finishes the example</a:t>
            </a:r>
          </a:p>
        </p:txBody>
      </p:sp>
      <p:sp>
        <p:nvSpPr>
          <p:cNvPr id="3" name="The triangular system" descr="The triangular system&#10;[ 1   1   0    3 |   4 ]&#10;[ 0  -1  -1   -5 |  -7 ]&#10;[ 0   0   3   13 |  13 ]&#10;[ 0   0   0  -13 | -13 ]"/>
          <p:cNvSpPr/>
          <p:nvPr/>
        </p:nvSpPr>
        <p:spPr>
          <a:xfrm>
            <a:off x="566928" y="1335024"/>
            <a:ext cx="4114800" cy="221284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triangular system</a:t>
            </a:r>
          </a:p>
          <a:p>
            <a:pPr algn="l">
              <a:lnSpc>
                <a:spcPct val="95000"/>
              </a:lnSpc>
              <a:spcBef>
                <a:spcPts val="0"/>
              </a:spcBef>
              <a:spcAft>
                <a:spcPts val="0"/>
              </a:spcAft>
              <a:buNone/>
            </a:pPr>
            <a:r>
              <a:rPr sz="1600" b="0" i="0" lang="en-US" dirty="0">
                <a:solidFill>
                  <a:srgbClr val="111827"/>
                </a:solidFill>
                <a:latin typeface="Courier New"/>
              </a:rPr>
              <a:t>[ 1   1   0    3 |   4 ]</a:t>
            </a:r>
          </a:p>
          <a:p>
            <a:pPr algn="l">
              <a:lnSpc>
                <a:spcPct val="95000"/>
              </a:lnSpc>
              <a:spcBef>
                <a:spcPts val="0"/>
              </a:spcBef>
              <a:spcAft>
                <a:spcPts val="0"/>
              </a:spcAft>
              <a:buNone/>
            </a:pPr>
            <a:r>
              <a:rPr sz="1600" b="0" i="0" lang="en-US" dirty="0">
                <a:solidFill>
                  <a:srgbClr val="111827"/>
                </a:solidFill>
                <a:latin typeface="Courier New"/>
              </a:rPr>
              <a:t>[ 0  -1  -1   -5 |  -7 ]</a:t>
            </a:r>
          </a:p>
          <a:p>
            <a:pPr algn="l">
              <a:lnSpc>
                <a:spcPct val="95000"/>
              </a:lnSpc>
              <a:spcBef>
                <a:spcPts val="0"/>
              </a:spcBef>
              <a:spcAft>
                <a:spcPts val="0"/>
              </a:spcAft>
              <a:buNone/>
            </a:pPr>
            <a:r>
              <a:rPr sz="1600" b="0" i="0" lang="en-US" dirty="0">
                <a:solidFill>
                  <a:srgbClr val="111827"/>
                </a:solidFill>
                <a:latin typeface="Courier New"/>
              </a:rPr>
              <a:t>[ 0   0   3   13 |  13 ]</a:t>
            </a:r>
          </a:p>
          <a:p>
            <a:pPr algn="l">
              <a:lnSpc>
                <a:spcPct val="95000"/>
              </a:lnSpc>
              <a:spcBef>
                <a:spcPts val="0"/>
              </a:spcBef>
              <a:spcAft>
                <a:spcPts val="0"/>
              </a:spcAft>
              <a:buNone/>
            </a:pPr>
            <a:r>
              <a:rPr sz="1600" b="0" i="0" lang="en-US" dirty="0">
                <a:solidFill>
                  <a:srgbClr val="111827"/>
                </a:solidFill>
                <a:latin typeface="Courier New"/>
              </a:rPr>
              <a:t>[ 0   0   0  -13 | -13 ]</a:t>
            </a:r>
          </a:p>
        </p:txBody>
      </p:sp>
      <p:sp>
        <p:nvSpPr>
          <p:cNvPr id="4" name="Unwinding from the last equation" descr="Unwinding from the last equation&#10;Equation 4:  -13x4 = -13          -&gt;  x4 =  1&#10;Equation 3:  3x3 + 13x4 = 13      -&gt;  x3 =  0&#10;Equation 2:  -x2 - x3 - 5x4 = -7  -&gt;  x2 =  2&#10;Equation 1:  x1 + x2 + 3x4 = 4    -&gt;  x1 = -1"/>
          <p:cNvSpPr/>
          <p:nvPr/>
        </p:nvSpPr>
        <p:spPr>
          <a:xfrm>
            <a:off x="5010912" y="1335024"/>
            <a:ext cx="6614129" cy="221284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Unwinding from the last equation</a:t>
            </a:r>
          </a:p>
          <a:p>
            <a:pPr algn="l">
              <a:lnSpc>
                <a:spcPct val="95000"/>
              </a:lnSpc>
              <a:spcBef>
                <a:spcPts val="0"/>
              </a:spcBef>
              <a:spcAft>
                <a:spcPts val="0"/>
              </a:spcAft>
              <a:buNone/>
            </a:pPr>
            <a:r>
              <a:rPr sz="1500" b="0" i="0" lang="en-US" dirty="0">
                <a:solidFill>
                  <a:srgbClr val="111827"/>
                </a:solidFill>
                <a:latin typeface="Courier New"/>
              </a:rPr>
              <a:t>Equation 4:  -13x4 = -13          -&gt;  x4 =  1</a:t>
            </a:r>
          </a:p>
          <a:p>
            <a:pPr algn="l">
              <a:lnSpc>
                <a:spcPct val="95000"/>
              </a:lnSpc>
              <a:spcBef>
                <a:spcPts val="0"/>
              </a:spcBef>
              <a:spcAft>
                <a:spcPts val="0"/>
              </a:spcAft>
              <a:buNone/>
            </a:pPr>
            <a:r>
              <a:rPr sz="1500" b="0" i="0" lang="en-US" dirty="0">
                <a:solidFill>
                  <a:srgbClr val="111827"/>
                </a:solidFill>
                <a:latin typeface="Courier New"/>
              </a:rPr>
              <a:t>Equation 3:  3x3 + 13x4 = 13      -&gt;  x3 =  0</a:t>
            </a:r>
          </a:p>
          <a:p>
            <a:pPr algn="l">
              <a:lnSpc>
                <a:spcPct val="95000"/>
              </a:lnSpc>
              <a:spcBef>
                <a:spcPts val="0"/>
              </a:spcBef>
              <a:spcAft>
                <a:spcPts val="0"/>
              </a:spcAft>
              <a:buNone/>
            </a:pPr>
            <a:r>
              <a:rPr sz="1500" b="0" i="0" lang="en-US" dirty="0">
                <a:solidFill>
                  <a:srgbClr val="111827"/>
                </a:solidFill>
                <a:latin typeface="Courier New"/>
              </a:rPr>
              <a:t>Equation 2:  -x2 - x3 - 5x4 = -7  -&gt;  x2 =  2</a:t>
            </a:r>
          </a:p>
          <a:p>
            <a:pPr algn="l">
              <a:lnSpc>
                <a:spcPct val="95000"/>
              </a:lnSpc>
              <a:spcBef>
                <a:spcPts val="0"/>
              </a:spcBef>
              <a:spcAft>
                <a:spcPts val="0"/>
              </a:spcAft>
              <a:buNone/>
            </a:pPr>
            <a:r>
              <a:rPr sz="1500" b="0" i="0" lang="en-US" dirty="0">
                <a:solidFill>
                  <a:srgbClr val="111827"/>
                </a:solidFill>
                <a:latin typeface="Courier New"/>
              </a:rPr>
              <a:t>Equation 1:  x1 + x2 + 3x4 = 4    -&gt;  x1 = -1</a:t>
            </a:r>
          </a:p>
        </p:txBody>
      </p:sp>
      <p:sp>
        <p:nvSpPr>
          <p:cNvPr id="5" name="Result" descr="Result&#10;Solution x = (-1, 2, 0, 1). Substitute it back into the original four equations to check — that costs O(n^2) and is always worth doing."/>
          <p:cNvSpPr/>
          <p:nvPr/>
        </p:nvSpPr>
        <p:spPr>
          <a:xfrm>
            <a:off x="566928" y="3822191"/>
            <a:ext cx="11058113" cy="128016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111827"/>
                </a:solidFill>
                <a:latin typeface="Calibri"/>
              </a:rPr>
              <a:t>Result</a:t>
            </a:r>
          </a:p>
          <a:p>
            <a:pPr algn="l">
              <a:spcBef>
                <a:spcPts val="0"/>
              </a:spcBef>
              <a:spcAft>
                <a:spcPts val="0"/>
              </a:spcAft>
              <a:buNone/>
            </a:pPr>
            <a:r>
              <a:rPr sz="1700" b="0" i="0" lang="en-US" dirty="0">
                <a:solidFill>
                  <a:srgbClr val="111827"/>
                </a:solidFill>
                <a:latin typeface="Calibri"/>
              </a:rPr>
              <a:t>Solution x = (-1, 2, 0, 1). Substitute it back into the original four equations to check — that costs O(n^2) and is always worth doing.</a:t>
            </a:r>
          </a:p>
        </p:txBody>
      </p:sp>
      <p:sp>
        <p:nvSpPr>
          <p:cNvPr id="6" name="MATH 616 · Computational Linear Algebra  ·  Direct Methods f" descr="MATH 616 · Computational Linear Algebra  ·  Direct Methods for Linear Systems  ·  Slide 16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16 of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aussian elimination in Python" descr="Gaussian elimination in Pytho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Gaussian elimination in Python</a:t>
            </a:r>
          </a:p>
        </p:txBody>
      </p:sp>
      <p:sp>
        <p:nvSpPr>
          <p:cNvPr id="3" name="import numpy as np" descr="import numpy as np&#10; &#10;def gausselim(A, b):&#10;    &quot;&quot;&quot;Solve A x = b by Gaussian elimination, no pivoting.&quot;&quot;&quot;&#10;    A = A.astype(float).copy()   # do not overwrite the caller's&#10;    b = b.astype(float).copy()   # arrays&#10;    n = A.shape[0]&#10;    for i in range(n):&#10;        for j in range(i+1, n):&#10;            c = A[j, i] / A[i, i]      # needs A[i, i] != 0&#10;            A[j, i:] -= c * A[i, i:]&#10;            b[j]  "/>
          <p:cNvSpPr/>
          <p:nvPr/>
        </p:nvSpPr>
        <p:spPr>
          <a:xfrm>
            <a:off x="566928" y="1335024"/>
            <a:ext cx="11058113" cy="32004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95000"/>
              </a:lnSpc>
              <a:spcBef>
                <a:spcPts val="0"/>
              </a:spcBef>
              <a:spcAft>
                <a:spcPts val="0"/>
              </a:spcAft>
              <a:buNone/>
            </a:pPr>
            <a:r>
              <a:rPr sz="1500" b="0" i="0" lang="en-US" dirty="0">
                <a:solidFill>
                  <a:srgbClr val="111827"/>
                </a:solidFill>
                <a:latin typeface="Courier New"/>
              </a:rPr>
              <a:t>import numpy as np</a:t>
            </a:r>
          </a:p>
          <a:p>
            <a:pPr algn="l">
              <a:lnSpc>
                <a:spcPct val="95000"/>
              </a:lnSpc>
              <a:spcBef>
                <a:spcPts val="0"/>
              </a:spcBef>
              <a:spcAft>
                <a:spcPts val="0"/>
              </a:spcAft>
              <a:buNone/>
            </a:pPr>
            <a:r>
              <a:rPr sz="1500" lang="en-US" dirty="0">
                <a:solidFill>
                  <a:srgbClr val="111827"/>
                </a:solidFill>
                <a:latin typeface="Courier New"/>
              </a:rPr>
              <a:t> </a:t>
            </a:r>
          </a:p>
          <a:p>
            <a:pPr algn="l">
              <a:lnSpc>
                <a:spcPct val="95000"/>
              </a:lnSpc>
              <a:spcBef>
                <a:spcPts val="0"/>
              </a:spcBef>
              <a:spcAft>
                <a:spcPts val="0"/>
              </a:spcAft>
              <a:buNone/>
            </a:pPr>
            <a:r>
              <a:rPr sz="1500" b="0" i="0" lang="en-US" dirty="0">
                <a:solidFill>
                  <a:srgbClr val="111827"/>
                </a:solidFill>
                <a:latin typeface="Courier New"/>
              </a:rPr>
              <a:t>def gausselim(A, b):</a:t>
            </a:r>
          </a:p>
          <a:p>
            <a:pPr algn="l">
              <a:lnSpc>
                <a:spcPct val="95000"/>
              </a:lnSpc>
              <a:spcBef>
                <a:spcPts val="0"/>
              </a:spcBef>
              <a:spcAft>
                <a:spcPts val="0"/>
              </a:spcAft>
              <a:buNone/>
            </a:pPr>
            <a:r>
              <a:rPr sz="1500" b="0" i="0" lang="en-US" dirty="0">
                <a:solidFill>
                  <a:srgbClr val="111827"/>
                </a:solidFill>
                <a:latin typeface="Courier New"/>
              </a:rPr>
              <a:t>    """Solve A x = b by Gaussian elimination, no pivoting."""</a:t>
            </a:r>
          </a:p>
          <a:p>
            <a:pPr algn="l">
              <a:lnSpc>
                <a:spcPct val="95000"/>
              </a:lnSpc>
              <a:spcBef>
                <a:spcPts val="0"/>
              </a:spcBef>
              <a:spcAft>
                <a:spcPts val="0"/>
              </a:spcAft>
              <a:buNone/>
            </a:pPr>
            <a:r>
              <a:rPr sz="1500" b="0" i="0" lang="en-US" dirty="0">
                <a:solidFill>
                  <a:srgbClr val="111827"/>
                </a:solidFill>
                <a:latin typeface="Courier New"/>
              </a:rPr>
              <a:t>    A = A.astype(float).copy()   # do not overwrite the caller's</a:t>
            </a:r>
          </a:p>
          <a:p>
            <a:pPr algn="l">
              <a:lnSpc>
                <a:spcPct val="95000"/>
              </a:lnSpc>
              <a:spcBef>
                <a:spcPts val="0"/>
              </a:spcBef>
              <a:spcAft>
                <a:spcPts val="0"/>
              </a:spcAft>
              <a:buNone/>
            </a:pPr>
            <a:r>
              <a:rPr sz="1500" b="0" i="0" lang="en-US" dirty="0">
                <a:solidFill>
                  <a:srgbClr val="111827"/>
                </a:solidFill>
                <a:latin typeface="Courier New"/>
              </a:rPr>
              <a:t>    b = b.astype(float).copy()   # arrays</a:t>
            </a:r>
          </a:p>
          <a:p>
            <a:pPr algn="l">
              <a:lnSpc>
                <a:spcPct val="95000"/>
              </a:lnSpc>
              <a:spcBef>
                <a:spcPts val="0"/>
              </a:spcBef>
              <a:spcAft>
                <a:spcPts val="0"/>
              </a:spcAft>
              <a:buNone/>
            </a:pPr>
            <a:r>
              <a:rPr sz="1500" b="0" i="0" lang="en-US" dirty="0">
                <a:solidFill>
                  <a:srgbClr val="111827"/>
                </a:solidFill>
                <a:latin typeface="Courier New"/>
              </a:rPr>
              <a:t>    n = A.shape[0]</a:t>
            </a:r>
          </a:p>
          <a:p>
            <a:pPr algn="l">
              <a:lnSpc>
                <a:spcPct val="95000"/>
              </a:lnSpc>
              <a:spcBef>
                <a:spcPts val="0"/>
              </a:spcBef>
              <a:spcAft>
                <a:spcPts val="0"/>
              </a:spcAft>
              <a:buNone/>
            </a:pPr>
            <a:r>
              <a:rPr sz="1500" b="0" i="0" lang="en-US" dirty="0">
                <a:solidFill>
                  <a:srgbClr val="111827"/>
                </a:solidFill>
                <a:latin typeface="Courier New"/>
              </a:rPr>
              <a:t>    for i in range(n):</a:t>
            </a:r>
          </a:p>
          <a:p>
            <a:pPr algn="l">
              <a:lnSpc>
                <a:spcPct val="95000"/>
              </a:lnSpc>
              <a:spcBef>
                <a:spcPts val="0"/>
              </a:spcBef>
              <a:spcAft>
                <a:spcPts val="0"/>
              </a:spcAft>
              <a:buNone/>
            </a:pPr>
            <a:r>
              <a:rPr sz="1500" b="0" i="0" lang="en-US" dirty="0">
                <a:solidFill>
                  <a:srgbClr val="111827"/>
                </a:solidFill>
                <a:latin typeface="Courier New"/>
              </a:rPr>
              <a:t>        for j in range(i+1, n):</a:t>
            </a:r>
          </a:p>
          <a:p>
            <a:pPr algn="l">
              <a:lnSpc>
                <a:spcPct val="95000"/>
              </a:lnSpc>
              <a:spcBef>
                <a:spcPts val="0"/>
              </a:spcBef>
              <a:spcAft>
                <a:spcPts val="0"/>
              </a:spcAft>
              <a:buNone/>
            </a:pPr>
            <a:r>
              <a:rPr sz="1500" b="0" i="0" lang="en-US" dirty="0">
                <a:solidFill>
                  <a:srgbClr val="111827"/>
                </a:solidFill>
                <a:latin typeface="Courier New"/>
              </a:rPr>
              <a:t>            c = A[j, i] / A[i, i]      # needs A[i, i] != 0</a:t>
            </a:r>
          </a:p>
          <a:p>
            <a:pPr algn="l">
              <a:lnSpc>
                <a:spcPct val="95000"/>
              </a:lnSpc>
              <a:spcBef>
                <a:spcPts val="0"/>
              </a:spcBef>
              <a:spcAft>
                <a:spcPts val="0"/>
              </a:spcAft>
              <a:buNone/>
            </a:pPr>
            <a:r>
              <a:rPr sz="1500" b="0" i="0" lang="en-US" dirty="0">
                <a:solidFill>
                  <a:srgbClr val="111827"/>
                </a:solidFill>
                <a:latin typeface="Courier New"/>
              </a:rPr>
              <a:t>            A[j, i:] -= c * A[i, i:]</a:t>
            </a:r>
          </a:p>
          <a:p>
            <a:pPr algn="l">
              <a:lnSpc>
                <a:spcPct val="95000"/>
              </a:lnSpc>
              <a:spcBef>
                <a:spcPts val="0"/>
              </a:spcBef>
              <a:spcAft>
                <a:spcPts val="0"/>
              </a:spcAft>
              <a:buNone/>
            </a:pPr>
            <a:r>
              <a:rPr sz="1500" b="0" i="0" lang="en-US" dirty="0">
                <a:solidFill>
                  <a:srgbClr val="111827"/>
                </a:solidFill>
                <a:latin typeface="Courier New"/>
              </a:rPr>
              <a:t>            b[j]     -= c * b[i]</a:t>
            </a:r>
          </a:p>
          <a:p>
            <a:pPr algn="l">
              <a:lnSpc>
                <a:spcPct val="95000"/>
              </a:lnSpc>
              <a:spcBef>
                <a:spcPts val="0"/>
              </a:spcBef>
              <a:spcAft>
                <a:spcPts val="0"/>
              </a:spcAft>
              <a:buNone/>
            </a:pPr>
            <a:r>
              <a:rPr sz="1500" b="0" i="0" lang="en-US" dirty="0">
                <a:solidFill>
                  <a:srgbClr val="111827"/>
                </a:solidFill>
                <a:latin typeface="Courier New"/>
              </a:rPr>
              <a:t>    return backward(A, b)</a:t>
            </a:r>
          </a:p>
        </p:txBody>
      </p:sp>
      <p:sp>
        <p:nvSpPr>
          <p:cNvPr id="4" name="&quot;Naive&quot; is the operative word: the multiplier divides by A[i" descr="&quot;Naive&quot; is the operative word: the multiplier divides by A[i, i] with no check and no row interchange. The next two slides show both ways that fails."/>
          <p:cNvSpPr/>
          <p:nvPr/>
        </p:nvSpPr>
        <p:spPr>
          <a:xfrm>
            <a:off x="566928" y="4700016"/>
            <a:ext cx="11058113" cy="1097280"/>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0"/>
              </a:spcAft>
              <a:buNone/>
            </a:pPr>
            <a:r>
              <a:rPr sz="1600" b="0" i="0" lang="en-US" dirty="0">
                <a:solidFill>
                  <a:srgbClr val="7C2D12"/>
                </a:solidFill>
                <a:latin typeface="Calibri"/>
              </a:rPr>
              <a:t>"Naive" is the operative word: the multiplier divides by A[i, i] with no check and no row interchange. The next two slides show both ways that fails.</a:t>
            </a:r>
          </a:p>
        </p:txBody>
      </p:sp>
      <p:sp>
        <p:nvSpPr>
          <p:cNvPr id="5" name="MATH 616 · Computational Linear Algebra  ·  Direct Methods f" descr="MATH 616 · Computational Linear Algebra  ·  Direct Methods for Linear Systems  ·  Slide 17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17 of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here naive elimination breaks down" descr="Where naive elimination breaks dow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Where naive elimination breaks down</a:t>
            </a:r>
          </a:p>
        </p:txBody>
      </p:sp>
      <p:sp>
        <p:nvSpPr>
          <p:cNvPr id="3" name="A perfectly good system" descr="A perfectly good system&#10;[ 1  -3   0 | -1 ]&#10;[ 1  -3   5 |  4 ]&#10;[ 2   1  -1 |  4 ]&#10;A is invertible and the system has a unique solution."/>
          <p:cNvSpPr/>
          <p:nvPr/>
        </p:nvSpPr>
        <p:spPr>
          <a:xfrm>
            <a:off x="566928" y="1335024"/>
            <a:ext cx="4846320" cy="27432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A perfectly good system</a:t>
            </a:r>
          </a:p>
          <a:p>
            <a:pPr algn="l">
              <a:lnSpc>
                <a:spcPct val="95000"/>
              </a:lnSpc>
              <a:spcBef>
                <a:spcPts val="0"/>
              </a:spcBef>
              <a:spcAft>
                <a:spcPts val="0"/>
              </a:spcAft>
              <a:buNone/>
            </a:pPr>
            <a:r>
              <a:rPr sz="1600" b="0" i="0" lang="en-US" dirty="0">
                <a:solidFill>
                  <a:srgbClr val="111827"/>
                </a:solidFill>
                <a:latin typeface="Courier New"/>
              </a:rPr>
              <a:t>[ 1  -3   0 | -1 ]</a:t>
            </a:r>
          </a:p>
          <a:p>
            <a:pPr algn="l">
              <a:lnSpc>
                <a:spcPct val="95000"/>
              </a:lnSpc>
              <a:spcBef>
                <a:spcPts val="0"/>
              </a:spcBef>
              <a:spcAft>
                <a:spcPts val="0"/>
              </a:spcAft>
              <a:buNone/>
            </a:pPr>
            <a:r>
              <a:rPr sz="1600" b="0" i="0" lang="en-US" dirty="0">
                <a:solidFill>
                  <a:srgbClr val="111827"/>
                </a:solidFill>
                <a:latin typeface="Courier New"/>
              </a:rPr>
              <a:t>[ 1  -3   5 |  4 ]</a:t>
            </a:r>
          </a:p>
          <a:p>
            <a:pPr algn="l">
              <a:lnSpc>
                <a:spcPct val="95000"/>
              </a:lnSpc>
              <a:spcBef>
                <a:spcPts val="0"/>
              </a:spcBef>
              <a:spcAft>
                <a:spcPts val="1200"/>
              </a:spcAft>
              <a:buNone/>
            </a:pPr>
            <a:r>
              <a:rPr sz="1600" b="0" i="0" lang="en-US" dirty="0">
                <a:solidFill>
                  <a:srgbClr val="111827"/>
                </a:solidFill>
                <a:latin typeface="Courier New"/>
              </a:rPr>
              <a:t>[ 2   1  -1 |  4 ]</a:t>
            </a:r>
          </a:p>
          <a:p>
            <a:pPr algn="l">
              <a:spcBef>
                <a:spcPts val="0"/>
              </a:spcBef>
              <a:spcAft>
                <a:spcPts val="0"/>
              </a:spcAft>
              <a:buNone/>
            </a:pPr>
            <a:r>
              <a:rPr sz="1600" b="0" i="0" lang="en-US" dirty="0">
                <a:solidFill>
                  <a:srgbClr val="111827"/>
                </a:solidFill>
                <a:latin typeface="Calibri"/>
              </a:rPr>
              <a:t>A is invertible and the system has a unique solution.</a:t>
            </a:r>
          </a:p>
        </p:txBody>
      </p:sp>
      <p:sp>
        <p:nvSpPr>
          <p:cNvPr id="4" name="After step 1" descr="After step 1&#10;E2 - E1   -&gt;  E2&#10;E3 - 2E1  -&gt;  E3&#10;[ 1  -3   0 | -1 ]&#10;[ 0   0   5 |  5 ]&#10;[ 0   7  -1 |  6 ]"/>
          <p:cNvSpPr/>
          <p:nvPr/>
        </p:nvSpPr>
        <p:spPr>
          <a:xfrm>
            <a:off x="5742432" y="1335024"/>
            <a:ext cx="5882609" cy="27432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After step 1</a:t>
            </a:r>
          </a:p>
          <a:p>
            <a:pPr algn="l">
              <a:lnSpc>
                <a:spcPct val="95000"/>
              </a:lnSpc>
              <a:spcBef>
                <a:spcPts val="0"/>
              </a:spcBef>
              <a:spcAft>
                <a:spcPts val="0"/>
              </a:spcAft>
              <a:buNone/>
            </a:pPr>
            <a:r>
              <a:rPr sz="1500" b="0" i="0" lang="en-US" dirty="0">
                <a:solidFill>
                  <a:srgbClr val="111827"/>
                </a:solidFill>
                <a:latin typeface="Courier New"/>
              </a:rPr>
              <a:t>E2 - E1   -&gt;  E2</a:t>
            </a:r>
          </a:p>
          <a:p>
            <a:pPr algn="l">
              <a:lnSpc>
                <a:spcPct val="95000"/>
              </a:lnSpc>
              <a:spcBef>
                <a:spcPts val="0"/>
              </a:spcBef>
              <a:spcAft>
                <a:spcPts val="1000"/>
              </a:spcAft>
              <a:buNone/>
            </a:pPr>
            <a:r>
              <a:rPr sz="1500" b="0" i="0" lang="en-US" dirty="0">
                <a:solidFill>
                  <a:srgbClr val="111827"/>
                </a:solidFill>
                <a:latin typeface="Courier New"/>
              </a:rPr>
              <a:t>E3 - 2E1  -&gt;  E3</a:t>
            </a:r>
          </a:p>
          <a:p>
            <a:pPr algn="l">
              <a:lnSpc>
                <a:spcPct val="95000"/>
              </a:lnSpc>
              <a:spcBef>
                <a:spcPts val="0"/>
              </a:spcBef>
              <a:spcAft>
                <a:spcPts val="0"/>
              </a:spcAft>
              <a:buNone/>
            </a:pPr>
            <a:r>
              <a:rPr sz="1600" b="0" i="0" lang="en-US" dirty="0">
                <a:solidFill>
                  <a:srgbClr val="111827"/>
                </a:solidFill>
                <a:latin typeface="Courier New"/>
              </a:rPr>
              <a:t>[ 1  -3   0 | -1 ]</a:t>
            </a:r>
          </a:p>
          <a:p>
            <a:pPr algn="l">
              <a:lnSpc>
                <a:spcPct val="95000"/>
              </a:lnSpc>
              <a:spcBef>
                <a:spcPts val="0"/>
              </a:spcBef>
              <a:spcAft>
                <a:spcPts val="0"/>
              </a:spcAft>
              <a:buNone/>
            </a:pPr>
            <a:r>
              <a:rPr sz="1600" b="0" i="0" lang="en-US" dirty="0">
                <a:solidFill>
                  <a:srgbClr val="111827"/>
                </a:solidFill>
                <a:latin typeface="Courier New"/>
              </a:rPr>
              <a:t>[ 0   0   5 |  5 ]</a:t>
            </a:r>
          </a:p>
          <a:p>
            <a:pPr algn="l">
              <a:lnSpc>
                <a:spcPct val="95000"/>
              </a:lnSpc>
              <a:spcBef>
                <a:spcPts val="0"/>
              </a:spcBef>
              <a:spcAft>
                <a:spcPts val="0"/>
              </a:spcAft>
              <a:buNone/>
            </a:pPr>
            <a:r>
              <a:rPr sz="1600" b="0" i="0" lang="en-US" dirty="0">
                <a:solidFill>
                  <a:srgbClr val="111827"/>
                </a:solidFill>
                <a:latin typeface="Courier New"/>
              </a:rPr>
              <a:t>[ 0   7  -1 |  6 ]</a:t>
            </a:r>
          </a:p>
        </p:txBody>
      </p:sp>
      <p:sp>
        <p:nvSpPr>
          <p:cNvPr id="5" name="Step 2 cannot start" descr="Step 2 cannot start&#10;The pivot a22 is zero. No multiple of E2 can remove x2 from E3, and the code above would divide by zero. The matrix is fine — the algorithm is not."/>
          <p:cNvSpPr/>
          <p:nvPr/>
        </p:nvSpPr>
        <p:spPr>
          <a:xfrm>
            <a:off x="566928" y="4261104"/>
            <a:ext cx="11058113" cy="1371600"/>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7C2D12"/>
                </a:solidFill>
                <a:latin typeface="Calibri"/>
              </a:rPr>
              <a:t>Step 2 cannot start</a:t>
            </a:r>
          </a:p>
          <a:p>
            <a:pPr algn="l">
              <a:spcBef>
                <a:spcPts val="0"/>
              </a:spcBef>
              <a:spcAft>
                <a:spcPts val="0"/>
              </a:spcAft>
              <a:buNone/>
            </a:pPr>
            <a:r>
              <a:rPr sz="1700" b="0" i="0" lang="en-US" dirty="0">
                <a:solidFill>
                  <a:srgbClr val="7C2D12"/>
                </a:solidFill>
                <a:latin typeface="Calibri"/>
              </a:rPr>
              <a:t>The pivot a22 is zero. No multiple of E2 can remove x2 from E3, and the code above would divide by zero. The matrix is fine — the algorithm is not.</a:t>
            </a:r>
          </a:p>
        </p:txBody>
      </p:sp>
      <p:sp>
        <p:nvSpPr>
          <p:cNvPr id="6" name="MATH 616 · Computational Linear Algebra  ·  Direct Methods f" descr="MATH 616 · Computational Linear Algebra  ·  Direct Methods for Linear Systems  ·  Slide 18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18 of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 repair: interchange two rows" descr="The repair: interchange two rows"/>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The repair: interchange two rows</a:t>
            </a:r>
          </a:p>
        </p:txBody>
      </p:sp>
      <p:sp>
        <p:nvSpPr>
          <p:cNvPr id="3" name="Swap E2 and E3" descr="Swap E2 and E3&#10;[ 1  -3   0 | -1 ]&#10;[ 0   7  -1 |  6 ]&#10;[ 0   0   5 |  5 ]&#10;Already upper triangular — no further elimination needed."/>
          <p:cNvSpPr/>
          <p:nvPr/>
        </p:nvSpPr>
        <p:spPr>
          <a:xfrm>
            <a:off x="566928" y="1335024"/>
            <a:ext cx="4846320"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Swap E2 and E3</a:t>
            </a:r>
          </a:p>
          <a:p>
            <a:pPr algn="l">
              <a:lnSpc>
                <a:spcPct val="95000"/>
              </a:lnSpc>
              <a:spcBef>
                <a:spcPts val="0"/>
              </a:spcBef>
              <a:spcAft>
                <a:spcPts val="0"/>
              </a:spcAft>
              <a:buNone/>
            </a:pPr>
            <a:r>
              <a:rPr sz="1600" b="0" i="0" lang="en-US" dirty="0">
                <a:solidFill>
                  <a:srgbClr val="111827"/>
                </a:solidFill>
                <a:latin typeface="Courier New"/>
              </a:rPr>
              <a:t>[ 1  -3   0 | -1 ]</a:t>
            </a:r>
          </a:p>
          <a:p>
            <a:pPr algn="l">
              <a:lnSpc>
                <a:spcPct val="95000"/>
              </a:lnSpc>
              <a:spcBef>
                <a:spcPts val="0"/>
              </a:spcBef>
              <a:spcAft>
                <a:spcPts val="0"/>
              </a:spcAft>
              <a:buNone/>
            </a:pPr>
            <a:r>
              <a:rPr sz="1600" b="0" i="0" lang="en-US" dirty="0">
                <a:solidFill>
                  <a:srgbClr val="111827"/>
                </a:solidFill>
                <a:latin typeface="Courier New"/>
              </a:rPr>
              <a:t>[ 0   7  -1 |  6 ]</a:t>
            </a:r>
          </a:p>
          <a:p>
            <a:pPr algn="l">
              <a:lnSpc>
                <a:spcPct val="95000"/>
              </a:lnSpc>
              <a:spcBef>
                <a:spcPts val="0"/>
              </a:spcBef>
              <a:spcAft>
                <a:spcPts val="1000"/>
              </a:spcAft>
              <a:buNone/>
            </a:pPr>
            <a:r>
              <a:rPr sz="1600" b="0" i="0" lang="en-US" dirty="0">
                <a:solidFill>
                  <a:srgbClr val="111827"/>
                </a:solidFill>
                <a:latin typeface="Courier New"/>
              </a:rPr>
              <a:t>[ 0   0   5 |  5 ]</a:t>
            </a:r>
          </a:p>
          <a:p>
            <a:pPr algn="l">
              <a:spcBef>
                <a:spcPts val="0"/>
              </a:spcBef>
              <a:spcAft>
                <a:spcPts val="0"/>
              </a:spcAft>
              <a:buNone/>
            </a:pPr>
            <a:r>
              <a:rPr sz="1600" b="0" i="0" lang="en-US" dirty="0">
                <a:solidFill>
                  <a:srgbClr val="111827"/>
                </a:solidFill>
                <a:latin typeface="Calibri"/>
              </a:rPr>
              <a:t>Already upper triangular — no further elimination needed.</a:t>
            </a:r>
          </a:p>
        </p:txBody>
      </p:sp>
      <p:sp>
        <p:nvSpPr>
          <p:cNvPr id="4" name="Backward substitution" descr="Backward substitution&#10;Equation 3:   5x3 = 5        -&gt;  x3 = 1&#10;Equation 2:  7x2 - x3 = 6    -&gt;  x2 = 1&#10;Equation 1:  x1 - 3x2 = -1   -&gt;  x1 = 2"/>
          <p:cNvSpPr/>
          <p:nvPr/>
        </p:nvSpPr>
        <p:spPr>
          <a:xfrm>
            <a:off x="5742432" y="1335024"/>
            <a:ext cx="5882609"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Backward substitution</a:t>
            </a:r>
          </a:p>
          <a:p>
            <a:pPr algn="l">
              <a:lnSpc>
                <a:spcPct val="95000"/>
              </a:lnSpc>
              <a:spcBef>
                <a:spcPts val="0"/>
              </a:spcBef>
              <a:spcAft>
                <a:spcPts val="0"/>
              </a:spcAft>
              <a:buNone/>
            </a:pPr>
            <a:r>
              <a:rPr sz="1500" b="0" i="0" lang="en-US" dirty="0">
                <a:solidFill>
                  <a:srgbClr val="111827"/>
                </a:solidFill>
                <a:latin typeface="Courier New"/>
              </a:rPr>
              <a:t>Equation 3:   5x3 = 5        -&gt;  x3 = 1</a:t>
            </a:r>
          </a:p>
          <a:p>
            <a:pPr algn="l">
              <a:lnSpc>
                <a:spcPct val="95000"/>
              </a:lnSpc>
              <a:spcBef>
                <a:spcPts val="0"/>
              </a:spcBef>
              <a:spcAft>
                <a:spcPts val="0"/>
              </a:spcAft>
              <a:buNone/>
            </a:pPr>
            <a:r>
              <a:rPr sz="1500" b="0" i="0" lang="en-US" dirty="0">
                <a:solidFill>
                  <a:srgbClr val="111827"/>
                </a:solidFill>
                <a:latin typeface="Courier New"/>
              </a:rPr>
              <a:t>Equation 2:  7x2 - x3 = 6    -&gt;  x2 = 1</a:t>
            </a:r>
          </a:p>
          <a:p>
            <a:pPr algn="l">
              <a:lnSpc>
                <a:spcPct val="95000"/>
              </a:lnSpc>
              <a:spcBef>
                <a:spcPts val="0"/>
              </a:spcBef>
              <a:spcAft>
                <a:spcPts val="0"/>
              </a:spcAft>
              <a:buNone/>
            </a:pPr>
            <a:r>
              <a:rPr sz="1500" b="0" i="0" lang="en-US" dirty="0">
                <a:solidFill>
                  <a:srgbClr val="111827"/>
                </a:solidFill>
                <a:latin typeface="Courier New"/>
              </a:rPr>
              <a:t>Equation 1:  x1 - 3x2 = -1   -&gt;  x1 = 2</a:t>
            </a:r>
          </a:p>
        </p:txBody>
      </p:sp>
      <p:sp>
        <p:nvSpPr>
          <p:cNvPr id="5" name="Result" descr="Result&#10;Solution x = (2, 1, 1). A row interchange rescued the algorithm here. Next we will interchange rows even when the pivot is not zero — just small."/>
          <p:cNvSpPr/>
          <p:nvPr/>
        </p:nvSpPr>
        <p:spPr>
          <a:xfrm>
            <a:off x="566928" y="3895344"/>
            <a:ext cx="11058113" cy="128016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111827"/>
                </a:solidFill>
                <a:latin typeface="Calibri"/>
              </a:rPr>
              <a:t>Result</a:t>
            </a:r>
          </a:p>
          <a:p>
            <a:pPr algn="l">
              <a:spcBef>
                <a:spcPts val="0"/>
              </a:spcBef>
              <a:spcAft>
                <a:spcPts val="0"/>
              </a:spcAft>
              <a:buNone/>
            </a:pPr>
            <a:r>
              <a:rPr sz="1700" b="0" i="0" lang="en-US" dirty="0">
                <a:solidFill>
                  <a:srgbClr val="111827"/>
                </a:solidFill>
                <a:latin typeface="Calibri"/>
              </a:rPr>
              <a:t>Solution x = (2, 1, 1). A row interchange rescued the algorithm here. Next we will interchange rows even when the pivot is not zero — just small.</a:t>
            </a:r>
          </a:p>
        </p:txBody>
      </p:sp>
      <p:sp>
        <p:nvSpPr>
          <p:cNvPr id="6" name="MATH 616 · Computational Linear Algebra  ·  Direct Methods f" descr="MATH 616 · Computational Linear Algebra  ·  Direct Methods for Linear Systems  ·  Slide 19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19 of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3D62"/>
        </a:solidFill>
        <a:effectLst/>
      </p:bgPr>
    </p:bg>
    <p:spTree>
      <p:nvGrpSpPr>
        <p:cNvPr id="1" name=""/>
        <p:cNvGrpSpPr/>
        <p:nvPr/>
      </p:nvGrpSpPr>
      <p:grpSpPr/>
      <p:sp>
        <p:nvSpPr>
          <p:cNvPr id="2" name="Stability of Gaussian elimination and pivoting strategies" descr="Stability of Gaussian elimination and pivoting strategies"/>
          <p:cNvSpPr>
            <a:spLocks noGrp="1"/>
          </p:cNvSpPr>
          <p:nvPr>
            <p:ph type="title"/>
          </p:nvPr>
        </p:nvSpPr>
        <p:spPr>
          <a:xfrm>
            <a:off x="566928" y="2212848"/>
            <a:ext cx="11058113" cy="1133856"/>
          </a:xfrm>
        </p:spPr>
        <p:txBody>
          <a:bodyPr wrap="square" lIns="0" rIns="0" tIns="0" bIns="0" anchor="ctr"/>
          <a:lstStyle/>
          <a:p>
            <a:pPr algn="l"/>
            <a:r>
              <a:rPr sz="3200" b="1" lang="en-US" dirty="0">
                <a:solidFill>
                  <a:srgbClr val="FFFFFF"/>
                </a:solidFill>
                <a:latin typeface="Calibri"/>
              </a:rPr>
              <a:t>Stability of Gaussian elimination and pivoting strategies</a:t>
            </a:r>
          </a:p>
        </p:txBody>
      </p:sp>
      <p:sp>
        <p:nvSpPr>
          <p:cNvPr id="3" name="Topic 3" descr="Topic 3"/>
          <p:cNvSpPr txBox="1"/>
          <p:nvPr/>
        </p:nvSpPr>
        <p:spPr>
          <a:xfrm>
            <a:off x="566928" y="1792224"/>
            <a:ext cx="11058113" cy="365760"/>
          </a:xfrm>
          <a:prstGeom prst="rect">
            <a:avLst/>
          </a:prstGeom>
          <a:noFill/>
        </p:spPr>
        <p:txBody>
          <a:bodyPr wrap="square" lIns="0" rIns="0" tIns="0" bIns="0">
            <a:spAutoFit/>
          </a:bodyPr>
          <a:lstStyle/>
          <a:p>
            <a:pPr algn="l">
              <a:spcBef>
                <a:spcPts val="0"/>
              </a:spcBef>
              <a:spcAft>
                <a:spcPts val="0"/>
              </a:spcAft>
              <a:buNone/>
            </a:pPr>
            <a:r>
              <a:rPr sz="2000" b="0" i="0" lang="en-US" dirty="0">
                <a:solidFill>
                  <a:srgbClr val="D7E4EE"/>
                </a:solidFill>
                <a:latin typeface="Calibri"/>
              </a:rPr>
              <a:t>Topic 3</a:t>
            </a:r>
          </a:p>
        </p:txBody>
      </p:sp>
      <p:sp>
        <p:nvSpPr>
          <p:cNvPr id="4" name="▸  A non-zero but tiny pivot is almost as bad as a zero one" descr="▸  A non-zero but tiny pivot is almost as bad as a zero one&#10;▸  Partial pivoting: always eliminate with the largest available pivot&#10;▸  Scaled-column partial pivoting: judge each pivot against its own row&#10;▸  Counting the operations: why a dense solve costs about n^3/3"/>
          <p:cNvSpPr/>
          <p:nvPr/>
        </p:nvSpPr>
        <p:spPr>
          <a:xfrm>
            <a:off x="566928" y="3730752"/>
            <a:ext cx="11058113" cy="2203704"/>
          </a:xfrm>
          <a:prstGeom prst="roundRect">
            <a:avLst>
              <a:gd name="adj" fmla="val 3500"/>
            </a:avLst>
          </a:prstGeom>
          <a:solidFill>
            <a:srgbClr val="104E7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marL="274320" indent="-274320">
              <a:spcBef>
                <a:spcPts val="0"/>
              </a:spcBef>
              <a:spcAft>
                <a:spcPts val="700"/>
              </a:spcAft>
              <a:buNone/>
            </a:pPr>
            <a:r>
              <a:rPr sz="1700" b="0" i="0" lang="en-US" dirty="0">
                <a:solidFill>
                  <a:srgbClr val="FFFFFF"/>
                </a:solidFill>
                <a:latin typeface="Calibri"/>
              </a:rPr>
              <a:t>▸  A non-zero but tiny pivot is almost as bad as a zero one</a:t>
            </a:r>
          </a:p>
          <a:p>
            <a:pPr algn="l" marL="274320" indent="-274320">
              <a:spcBef>
                <a:spcPts val="0"/>
              </a:spcBef>
              <a:spcAft>
                <a:spcPts val="700"/>
              </a:spcAft>
              <a:buNone/>
            </a:pPr>
            <a:r>
              <a:rPr sz="1700" b="0" i="0" lang="en-US" dirty="0">
                <a:solidFill>
                  <a:srgbClr val="FFFFFF"/>
                </a:solidFill>
                <a:latin typeface="Calibri"/>
              </a:rPr>
              <a:t>▸  Partial pivoting: always eliminate with the largest available pivot</a:t>
            </a:r>
          </a:p>
          <a:p>
            <a:pPr algn="l" marL="274320" indent="-274320">
              <a:spcBef>
                <a:spcPts val="0"/>
              </a:spcBef>
              <a:spcAft>
                <a:spcPts val="700"/>
              </a:spcAft>
              <a:buNone/>
            </a:pPr>
            <a:r>
              <a:rPr sz="1700" b="0" i="0" lang="en-US" dirty="0">
                <a:solidFill>
                  <a:srgbClr val="FFFFFF"/>
                </a:solidFill>
                <a:latin typeface="Calibri"/>
              </a:rPr>
              <a:t>▸  Scaled-column partial pivoting: judge each pivot against its own row</a:t>
            </a:r>
          </a:p>
          <a:p>
            <a:pPr algn="l" marL="274320" indent="-274320">
              <a:spcBef>
                <a:spcPts val="0"/>
              </a:spcBef>
              <a:spcAft>
                <a:spcPts val="700"/>
              </a:spcAft>
              <a:buNone/>
            </a:pPr>
            <a:r>
              <a:rPr sz="1700" b="0" i="0" lang="en-US" dirty="0">
                <a:solidFill>
                  <a:srgbClr val="FFFFFF"/>
                </a:solidFill>
                <a:latin typeface="Calibri"/>
              </a:rPr>
              <a:t>▸  Counting the operations: why a dense solve costs about n^3/3</a:t>
            </a:r>
          </a:p>
        </p:txBody>
      </p:sp>
      <p:sp>
        <p:nvSpPr>
          <p:cNvPr id="5" name="MATH 616 · Computational Linear Algebra  ·  Direct Methods f" descr="MATH 616 · Computational Linear Algebra  ·  Direct Methods for Linear Systems  ·  Slide 20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C7D6E2"/>
                </a:solidFill>
                <a:latin typeface="Calibri"/>
              </a:rPr>
              <a:t>MATH 616 · Computational Linear Algebra  ·  Direct Methods for Linear Systems  ·  Slide 20 of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A tiny pivot destroys the answer" descr="A tiny pivot destroys the answer"/>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A tiny pivot destroys the answer</a:t>
            </a:r>
          </a:p>
        </p:txBody>
      </p:sp>
      <p:sp>
        <p:nvSpPr>
          <p:cNvPr id="3" name="Take ε = 10^-8 and carry four significant decimal digits. Th" descr="Take ε = 10^-8 and carry four significant decimal digits. The exact solution is x1 = 1, x2 = 1."/>
          <p:cNvSpPr txBox="1"/>
          <p:nvPr/>
        </p:nvSpPr>
        <p:spPr>
          <a:xfrm>
            <a:off x="566928" y="1316736"/>
            <a:ext cx="11058113" cy="457200"/>
          </a:xfrm>
          <a:prstGeom prst="rect">
            <a:avLst/>
          </a:prstGeom>
          <a:noFill/>
        </p:spPr>
        <p:txBody>
          <a:bodyPr wrap="square" lIns="0" rIns="0" tIns="0" bIns="0">
            <a:spAutoFit/>
          </a:bodyPr>
          <a:lstStyle/>
          <a:p>
            <a:pPr algn="l">
              <a:spcBef>
                <a:spcPts val="0"/>
              </a:spcBef>
              <a:spcAft>
                <a:spcPts val="0"/>
              </a:spcAft>
              <a:buNone/>
            </a:pPr>
            <a:r>
              <a:rPr sz="1700" b="0" i="0" lang="en-US" dirty="0">
                <a:solidFill>
                  <a:srgbClr val="3F4B5C"/>
                </a:solidFill>
                <a:latin typeface="Calibri"/>
              </a:rPr>
              <a:t>Take ε = 10^-8 and carry four significant decimal digits. The exact solution is x1 = 1, x2 = 1.</a:t>
            </a:r>
          </a:p>
        </p:txBody>
      </p:sp>
      <p:sp>
        <p:nvSpPr>
          <p:cNvPr id="4" name="The test system" descr="The test system&#10;[ eps   1 | 1 + eps ]&#10;[   2   3 |       5 ]&#10;Eliminate with the pivot eps&#10;E2 - E1/eps  -&gt;  E2"/>
          <p:cNvSpPr/>
          <p:nvPr/>
        </p:nvSpPr>
        <p:spPr>
          <a:xfrm>
            <a:off x="566928" y="1865376"/>
            <a:ext cx="4846320" cy="24688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test system</a:t>
            </a:r>
          </a:p>
          <a:p>
            <a:pPr algn="l">
              <a:lnSpc>
                <a:spcPct val="95000"/>
              </a:lnSpc>
              <a:spcBef>
                <a:spcPts val="0"/>
              </a:spcBef>
              <a:spcAft>
                <a:spcPts val="0"/>
              </a:spcAft>
              <a:buNone/>
            </a:pPr>
            <a:r>
              <a:rPr sz="1600" b="0" i="0" lang="en-US" dirty="0">
                <a:solidFill>
                  <a:srgbClr val="111827"/>
                </a:solidFill>
                <a:latin typeface="Courier New"/>
              </a:rPr>
              <a:t>[ eps   1 | 1 + eps ]</a:t>
            </a:r>
          </a:p>
          <a:p>
            <a:pPr algn="l">
              <a:lnSpc>
                <a:spcPct val="95000"/>
              </a:lnSpc>
              <a:spcBef>
                <a:spcPts val="0"/>
              </a:spcBef>
              <a:spcAft>
                <a:spcPts val="1200"/>
              </a:spcAft>
              <a:buNone/>
            </a:pPr>
            <a:r>
              <a:rPr sz="1600" b="0" i="0" lang="en-US" dirty="0">
                <a:solidFill>
                  <a:srgbClr val="111827"/>
                </a:solidFill>
                <a:latin typeface="Courier New"/>
              </a:rPr>
              <a:t>[   2   3 |       5 ]</a:t>
            </a:r>
          </a:p>
          <a:p>
            <a:pPr algn="l">
              <a:spcBef>
                <a:spcPts val="0"/>
              </a:spcBef>
              <a:spcAft>
                <a:spcPts val="700"/>
              </a:spcAft>
              <a:buNone/>
            </a:pPr>
            <a:r>
              <a:rPr sz="1700" b="1" i="0" lang="en-US" dirty="0">
                <a:solidFill>
                  <a:srgbClr val="083D62"/>
                </a:solidFill>
                <a:latin typeface="Calibri"/>
              </a:rPr>
              <a:t>Eliminate with the pivot eps</a:t>
            </a:r>
          </a:p>
          <a:p>
            <a:pPr algn="l">
              <a:lnSpc>
                <a:spcPct val="95000"/>
              </a:lnSpc>
              <a:spcBef>
                <a:spcPts val="0"/>
              </a:spcBef>
              <a:spcAft>
                <a:spcPts val="0"/>
              </a:spcAft>
              <a:buNone/>
            </a:pPr>
            <a:r>
              <a:rPr sz="1500" b="0" i="0" lang="en-US" dirty="0">
                <a:solidFill>
                  <a:srgbClr val="111827"/>
                </a:solidFill>
                <a:latin typeface="Courier New"/>
              </a:rPr>
              <a:t>E2 - E1/eps  -&gt;  E2</a:t>
            </a:r>
          </a:p>
        </p:txBody>
      </p:sp>
      <p:sp>
        <p:nvSpPr>
          <p:cNvPr id="5" name="What the machine actually stores" descr="What the machine actually stores&#10;[ eps             1 |            1 ]&#10;[   0  3 - 2 x 10^8 | 5 - 2 x 10^8 ]&#10;Rounded to four digits, 3 - 2 x 10^8 becomes -2 x 10^8, and 1 + eps becomes 1. The information carried by eps is gone."/>
          <p:cNvSpPr/>
          <p:nvPr/>
        </p:nvSpPr>
        <p:spPr>
          <a:xfrm>
            <a:off x="5742432" y="1865376"/>
            <a:ext cx="5882609" cy="24688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What the machine actually stores</a:t>
            </a:r>
          </a:p>
          <a:p>
            <a:pPr algn="l">
              <a:lnSpc>
                <a:spcPct val="95000"/>
              </a:lnSpc>
              <a:spcBef>
                <a:spcPts val="0"/>
              </a:spcBef>
              <a:spcAft>
                <a:spcPts val="0"/>
              </a:spcAft>
              <a:buNone/>
            </a:pPr>
            <a:r>
              <a:rPr sz="1400" b="0" i="0" lang="en-US" dirty="0">
                <a:solidFill>
                  <a:srgbClr val="111827"/>
                </a:solidFill>
                <a:latin typeface="Courier New"/>
              </a:rPr>
              <a:t>[ eps             1 |            1 ]</a:t>
            </a:r>
          </a:p>
          <a:p>
            <a:pPr algn="l">
              <a:lnSpc>
                <a:spcPct val="95000"/>
              </a:lnSpc>
              <a:spcBef>
                <a:spcPts val="0"/>
              </a:spcBef>
              <a:spcAft>
                <a:spcPts val="800"/>
              </a:spcAft>
              <a:buNone/>
            </a:pPr>
            <a:r>
              <a:rPr sz="1400" b="0" i="0" lang="en-US" dirty="0">
                <a:solidFill>
                  <a:srgbClr val="111827"/>
                </a:solidFill>
                <a:latin typeface="Courier New"/>
              </a:rPr>
              <a:t>[   0  3 - 2 x 10^8 | 5 - 2 x 10^8 ]</a:t>
            </a:r>
          </a:p>
          <a:p>
            <a:pPr algn="l">
              <a:spcBef>
                <a:spcPts val="0"/>
              </a:spcBef>
              <a:spcAft>
                <a:spcPts val="0"/>
              </a:spcAft>
              <a:buNone/>
            </a:pPr>
            <a:r>
              <a:rPr sz="1500" b="0" i="0" lang="en-US" dirty="0">
                <a:solidFill>
                  <a:srgbClr val="111827"/>
                </a:solidFill>
                <a:latin typeface="Calibri"/>
              </a:rPr>
              <a:t>Rounded to four digits, 3 - 2 x 10^8 becomes -2 x 10^8, and 1 + eps becomes 1. The information carried by eps is gone.</a:t>
            </a:r>
          </a:p>
        </p:txBody>
      </p:sp>
      <p:sp>
        <p:nvSpPr>
          <p:cNvPr id="6" name="The answer" descr="The answer&#10;Back substitution now returns x2 = 1 and x1 = 0. The second component is right, the first is completely wrong — and no warning was issued."/>
          <p:cNvSpPr/>
          <p:nvPr/>
        </p:nvSpPr>
        <p:spPr>
          <a:xfrm>
            <a:off x="566928" y="4572000"/>
            <a:ext cx="11058113" cy="1133856"/>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7C2D12"/>
                </a:solidFill>
                <a:latin typeface="Calibri"/>
              </a:rPr>
              <a:t>The answer</a:t>
            </a:r>
          </a:p>
          <a:p>
            <a:pPr algn="l">
              <a:spcBef>
                <a:spcPts val="0"/>
              </a:spcBef>
              <a:spcAft>
                <a:spcPts val="0"/>
              </a:spcAft>
              <a:buNone/>
            </a:pPr>
            <a:r>
              <a:rPr sz="1700" b="0" i="0" lang="en-US" dirty="0">
                <a:solidFill>
                  <a:srgbClr val="7C2D12"/>
                </a:solidFill>
                <a:latin typeface="Calibri"/>
              </a:rPr>
              <a:t>Back substitution now returns x2 = 1 and x1 = 0. The second component is right, the first is completely wrong — and no warning was issued.</a:t>
            </a:r>
          </a:p>
        </p:txBody>
      </p:sp>
      <p:sp>
        <p:nvSpPr>
          <p:cNvPr id="7" name="MATH 616 · Computational Linear Algebra  ·  Direct Methods f" descr="MATH 616 · Computational Linear Algebra  ·  Direct Methods for Linear Systems  ·  Slide 21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21 of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nterchange the rows first, then eliminate" descr="Interchange the rows first, then eliminate"/>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Interchange the rows first, then eliminate</a:t>
            </a:r>
          </a:p>
        </p:txBody>
      </p:sp>
      <p:sp>
        <p:nvSpPr>
          <p:cNvPr id="3" name="Swap the two equations" descr="Swap the two equations&#10;[   2   3 |       5 ]&#10;[ eps   1 | 1 + eps ]&#10;Eliminate with the pivot 2&#10;E2 - (eps/2) E1  -&gt;  E2"/>
          <p:cNvSpPr/>
          <p:nvPr/>
        </p:nvSpPr>
        <p:spPr>
          <a:xfrm>
            <a:off x="566928" y="1335024"/>
            <a:ext cx="4846320" cy="265176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Swap the two equations</a:t>
            </a:r>
          </a:p>
          <a:p>
            <a:pPr algn="l">
              <a:lnSpc>
                <a:spcPct val="95000"/>
              </a:lnSpc>
              <a:spcBef>
                <a:spcPts val="0"/>
              </a:spcBef>
              <a:spcAft>
                <a:spcPts val="0"/>
              </a:spcAft>
              <a:buNone/>
            </a:pPr>
            <a:r>
              <a:rPr sz="1600" b="0" i="0" lang="en-US" dirty="0">
                <a:solidFill>
                  <a:srgbClr val="111827"/>
                </a:solidFill>
                <a:latin typeface="Courier New"/>
              </a:rPr>
              <a:t>[   2   3 |       5 ]</a:t>
            </a:r>
          </a:p>
          <a:p>
            <a:pPr algn="l">
              <a:lnSpc>
                <a:spcPct val="95000"/>
              </a:lnSpc>
              <a:spcBef>
                <a:spcPts val="0"/>
              </a:spcBef>
              <a:spcAft>
                <a:spcPts val="1200"/>
              </a:spcAft>
              <a:buNone/>
            </a:pPr>
            <a:r>
              <a:rPr sz="1600" b="0" i="0" lang="en-US" dirty="0">
                <a:solidFill>
                  <a:srgbClr val="111827"/>
                </a:solidFill>
                <a:latin typeface="Courier New"/>
              </a:rPr>
              <a:t>[ eps   1 | 1 + eps ]</a:t>
            </a:r>
          </a:p>
          <a:p>
            <a:pPr algn="l">
              <a:spcBef>
                <a:spcPts val="0"/>
              </a:spcBef>
              <a:spcAft>
                <a:spcPts val="700"/>
              </a:spcAft>
              <a:buNone/>
            </a:pPr>
            <a:r>
              <a:rPr sz="1700" b="1" i="0" lang="en-US" dirty="0">
                <a:solidFill>
                  <a:srgbClr val="083D62"/>
                </a:solidFill>
                <a:latin typeface="Calibri"/>
              </a:rPr>
              <a:t>Eliminate with the pivot 2</a:t>
            </a:r>
          </a:p>
          <a:p>
            <a:pPr algn="l">
              <a:lnSpc>
                <a:spcPct val="95000"/>
              </a:lnSpc>
              <a:spcBef>
                <a:spcPts val="0"/>
              </a:spcBef>
              <a:spcAft>
                <a:spcPts val="0"/>
              </a:spcAft>
              <a:buNone/>
            </a:pPr>
            <a:r>
              <a:rPr sz="1500" b="0" i="0" lang="en-US" dirty="0">
                <a:solidFill>
                  <a:srgbClr val="111827"/>
                </a:solidFill>
                <a:latin typeface="Courier New"/>
              </a:rPr>
              <a:t>E2 - (eps/2) E1  -&gt;  E2</a:t>
            </a:r>
          </a:p>
        </p:txBody>
      </p:sp>
      <p:sp>
        <p:nvSpPr>
          <p:cNvPr id="4" name="Now rounding is harmless" descr="Now rounding is harmless&#10;[ 2           3 |           5 ]&#10;[ 0  1 - 3eps/2 |  1 - 5eps/2 ]&#10;[ 2   3 |  5 ]&#10;[ 0   1 |  1 ]&#10;Backward substitution gives x2 = 1 and x1 = 1 — the correct solution."/>
          <p:cNvSpPr/>
          <p:nvPr/>
        </p:nvSpPr>
        <p:spPr>
          <a:xfrm>
            <a:off x="5742432" y="1335024"/>
            <a:ext cx="5882609" cy="265176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Now rounding is harmless</a:t>
            </a:r>
          </a:p>
          <a:p>
            <a:pPr algn="l">
              <a:lnSpc>
                <a:spcPct val="95000"/>
              </a:lnSpc>
              <a:spcBef>
                <a:spcPts val="0"/>
              </a:spcBef>
              <a:spcAft>
                <a:spcPts val="0"/>
              </a:spcAft>
              <a:buNone/>
            </a:pPr>
            <a:r>
              <a:rPr sz="1500" b="0" i="0" lang="en-US" dirty="0">
                <a:solidFill>
                  <a:srgbClr val="111827"/>
                </a:solidFill>
                <a:latin typeface="Courier New"/>
              </a:rPr>
              <a:t>[ 2           3 |           5 ]</a:t>
            </a:r>
          </a:p>
          <a:p>
            <a:pPr algn="l">
              <a:lnSpc>
                <a:spcPct val="95000"/>
              </a:lnSpc>
              <a:spcBef>
                <a:spcPts val="0"/>
              </a:spcBef>
              <a:spcAft>
                <a:spcPts val="800"/>
              </a:spcAft>
              <a:buNone/>
            </a:pPr>
            <a:r>
              <a:rPr sz="1500" b="0" i="0" lang="en-US" dirty="0">
                <a:solidFill>
                  <a:srgbClr val="111827"/>
                </a:solidFill>
                <a:latin typeface="Courier New"/>
              </a:rPr>
              <a:t>[ 0  1 - 3eps/2 |  1 - 5eps/2 ]</a:t>
            </a:r>
          </a:p>
          <a:p>
            <a:pPr algn="l">
              <a:lnSpc>
                <a:spcPct val="95000"/>
              </a:lnSpc>
              <a:spcBef>
                <a:spcPts val="0"/>
              </a:spcBef>
              <a:spcAft>
                <a:spcPts val="0"/>
              </a:spcAft>
              <a:buNone/>
            </a:pPr>
            <a:r>
              <a:rPr sz="1600" b="0" i="0" lang="en-US" dirty="0">
                <a:solidFill>
                  <a:srgbClr val="111827"/>
                </a:solidFill>
                <a:latin typeface="Courier New"/>
              </a:rPr>
              <a:t>[ 2   3 |  5 ]</a:t>
            </a:r>
          </a:p>
          <a:p>
            <a:pPr algn="l">
              <a:lnSpc>
                <a:spcPct val="95000"/>
              </a:lnSpc>
              <a:spcBef>
                <a:spcPts val="0"/>
              </a:spcBef>
              <a:spcAft>
                <a:spcPts val="800"/>
              </a:spcAft>
              <a:buNone/>
            </a:pPr>
            <a:r>
              <a:rPr sz="1600" b="0" i="0" lang="en-US" dirty="0">
                <a:solidFill>
                  <a:srgbClr val="111827"/>
                </a:solidFill>
                <a:latin typeface="Courier New"/>
              </a:rPr>
              <a:t>[ 0   1 |  1 ]</a:t>
            </a:r>
          </a:p>
          <a:p>
            <a:pPr algn="l">
              <a:spcBef>
                <a:spcPts val="0"/>
              </a:spcBef>
              <a:spcAft>
                <a:spcPts val="0"/>
              </a:spcAft>
              <a:buNone/>
            </a:pPr>
            <a:r>
              <a:rPr sz="1500" b="0" i="0" lang="en-US" dirty="0">
                <a:solidFill>
                  <a:srgbClr val="111827"/>
                </a:solidFill>
                <a:latin typeface="Calibri"/>
              </a:rPr>
              <a:t>Backward substitution gives x2 = 1 and x1 = 1 — the correct solution.</a:t>
            </a:r>
          </a:p>
        </p:txBody>
      </p:sp>
      <p:sp>
        <p:nvSpPr>
          <p:cNvPr id="5" name="The lesson" descr="The lesson&#10;The trouble was never the matrix; it was dividing by a small number. Choosing the largest available pivot keeps every multiplier at most 1 in magnitude, which stops round-off error from being amplified."/>
          <p:cNvSpPr/>
          <p:nvPr/>
        </p:nvSpPr>
        <p:spPr>
          <a:xfrm>
            <a:off x="566928" y="4224528"/>
            <a:ext cx="11058113" cy="137160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111827"/>
                </a:solidFill>
                <a:latin typeface="Calibri"/>
              </a:rPr>
              <a:t>The lesson</a:t>
            </a:r>
          </a:p>
          <a:p>
            <a:pPr algn="l">
              <a:spcBef>
                <a:spcPts val="0"/>
              </a:spcBef>
              <a:spcAft>
                <a:spcPts val="0"/>
              </a:spcAft>
              <a:buNone/>
            </a:pPr>
            <a:r>
              <a:rPr sz="1700" b="0" i="0" lang="en-US" dirty="0">
                <a:solidFill>
                  <a:srgbClr val="111827"/>
                </a:solidFill>
                <a:latin typeface="Calibri"/>
              </a:rPr>
              <a:t>The trouble was never the matrix; it was dividing by a small number. Choosing the largest available pivot keeps every multiplier at most 1 in magnitude, which stops round-off error from being amplified.</a:t>
            </a:r>
          </a:p>
        </p:txBody>
      </p:sp>
      <p:sp>
        <p:nvSpPr>
          <p:cNvPr id="6" name="MATH 616 · Computational Linear Algebra  ·  Direct Methods f" descr="MATH 616 · Computational Linear Algebra  ·  Direct Methods for Linear Systems  ·  Slide 22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22 of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rtial pivoting: the algorithm" descr="Partial pivoting: the algorithm"/>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Partial pivoting: the algorithm</a:t>
            </a:r>
          </a:p>
        </p:txBody>
      </p:sp>
      <p:sp>
        <p:nvSpPr>
          <p:cNvPr id="3" name="At step i, working on the augmented matrix [A | b]" descr="At step i, working on the augmented matrix [A | b]&#10;1  Choose the smallest integer p with  |a_pi|  =  max { |a_ji| : j = i, i+1, ..., n },&#10;2  Interchange rows p and i,&#10;3  Eliminate:  E_j - L_j E_i -&gt; E_j  with  L_j = a_ji / a_ii,  j = i+1, ..., n."/>
          <p:cNvSpPr/>
          <p:nvPr/>
        </p:nvSpPr>
        <p:spPr>
          <a:xfrm>
            <a:off x="566928" y="1335024"/>
            <a:ext cx="11058113"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At step i, working on the augmented matrix [A | b]</a:t>
            </a:r>
          </a:p>
          <a:p>
            <a:pPr algn="l" marL="310896" indent="-310896">
              <a:spcBef>
                <a:spcPts val="0"/>
              </a:spcBef>
              <a:spcAft>
                <a:spcPts val="700"/>
              </a:spcAft>
              <a:buNone/>
            </a:pPr>
            <a:r>
              <a:rPr sz="1700" b="0" i="0" lang="en-US" dirty="0">
                <a:solidFill>
                  <a:srgbClr val="111827"/>
                </a:solidFill>
                <a:latin typeface="Calibri"/>
              </a:rPr>
              <a:t>1  Choose the smallest integer p with  |a_pi|  =  max { |a_ji| : j = i, i+1, ..., n },</a:t>
            </a:r>
          </a:p>
          <a:p>
            <a:pPr algn="l" marL="310896" indent="-310896">
              <a:spcBef>
                <a:spcPts val="0"/>
              </a:spcBef>
              <a:spcAft>
                <a:spcPts val="700"/>
              </a:spcAft>
              <a:buNone/>
            </a:pPr>
            <a:r>
              <a:rPr sz="1700" b="0" i="0" lang="en-US" dirty="0">
                <a:solidFill>
                  <a:srgbClr val="111827"/>
                </a:solidFill>
                <a:latin typeface="Calibri"/>
              </a:rPr>
              <a:t>2  Interchange rows p and i,</a:t>
            </a:r>
          </a:p>
          <a:p>
            <a:pPr algn="l" marL="310896" indent="-310896">
              <a:spcBef>
                <a:spcPts val="0"/>
              </a:spcBef>
              <a:spcAft>
                <a:spcPts val="0"/>
              </a:spcAft>
              <a:buNone/>
            </a:pPr>
            <a:r>
              <a:rPr sz="1700" b="0" i="0" lang="en-US" dirty="0">
                <a:solidFill>
                  <a:srgbClr val="111827"/>
                </a:solidFill>
                <a:latin typeface="Calibri"/>
              </a:rPr>
              <a:t>3  Eliminate:  E_j - L_j E_i -&gt; E_j  with  L_j = a_ji / a_ii,  j = i+1, ..., n.</a:t>
            </a:r>
          </a:p>
        </p:txBody>
      </p:sp>
      <p:sp>
        <p:nvSpPr>
          <p:cNvPr id="4" name="What it guarantees" descr="What it guarantees&#10;Every multiplier satisfies |L_j| &lt;= 1, so entries of the reduced matrix cannot grow explosively."/>
          <p:cNvSpPr/>
          <p:nvPr/>
        </p:nvSpPr>
        <p:spPr>
          <a:xfrm>
            <a:off x="566928" y="3803904"/>
            <a:ext cx="5504688" cy="1700784"/>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What it guarantees</a:t>
            </a:r>
          </a:p>
          <a:p>
            <a:pPr algn="l">
              <a:spcBef>
                <a:spcPts val="0"/>
              </a:spcBef>
              <a:spcAft>
                <a:spcPts val="0"/>
              </a:spcAft>
              <a:buNone/>
            </a:pPr>
            <a:r>
              <a:rPr sz="1600" b="0" i="0" lang="en-US" dirty="0">
                <a:solidFill>
                  <a:srgbClr val="111827"/>
                </a:solidFill>
                <a:latin typeface="Calibri"/>
              </a:rPr>
              <a:t>Every multiplier satisfies |L_j| &lt;= 1, so entries of the reduced matrix cannot grow explosively.</a:t>
            </a:r>
          </a:p>
        </p:txBody>
      </p:sp>
      <p:sp>
        <p:nvSpPr>
          <p:cNvPr id="5" name="What it costs" descr="What it costs&#10;Only the comparisons — about n(n-1)/2 of them, which is O(n^2) against the O(n^3) of the elimination itself."/>
          <p:cNvSpPr/>
          <p:nvPr/>
        </p:nvSpPr>
        <p:spPr>
          <a:xfrm>
            <a:off x="6400800" y="3803904"/>
            <a:ext cx="5224241" cy="1700784"/>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What it costs</a:t>
            </a:r>
          </a:p>
          <a:p>
            <a:pPr algn="l">
              <a:spcBef>
                <a:spcPts val="0"/>
              </a:spcBef>
              <a:spcAft>
                <a:spcPts val="0"/>
              </a:spcAft>
              <a:buNone/>
            </a:pPr>
            <a:r>
              <a:rPr sz="1600" b="0" i="0" lang="en-US" dirty="0">
                <a:solidFill>
                  <a:srgbClr val="111827"/>
                </a:solidFill>
                <a:latin typeface="Calibri"/>
              </a:rPr>
              <a:t>Only the comparisons — about n(n-1)/2 of them, which is O(n^2) against the O(n^3) of the elimination itself.</a:t>
            </a:r>
          </a:p>
        </p:txBody>
      </p:sp>
      <p:sp>
        <p:nvSpPr>
          <p:cNvPr id="6" name="MATH 616 · Computational Linear Algebra  ·  Direct Methods f" descr="MATH 616 · Computational Linear Algebra  ·  Direct Methods for Linear Systems  ·  Slide 23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23 of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rtial pivoting: worked example, steps 1 and 2" descr="Partial pivoting: worked example, steps 1 and 2"/>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Partial pivoting: worked example, steps 1 and 2</a:t>
            </a:r>
          </a:p>
        </p:txBody>
      </p:sp>
      <p:sp>
        <p:nvSpPr>
          <p:cNvPr id="3" name="Step 1" descr="Step 1&#10;[ 2   1   0 |  3 ]&#10;[ 1  -1   4 | -4 ]&#10;[ 3  -1  -2 |  4 ]&#10;|a31| = 3 is the largest entry in column 1, so rows 1 and 3 are interchanged.&#10;E2 - (1/3) E1  -&gt;  E2&#10;E3 - (2/3) E1  -&gt;  E3&#10;[ 3    -1     -2 |     4 ]&#10;[ 0  -2/3   14/3 | -16/3 ]&#10;[ 0   5/3    4/3 |   1/3 ]"/>
          <p:cNvSpPr/>
          <p:nvPr/>
        </p:nvSpPr>
        <p:spPr>
          <a:xfrm>
            <a:off x="566928" y="1335024"/>
            <a:ext cx="5504688" cy="33832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1</a:t>
            </a:r>
          </a:p>
          <a:p>
            <a:pPr algn="l">
              <a:lnSpc>
                <a:spcPct val="95000"/>
              </a:lnSpc>
              <a:spcBef>
                <a:spcPts val="0"/>
              </a:spcBef>
              <a:spcAft>
                <a:spcPts val="0"/>
              </a:spcAft>
              <a:buNone/>
            </a:pPr>
            <a:r>
              <a:rPr sz="1600" b="0" i="0" lang="en-US" dirty="0">
                <a:solidFill>
                  <a:srgbClr val="111827"/>
                </a:solidFill>
                <a:latin typeface="Courier New"/>
              </a:rPr>
              <a:t>[ 2   1   0 |  3 ]</a:t>
            </a:r>
          </a:p>
          <a:p>
            <a:pPr algn="l">
              <a:lnSpc>
                <a:spcPct val="95000"/>
              </a:lnSpc>
              <a:spcBef>
                <a:spcPts val="0"/>
              </a:spcBef>
              <a:spcAft>
                <a:spcPts val="0"/>
              </a:spcAft>
              <a:buNone/>
            </a:pPr>
            <a:r>
              <a:rPr sz="1600" b="0" i="0" lang="en-US" dirty="0">
                <a:solidFill>
                  <a:srgbClr val="111827"/>
                </a:solidFill>
                <a:latin typeface="Courier New"/>
              </a:rPr>
              <a:t>[ 1  -1   4 | -4 ]</a:t>
            </a:r>
          </a:p>
          <a:p>
            <a:pPr algn="l">
              <a:lnSpc>
                <a:spcPct val="95000"/>
              </a:lnSpc>
              <a:spcBef>
                <a:spcPts val="0"/>
              </a:spcBef>
              <a:spcAft>
                <a:spcPts val="900"/>
              </a:spcAft>
              <a:buNone/>
            </a:pPr>
            <a:r>
              <a:rPr sz="1600" b="0" i="0" lang="en-US" dirty="0">
                <a:solidFill>
                  <a:srgbClr val="111827"/>
                </a:solidFill>
                <a:latin typeface="Courier New"/>
              </a:rPr>
              <a:t>[ 3  -1  -2 |  4 ]</a:t>
            </a:r>
          </a:p>
          <a:p>
            <a:pPr algn="l">
              <a:spcBef>
                <a:spcPts val="0"/>
              </a:spcBef>
              <a:spcAft>
                <a:spcPts val="900"/>
              </a:spcAft>
              <a:buNone/>
            </a:pPr>
            <a:r>
              <a:rPr sz="1500" b="0" i="0" lang="en-US" dirty="0">
                <a:solidFill>
                  <a:srgbClr val="111827"/>
                </a:solidFill>
                <a:latin typeface="Calibri"/>
              </a:rPr>
              <a:t>|a31| = 3 is the largest entry in column 1, so rows 1 and 3 are interchanged.</a:t>
            </a:r>
          </a:p>
          <a:p>
            <a:pPr algn="l">
              <a:lnSpc>
                <a:spcPct val="95000"/>
              </a:lnSpc>
              <a:spcBef>
                <a:spcPts val="0"/>
              </a:spcBef>
              <a:spcAft>
                <a:spcPts val="0"/>
              </a:spcAft>
              <a:buNone/>
            </a:pPr>
            <a:r>
              <a:rPr sz="1500" b="0" i="0" lang="en-US" dirty="0">
                <a:solidFill>
                  <a:srgbClr val="111827"/>
                </a:solidFill>
                <a:latin typeface="Courier New"/>
              </a:rPr>
              <a:t>E2 - (1/3) E1  -&gt;  E2</a:t>
            </a:r>
          </a:p>
          <a:p>
            <a:pPr algn="l">
              <a:lnSpc>
                <a:spcPct val="95000"/>
              </a:lnSpc>
              <a:spcBef>
                <a:spcPts val="0"/>
              </a:spcBef>
              <a:spcAft>
                <a:spcPts val="900"/>
              </a:spcAft>
              <a:buNone/>
            </a:pPr>
            <a:r>
              <a:rPr sz="1500" b="0" i="0" lang="en-US" dirty="0">
                <a:solidFill>
                  <a:srgbClr val="111827"/>
                </a:solidFill>
                <a:latin typeface="Courier New"/>
              </a:rPr>
              <a:t>E3 - (2/3) E1  -&gt;  E3</a:t>
            </a:r>
          </a:p>
          <a:p>
            <a:pPr algn="l">
              <a:lnSpc>
                <a:spcPct val="95000"/>
              </a:lnSpc>
              <a:spcBef>
                <a:spcPts val="0"/>
              </a:spcBef>
              <a:spcAft>
                <a:spcPts val="0"/>
              </a:spcAft>
              <a:buNone/>
            </a:pPr>
            <a:r>
              <a:rPr sz="1500" b="0" i="0" lang="en-US" dirty="0">
                <a:solidFill>
                  <a:srgbClr val="111827"/>
                </a:solidFill>
                <a:latin typeface="Courier New"/>
              </a:rPr>
              <a:t>[ 3    -1     -2 |     4 ]</a:t>
            </a:r>
          </a:p>
          <a:p>
            <a:pPr algn="l">
              <a:lnSpc>
                <a:spcPct val="95000"/>
              </a:lnSpc>
              <a:spcBef>
                <a:spcPts val="0"/>
              </a:spcBef>
              <a:spcAft>
                <a:spcPts val="0"/>
              </a:spcAft>
              <a:buNone/>
            </a:pPr>
            <a:r>
              <a:rPr sz="1500" b="0" i="0" lang="en-US" dirty="0">
                <a:solidFill>
                  <a:srgbClr val="111827"/>
                </a:solidFill>
                <a:latin typeface="Courier New"/>
              </a:rPr>
              <a:t>[ 0  -2/3   14/3 | -16/3 ]</a:t>
            </a:r>
          </a:p>
          <a:p>
            <a:pPr algn="l">
              <a:lnSpc>
                <a:spcPct val="95000"/>
              </a:lnSpc>
              <a:spcBef>
                <a:spcPts val="0"/>
              </a:spcBef>
              <a:spcAft>
                <a:spcPts val="0"/>
              </a:spcAft>
              <a:buNone/>
            </a:pPr>
            <a:r>
              <a:rPr sz="1500" b="0" i="0" lang="en-US" dirty="0">
                <a:solidFill>
                  <a:srgbClr val="111827"/>
                </a:solidFill>
                <a:latin typeface="Courier New"/>
              </a:rPr>
              <a:t>[ 0   5/3    4/3 |   1/3 ]</a:t>
            </a:r>
          </a:p>
        </p:txBody>
      </p:sp>
      <p:sp>
        <p:nvSpPr>
          <p:cNvPr id="4" name="Step 2" descr="Step 2&#10;In column 2, |5/3| &gt; |2/3|, so rows 2 and 3 are interchanged.&#10;[ 3    -1     -2 |     4 ]&#10;[ 0   5/3    4/3 |   1/3 ]&#10;[ 0  -2/3   14/3 | -16/3 ]&#10;E3 + (2/5) E2  -&gt;  E3&#10;[ 3   -1    -2 |     4 ]&#10;[ 0  5/3   4/3 |   1/3 ]&#10;[ 0    0  26/5 | -26/5 ]"/>
          <p:cNvSpPr/>
          <p:nvPr/>
        </p:nvSpPr>
        <p:spPr>
          <a:xfrm>
            <a:off x="6400800" y="1335024"/>
            <a:ext cx="5224241" cy="33832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2</a:t>
            </a:r>
          </a:p>
          <a:p>
            <a:pPr algn="l">
              <a:spcBef>
                <a:spcPts val="0"/>
              </a:spcBef>
              <a:spcAft>
                <a:spcPts val="900"/>
              </a:spcAft>
              <a:buNone/>
            </a:pPr>
            <a:r>
              <a:rPr sz="1500" b="0" i="0" lang="en-US" dirty="0">
                <a:solidFill>
                  <a:srgbClr val="111827"/>
                </a:solidFill>
                <a:latin typeface="Calibri"/>
              </a:rPr>
              <a:t>In column 2, |5/3| &gt; |2/3|, so rows 2 and 3 are interchanged.</a:t>
            </a:r>
          </a:p>
          <a:p>
            <a:pPr algn="l">
              <a:lnSpc>
                <a:spcPct val="95000"/>
              </a:lnSpc>
              <a:spcBef>
                <a:spcPts val="0"/>
              </a:spcBef>
              <a:spcAft>
                <a:spcPts val="0"/>
              </a:spcAft>
              <a:buNone/>
            </a:pPr>
            <a:r>
              <a:rPr sz="1500" b="0" i="0" lang="en-US" dirty="0">
                <a:solidFill>
                  <a:srgbClr val="111827"/>
                </a:solidFill>
                <a:latin typeface="Courier New"/>
              </a:rPr>
              <a:t>[ 3    -1     -2 |     4 ]</a:t>
            </a:r>
          </a:p>
          <a:p>
            <a:pPr algn="l">
              <a:lnSpc>
                <a:spcPct val="95000"/>
              </a:lnSpc>
              <a:spcBef>
                <a:spcPts val="0"/>
              </a:spcBef>
              <a:spcAft>
                <a:spcPts val="0"/>
              </a:spcAft>
              <a:buNone/>
            </a:pPr>
            <a:r>
              <a:rPr sz="1500" b="0" i="0" lang="en-US" dirty="0">
                <a:solidFill>
                  <a:srgbClr val="111827"/>
                </a:solidFill>
                <a:latin typeface="Courier New"/>
              </a:rPr>
              <a:t>[ 0   5/3    4/3 |   1/3 ]</a:t>
            </a:r>
          </a:p>
          <a:p>
            <a:pPr algn="l">
              <a:lnSpc>
                <a:spcPct val="95000"/>
              </a:lnSpc>
              <a:spcBef>
                <a:spcPts val="0"/>
              </a:spcBef>
              <a:spcAft>
                <a:spcPts val="900"/>
              </a:spcAft>
              <a:buNone/>
            </a:pPr>
            <a:r>
              <a:rPr sz="1500" b="0" i="0" lang="en-US" dirty="0">
                <a:solidFill>
                  <a:srgbClr val="111827"/>
                </a:solidFill>
                <a:latin typeface="Courier New"/>
              </a:rPr>
              <a:t>[ 0  -2/3   14/3 | -16/3 ]</a:t>
            </a:r>
          </a:p>
          <a:p>
            <a:pPr algn="l">
              <a:lnSpc>
                <a:spcPct val="95000"/>
              </a:lnSpc>
              <a:spcBef>
                <a:spcPts val="0"/>
              </a:spcBef>
              <a:spcAft>
                <a:spcPts val="900"/>
              </a:spcAft>
              <a:buNone/>
            </a:pPr>
            <a:r>
              <a:rPr sz="1500" b="0" i="0" lang="en-US" dirty="0">
                <a:solidFill>
                  <a:srgbClr val="111827"/>
                </a:solidFill>
                <a:latin typeface="Courier New"/>
              </a:rPr>
              <a:t>E3 + (2/5) E2  -&gt;  E3</a:t>
            </a:r>
          </a:p>
          <a:p>
            <a:pPr algn="l">
              <a:lnSpc>
                <a:spcPct val="95000"/>
              </a:lnSpc>
              <a:spcBef>
                <a:spcPts val="0"/>
              </a:spcBef>
              <a:spcAft>
                <a:spcPts val="0"/>
              </a:spcAft>
              <a:buNone/>
            </a:pPr>
            <a:r>
              <a:rPr sz="1500" b="0" i="0" lang="en-US" dirty="0">
                <a:solidFill>
                  <a:srgbClr val="111827"/>
                </a:solidFill>
                <a:latin typeface="Courier New"/>
              </a:rPr>
              <a:t>[ 3   -1    -2 |     4 ]</a:t>
            </a:r>
          </a:p>
          <a:p>
            <a:pPr algn="l">
              <a:lnSpc>
                <a:spcPct val="95000"/>
              </a:lnSpc>
              <a:spcBef>
                <a:spcPts val="0"/>
              </a:spcBef>
              <a:spcAft>
                <a:spcPts val="0"/>
              </a:spcAft>
              <a:buNone/>
            </a:pPr>
            <a:r>
              <a:rPr sz="1500" b="0" i="0" lang="en-US" dirty="0">
                <a:solidFill>
                  <a:srgbClr val="111827"/>
                </a:solidFill>
                <a:latin typeface="Courier New"/>
              </a:rPr>
              <a:t>[ 0  5/3   4/3 |   1/3 ]</a:t>
            </a:r>
          </a:p>
          <a:p>
            <a:pPr algn="l">
              <a:lnSpc>
                <a:spcPct val="95000"/>
              </a:lnSpc>
              <a:spcBef>
                <a:spcPts val="0"/>
              </a:spcBef>
              <a:spcAft>
                <a:spcPts val="0"/>
              </a:spcAft>
              <a:buNone/>
            </a:pPr>
            <a:r>
              <a:rPr sz="1500" b="0" i="0" lang="en-US" dirty="0">
                <a:solidFill>
                  <a:srgbClr val="111827"/>
                </a:solidFill>
                <a:latin typeface="Courier New"/>
              </a:rPr>
              <a:t>[ 0    0  26/5 | -26/5 ]</a:t>
            </a:r>
          </a:p>
        </p:txBody>
      </p:sp>
      <p:sp>
        <p:nvSpPr>
          <p:cNvPr id="5" name="Both interchanges were made because a larger pivot was avail" descr="Both interchanges were made because a larger pivot was available — neither pivot was zero."/>
          <p:cNvSpPr/>
          <p:nvPr/>
        </p:nvSpPr>
        <p:spPr>
          <a:xfrm>
            <a:off x="566928" y="4901184"/>
            <a:ext cx="11058113" cy="841248"/>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0"/>
              </a:spcAft>
              <a:buNone/>
            </a:pPr>
            <a:r>
              <a:rPr sz="1700" b="0" i="0" lang="en-US" dirty="0">
                <a:solidFill>
                  <a:srgbClr val="FFFFFF"/>
                </a:solidFill>
                <a:latin typeface="Calibri"/>
              </a:rPr>
              <a:t>Both interchanges were made because a larger pivot was available — neither pivot was zero.</a:t>
            </a:r>
          </a:p>
        </p:txBody>
      </p:sp>
      <p:sp>
        <p:nvSpPr>
          <p:cNvPr id="6" name="MATH 616 · Computational Linear Algebra  ·  Direct Methods f" descr="MATH 616 · Computational Linear Algebra  ·  Direct Methods for Linear Systems  ·  Slide 24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24 of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rtial pivoting: reading off the solution" descr="Partial pivoting: reading off the solutio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Partial pivoting: reading off the solution</a:t>
            </a:r>
          </a:p>
        </p:txBody>
      </p:sp>
      <p:sp>
        <p:nvSpPr>
          <p:cNvPr id="3" name="The triangular system" descr="The triangular system&#10;[ 3   -1    -2 |     4 ]&#10;[ 0  5/3   4/3 |   1/3 ]&#10;[ 0    0  26/5 | -26/5 ]"/>
          <p:cNvSpPr/>
          <p:nvPr/>
        </p:nvSpPr>
        <p:spPr>
          <a:xfrm>
            <a:off x="566928" y="1335024"/>
            <a:ext cx="4846320" cy="24688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triangular system</a:t>
            </a:r>
          </a:p>
          <a:p>
            <a:pPr algn="l">
              <a:lnSpc>
                <a:spcPct val="95000"/>
              </a:lnSpc>
              <a:spcBef>
                <a:spcPts val="0"/>
              </a:spcBef>
              <a:spcAft>
                <a:spcPts val="0"/>
              </a:spcAft>
              <a:buNone/>
            </a:pPr>
            <a:r>
              <a:rPr sz="1600" b="0" i="0" lang="en-US" dirty="0">
                <a:solidFill>
                  <a:srgbClr val="111827"/>
                </a:solidFill>
                <a:latin typeface="Courier New"/>
              </a:rPr>
              <a:t>[ 3   -1    -2 |     4 ]</a:t>
            </a:r>
          </a:p>
          <a:p>
            <a:pPr algn="l">
              <a:lnSpc>
                <a:spcPct val="95000"/>
              </a:lnSpc>
              <a:spcBef>
                <a:spcPts val="0"/>
              </a:spcBef>
              <a:spcAft>
                <a:spcPts val="0"/>
              </a:spcAft>
              <a:buNone/>
            </a:pPr>
            <a:r>
              <a:rPr sz="1600" b="0" i="0" lang="en-US" dirty="0">
                <a:solidFill>
                  <a:srgbClr val="111827"/>
                </a:solidFill>
                <a:latin typeface="Courier New"/>
              </a:rPr>
              <a:t>[ 0  5/3   4/3 |   1/3 ]</a:t>
            </a:r>
          </a:p>
          <a:p>
            <a:pPr algn="l">
              <a:lnSpc>
                <a:spcPct val="95000"/>
              </a:lnSpc>
              <a:spcBef>
                <a:spcPts val="0"/>
              </a:spcBef>
              <a:spcAft>
                <a:spcPts val="0"/>
              </a:spcAft>
              <a:buNone/>
            </a:pPr>
            <a:r>
              <a:rPr sz="1600" b="0" i="0" lang="en-US" dirty="0">
                <a:solidFill>
                  <a:srgbClr val="111827"/>
                </a:solidFill>
                <a:latin typeface="Courier New"/>
              </a:rPr>
              <a:t>[ 0    0  26/5 | -26/5 ]</a:t>
            </a:r>
          </a:p>
        </p:txBody>
      </p:sp>
      <p:sp>
        <p:nvSpPr>
          <p:cNvPr id="4" name="Backward substitution" descr="Backward substitution&#10;(26/5) x3 = -26/5           -&gt;  x3 = -1&#10;(5/3) x2 + (4/3)(-1) = 1/3  -&gt;  x2 =  1&#10;3x1 - x2 - 2x3 = 4          -&gt;  x1 =  1&#10;The interchanges are recorded in the permutation vector IP = [3, 1, 2]."/>
          <p:cNvSpPr/>
          <p:nvPr/>
        </p:nvSpPr>
        <p:spPr>
          <a:xfrm>
            <a:off x="5742432" y="1335024"/>
            <a:ext cx="5882609" cy="24688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Backward substitution</a:t>
            </a:r>
          </a:p>
          <a:p>
            <a:pPr algn="l">
              <a:lnSpc>
                <a:spcPct val="95000"/>
              </a:lnSpc>
              <a:spcBef>
                <a:spcPts val="0"/>
              </a:spcBef>
              <a:spcAft>
                <a:spcPts val="0"/>
              </a:spcAft>
              <a:buNone/>
            </a:pPr>
            <a:r>
              <a:rPr sz="1500" b="0" i="0" lang="en-US" dirty="0">
                <a:solidFill>
                  <a:srgbClr val="111827"/>
                </a:solidFill>
                <a:latin typeface="Courier New"/>
              </a:rPr>
              <a:t>(26/5) x3 = -26/5           -&gt;  x3 = -1</a:t>
            </a:r>
          </a:p>
          <a:p>
            <a:pPr algn="l">
              <a:lnSpc>
                <a:spcPct val="95000"/>
              </a:lnSpc>
              <a:spcBef>
                <a:spcPts val="0"/>
              </a:spcBef>
              <a:spcAft>
                <a:spcPts val="0"/>
              </a:spcAft>
              <a:buNone/>
            </a:pPr>
            <a:r>
              <a:rPr sz="1500" b="0" i="0" lang="en-US" dirty="0">
                <a:solidFill>
                  <a:srgbClr val="111827"/>
                </a:solidFill>
                <a:latin typeface="Courier New"/>
              </a:rPr>
              <a:t>(5/3) x2 + (4/3)(-1) = 1/3  -&gt;  x2 =  1</a:t>
            </a:r>
          </a:p>
          <a:p>
            <a:pPr algn="l">
              <a:lnSpc>
                <a:spcPct val="95000"/>
              </a:lnSpc>
              <a:spcBef>
                <a:spcPts val="0"/>
              </a:spcBef>
              <a:spcAft>
                <a:spcPts val="1000"/>
              </a:spcAft>
              <a:buNone/>
            </a:pPr>
            <a:r>
              <a:rPr sz="1500" b="0" i="0" lang="en-US" dirty="0">
                <a:solidFill>
                  <a:srgbClr val="111827"/>
                </a:solidFill>
                <a:latin typeface="Courier New"/>
              </a:rPr>
              <a:t>3x1 - x2 - 2x3 = 4          -&gt;  x1 =  1</a:t>
            </a:r>
          </a:p>
          <a:p>
            <a:pPr algn="l">
              <a:spcBef>
                <a:spcPts val="0"/>
              </a:spcBef>
              <a:spcAft>
                <a:spcPts val="0"/>
              </a:spcAft>
              <a:buNone/>
            </a:pPr>
            <a:r>
              <a:rPr sz="1600" b="0" i="0" lang="en-US" dirty="0">
                <a:solidFill>
                  <a:srgbClr val="111827"/>
                </a:solidFill>
                <a:latin typeface="Calibri"/>
              </a:rPr>
              <a:t>The interchanges are recorded in the permutation vector IP = [3, 1, 2].</a:t>
            </a:r>
          </a:p>
        </p:txBody>
      </p:sp>
      <p:sp>
        <p:nvSpPr>
          <p:cNvPr id="5" name="Result, and a practical note" descr="Result, and a practical note&#10;Solution x = (1, 1, -1). In practice we never move the rows in memory — we move IP and index through it, which is why every library routine returns a permutation alongside the factors."/>
          <p:cNvSpPr/>
          <p:nvPr/>
        </p:nvSpPr>
        <p:spPr>
          <a:xfrm>
            <a:off x="566928" y="4041648"/>
            <a:ext cx="11058113" cy="137160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111827"/>
                </a:solidFill>
                <a:latin typeface="Calibri"/>
              </a:rPr>
              <a:t>Result, and a practical note</a:t>
            </a:r>
          </a:p>
          <a:p>
            <a:pPr algn="l">
              <a:spcBef>
                <a:spcPts val="0"/>
              </a:spcBef>
              <a:spcAft>
                <a:spcPts val="0"/>
              </a:spcAft>
              <a:buNone/>
            </a:pPr>
            <a:r>
              <a:rPr sz="1700" b="0" i="0" lang="en-US" dirty="0">
                <a:solidFill>
                  <a:srgbClr val="111827"/>
                </a:solidFill>
                <a:latin typeface="Calibri"/>
              </a:rPr>
              <a:t>Solution x = (1, 1, -1). In practice we never move the rows in memory — we move IP and index through it, which is why every library routine returns a permutation alongside the factors.</a:t>
            </a:r>
          </a:p>
        </p:txBody>
      </p:sp>
      <p:sp>
        <p:nvSpPr>
          <p:cNvPr id="6" name="MATH 616 · Computational Linear Algebra  ·  Direct Methods f" descr="MATH 616 · Computational Linear Algebra  ·  Direct Methods for Linear Systems  ·  Slide 25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25 of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rtial pivoting can be fooled by scaling" descr="Partial pivoting can be fooled by scaling"/>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Partial pivoting can be fooled by scaling</a:t>
            </a:r>
          </a:p>
        </p:txBody>
      </p:sp>
      <p:sp>
        <p:nvSpPr>
          <p:cNvPr id="3" name="Multiply the first equation of that same system by 10^4 / ε." descr="Multiply the first equation of that same system by 10^4 / ε. The solution is unchanged, but the comparison test now sees a completely different matrix."/>
          <p:cNvSpPr txBox="1"/>
          <p:nvPr/>
        </p:nvSpPr>
        <p:spPr>
          <a:xfrm>
            <a:off x="566928" y="1316736"/>
            <a:ext cx="11058113" cy="457200"/>
          </a:xfrm>
          <a:prstGeom prst="rect">
            <a:avLst/>
          </a:prstGeom>
          <a:noFill/>
        </p:spPr>
        <p:txBody>
          <a:bodyPr wrap="square" lIns="0" rIns="0" tIns="0" bIns="0">
            <a:spAutoFit/>
          </a:bodyPr>
          <a:lstStyle/>
          <a:p>
            <a:pPr algn="l">
              <a:spcBef>
                <a:spcPts val="0"/>
              </a:spcBef>
              <a:spcAft>
                <a:spcPts val="0"/>
              </a:spcAft>
              <a:buNone/>
            </a:pPr>
            <a:r>
              <a:rPr sz="1700" b="0" i="0" lang="en-US" dirty="0">
                <a:solidFill>
                  <a:srgbClr val="3F4B5C"/>
                </a:solidFill>
                <a:latin typeface="Calibri"/>
              </a:rPr>
              <a:t>Multiply the first equation of that same system by 10^4 / ε. The solution is unchanged, but the comparison test now sees a completely different matrix.</a:t>
            </a:r>
          </a:p>
        </p:txBody>
      </p:sp>
      <p:sp>
        <p:nvSpPr>
          <p:cNvPr id="4" name="The rescaled system" descr="The rescaled system&#10;[ 10^4  10^4/eps | (1+eps) 10^4/eps ]&#10;[    2         3 |                5 ]&#10;Since 10^4 &gt; 2, partial pivoting keeps row 1 as the pivot row."/>
          <p:cNvSpPr/>
          <p:nvPr/>
        </p:nvSpPr>
        <p:spPr>
          <a:xfrm>
            <a:off x="566928" y="1920240"/>
            <a:ext cx="5504688"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rescaled system</a:t>
            </a:r>
          </a:p>
          <a:p>
            <a:pPr algn="l">
              <a:lnSpc>
                <a:spcPct val="95000"/>
              </a:lnSpc>
              <a:spcBef>
                <a:spcPts val="0"/>
              </a:spcBef>
              <a:spcAft>
                <a:spcPts val="0"/>
              </a:spcAft>
              <a:buNone/>
            </a:pPr>
            <a:r>
              <a:rPr sz="1400" b="0" i="0" lang="en-US" dirty="0">
                <a:solidFill>
                  <a:srgbClr val="111827"/>
                </a:solidFill>
                <a:latin typeface="Courier New"/>
              </a:rPr>
              <a:t>[ 10^4  10^4/eps | (1+eps) 10^4/eps ]</a:t>
            </a:r>
          </a:p>
          <a:p>
            <a:pPr algn="l">
              <a:lnSpc>
                <a:spcPct val="95000"/>
              </a:lnSpc>
              <a:spcBef>
                <a:spcPts val="0"/>
              </a:spcBef>
              <a:spcAft>
                <a:spcPts val="1000"/>
              </a:spcAft>
              <a:buNone/>
            </a:pPr>
            <a:r>
              <a:rPr sz="1400" b="0" i="0" lang="en-US" dirty="0">
                <a:solidFill>
                  <a:srgbClr val="111827"/>
                </a:solidFill>
                <a:latin typeface="Courier New"/>
              </a:rPr>
              <a:t>[    2         3 |                5 ]</a:t>
            </a:r>
          </a:p>
          <a:p>
            <a:pPr algn="l">
              <a:spcBef>
                <a:spcPts val="0"/>
              </a:spcBef>
              <a:spcAft>
                <a:spcPts val="0"/>
              </a:spcAft>
              <a:buNone/>
            </a:pPr>
            <a:r>
              <a:rPr sz="1500" b="0" i="0" lang="en-US" dirty="0">
                <a:solidFill>
                  <a:srgbClr val="111827"/>
                </a:solidFill>
                <a:latin typeface="Calibri"/>
              </a:rPr>
              <a:t>Since 10^4 &gt; 2, partial pivoting keeps row 1 as the pivot row.</a:t>
            </a:r>
          </a:p>
        </p:txBody>
      </p:sp>
      <p:sp>
        <p:nvSpPr>
          <p:cNvPr id="5" name="And we are back where we started" descr="And we are back where we started&#10;[ 10^4   10^4/eps | (1+eps) 10^4/eps ]&#10;[    0  3 - 2/eps | 5 - 2(1+eps)/eps ]&#10;For small eps this is the same catastrophic cancellation as before, so the answer is wrong again."/>
          <p:cNvSpPr/>
          <p:nvPr/>
        </p:nvSpPr>
        <p:spPr>
          <a:xfrm>
            <a:off x="6400800" y="1920240"/>
            <a:ext cx="5224241" cy="22860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And we are back where we started</a:t>
            </a:r>
          </a:p>
          <a:p>
            <a:pPr algn="l">
              <a:lnSpc>
                <a:spcPct val="95000"/>
              </a:lnSpc>
              <a:spcBef>
                <a:spcPts val="0"/>
              </a:spcBef>
              <a:spcAft>
                <a:spcPts val="0"/>
              </a:spcAft>
              <a:buNone/>
            </a:pPr>
            <a:r>
              <a:rPr sz="1400" b="0" i="0" lang="en-US" dirty="0">
                <a:solidFill>
                  <a:srgbClr val="111827"/>
                </a:solidFill>
                <a:latin typeface="Courier New"/>
              </a:rPr>
              <a:t>[ 10^4   10^4/eps | (1+eps) 10^4/eps ]</a:t>
            </a:r>
          </a:p>
          <a:p>
            <a:pPr algn="l">
              <a:lnSpc>
                <a:spcPct val="95000"/>
              </a:lnSpc>
              <a:spcBef>
                <a:spcPts val="0"/>
              </a:spcBef>
              <a:spcAft>
                <a:spcPts val="1000"/>
              </a:spcAft>
              <a:buNone/>
            </a:pPr>
            <a:r>
              <a:rPr sz="1400" b="0" i="0" lang="en-US" dirty="0">
                <a:solidFill>
                  <a:srgbClr val="111827"/>
                </a:solidFill>
                <a:latin typeface="Courier New"/>
              </a:rPr>
              <a:t>[    0  3 - 2/eps | 5 - 2(1+eps)/eps ]</a:t>
            </a:r>
          </a:p>
          <a:p>
            <a:pPr algn="l">
              <a:spcBef>
                <a:spcPts val="0"/>
              </a:spcBef>
              <a:spcAft>
                <a:spcPts val="0"/>
              </a:spcAft>
              <a:buNone/>
            </a:pPr>
            <a:r>
              <a:rPr sz="1500" b="0" i="0" lang="en-US" dirty="0">
                <a:solidFill>
                  <a:srgbClr val="111827"/>
                </a:solidFill>
                <a:latin typeface="Calibri"/>
              </a:rPr>
              <a:t>For small eps this is the same catastrophic cancellation as before, so the answer is wrong again.</a:t>
            </a:r>
          </a:p>
        </p:txBody>
      </p:sp>
      <p:sp>
        <p:nvSpPr>
          <p:cNvPr id="6" name="The diagnosis" descr="The diagnosis&#10;Comparing raw magnitudes is meaningless if the equations are scaled differently. Each pivot has to be judged relative to the row it lives in."/>
          <p:cNvSpPr/>
          <p:nvPr/>
        </p:nvSpPr>
        <p:spPr>
          <a:xfrm>
            <a:off x="566928" y="4498848"/>
            <a:ext cx="11058113" cy="1207008"/>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7C2D12"/>
                </a:solidFill>
                <a:latin typeface="Calibri"/>
              </a:rPr>
              <a:t>The diagnosis</a:t>
            </a:r>
          </a:p>
          <a:p>
            <a:pPr algn="l">
              <a:spcBef>
                <a:spcPts val="0"/>
              </a:spcBef>
              <a:spcAft>
                <a:spcPts val="0"/>
              </a:spcAft>
              <a:buNone/>
            </a:pPr>
            <a:r>
              <a:rPr sz="1700" b="0" i="0" lang="en-US" dirty="0">
                <a:solidFill>
                  <a:srgbClr val="7C2D12"/>
                </a:solidFill>
                <a:latin typeface="Calibri"/>
              </a:rPr>
              <a:t>Comparing raw magnitudes is meaningless if the equations are scaled differently. Each pivot has to be judged relative to the row it lives in.</a:t>
            </a:r>
          </a:p>
        </p:txBody>
      </p:sp>
      <p:sp>
        <p:nvSpPr>
          <p:cNvPr id="7" name="MATH 616 · Computational Linear Algebra  ·  Direct Methods f" descr="MATH 616 · Computational Linear Algebra  ·  Direct Methods for Linear Systems  ·  Slide 26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26 of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aled-column partial pivoting: the algorithm" descr="Scaled-column partial pivoting: the algorithm"/>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Scaled-column partial pivoting: the algorithm</a:t>
            </a:r>
          </a:p>
        </p:txBody>
      </p:sp>
      <p:sp>
        <p:nvSpPr>
          <p:cNvPr id="3" name="Step 0 — compute the row scales, once, from the original mat" descr="Step 0 — compute the row scales, once, from the original matrix&#10;s_i  =  max { |a_ij| : j = 1, 2, ..., n },   i = 1, 2, ..., n"/>
          <p:cNvSpPr/>
          <p:nvPr/>
        </p:nvSpPr>
        <p:spPr>
          <a:xfrm>
            <a:off x="566928" y="1335024"/>
            <a:ext cx="11058113" cy="1170432"/>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0 — compute the row scales, once, from the original matrix</a:t>
            </a:r>
          </a:p>
          <a:p>
            <a:pPr algn="l">
              <a:lnSpc>
                <a:spcPct val="95000"/>
              </a:lnSpc>
              <a:spcBef>
                <a:spcPts val="0"/>
              </a:spcBef>
              <a:spcAft>
                <a:spcPts val="0"/>
              </a:spcAft>
              <a:buNone/>
            </a:pPr>
            <a:r>
              <a:rPr sz="1600" b="0" i="0" lang="en-US" dirty="0">
                <a:solidFill>
                  <a:srgbClr val="111827"/>
                </a:solidFill>
                <a:latin typeface="Courier New"/>
              </a:rPr>
              <a:t>s_i  =  max { |a_ij| : j = 1, 2, ..., n },   i = 1, 2, ..., n</a:t>
            </a:r>
          </a:p>
        </p:txBody>
      </p:sp>
      <p:sp>
        <p:nvSpPr>
          <p:cNvPr id="4" name="Step i — pivot on the largest entry relative to its own row" descr="Step i — pivot on the largest entry relative to its own row&#10;1  Choose the smallest p with  |a_pi| / s_p  =  max { |a_ji| / s_j : j = i, ..., n },&#10;2  Interchange rows p and i,&#10;3  Apply the usual elimination step."/>
          <p:cNvSpPr/>
          <p:nvPr/>
        </p:nvSpPr>
        <p:spPr>
          <a:xfrm>
            <a:off x="566928" y="2688336"/>
            <a:ext cx="11058113" cy="212140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i — pivot on the largest entry relative to its own row</a:t>
            </a:r>
          </a:p>
          <a:p>
            <a:pPr algn="l" marL="310896" indent="-310896">
              <a:spcBef>
                <a:spcPts val="0"/>
              </a:spcBef>
              <a:spcAft>
                <a:spcPts val="700"/>
              </a:spcAft>
              <a:buNone/>
            </a:pPr>
            <a:r>
              <a:rPr sz="1700" b="0" i="0" lang="en-US" dirty="0">
                <a:solidFill>
                  <a:srgbClr val="111827"/>
                </a:solidFill>
                <a:latin typeface="Calibri"/>
              </a:rPr>
              <a:t>1  Choose the smallest p with  |a_pi| / s_p  =  max { |a_ji| / s_j : j = i, ..., n },</a:t>
            </a:r>
          </a:p>
          <a:p>
            <a:pPr algn="l" marL="310896" indent="-310896">
              <a:spcBef>
                <a:spcPts val="0"/>
              </a:spcBef>
              <a:spcAft>
                <a:spcPts val="700"/>
              </a:spcAft>
              <a:buNone/>
            </a:pPr>
            <a:r>
              <a:rPr sz="1700" b="0" i="0" lang="en-US" dirty="0">
                <a:solidFill>
                  <a:srgbClr val="111827"/>
                </a:solidFill>
                <a:latin typeface="Calibri"/>
              </a:rPr>
              <a:t>2  Interchange rows p and i,</a:t>
            </a:r>
          </a:p>
          <a:p>
            <a:pPr algn="l" marL="310896" indent="-310896">
              <a:spcBef>
                <a:spcPts val="0"/>
              </a:spcBef>
              <a:spcAft>
                <a:spcPts val="0"/>
              </a:spcAft>
              <a:buNone/>
            </a:pPr>
            <a:r>
              <a:rPr sz="1700" b="0" i="0" lang="en-US" dirty="0">
                <a:solidFill>
                  <a:srgbClr val="111827"/>
                </a:solidFill>
                <a:latin typeface="Calibri"/>
              </a:rPr>
              <a:t>3  Apply the usual elimination step.</a:t>
            </a:r>
          </a:p>
        </p:txBody>
      </p:sp>
      <p:sp>
        <p:nvSpPr>
          <p:cNvPr id="5" name="The scales are computed once and never updated — that is wha" descr="The scales are computed once and never updated — that is what keeps the extra cost at O(n^2)."/>
          <p:cNvSpPr/>
          <p:nvPr/>
        </p:nvSpPr>
        <p:spPr>
          <a:xfrm>
            <a:off x="566928" y="4992624"/>
            <a:ext cx="11058113" cy="822960"/>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0"/>
              </a:spcAft>
              <a:buNone/>
            </a:pPr>
            <a:r>
              <a:rPr sz="1700" b="0" i="0" lang="en-US" dirty="0">
                <a:solidFill>
                  <a:srgbClr val="FFFFFF"/>
                </a:solidFill>
                <a:latin typeface="Calibri"/>
              </a:rPr>
              <a:t>The scales are computed once and never updated — that is what keeps the extra cost at O(n^2).</a:t>
            </a:r>
          </a:p>
        </p:txBody>
      </p:sp>
      <p:sp>
        <p:nvSpPr>
          <p:cNvPr id="6" name="MATH 616 · Computational Linear Algebra  ·  Direct Methods f" descr="MATH 616 · Computational Linear Algebra  ·  Direct Methods for Linear Systems  ·  Slide 27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27 of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caled-column partial pivoting: worked example" descr="Scaled-column partial pivoting: worked example"/>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Scaled-column partial pivoting: worked example</a:t>
            </a:r>
          </a:p>
        </p:txBody>
      </p:sp>
      <p:sp>
        <p:nvSpPr>
          <p:cNvPr id="3" name="Steps 0 and 1" descr="Steps 0 and 1&#10;[ 2   1   0 |  3 ]&#10;[ 1  -1   4 | -4 ]&#10;[ 3  -1  -2 |  4 ]&#10;s1 = 2,  s2 = 4,  s3 = 3&#10;max(2/2, 1/4, 3/3) = 1 is attained first at p = 1, so no interchange — note that partial pivoting would have swapped here.&#10;[ 2     1   0 |     3 ]&#10;[ 0  -3/2   4 | -11/2 ]&#10;[ 0  -5/2  -2 |  -1/2 ]"/>
          <p:cNvSpPr/>
          <p:nvPr/>
        </p:nvSpPr>
        <p:spPr>
          <a:xfrm>
            <a:off x="566928" y="1335024"/>
            <a:ext cx="5504688" cy="351129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Steps 0 and 1</a:t>
            </a:r>
          </a:p>
          <a:p>
            <a:pPr algn="l">
              <a:lnSpc>
                <a:spcPct val="95000"/>
              </a:lnSpc>
              <a:spcBef>
                <a:spcPts val="0"/>
              </a:spcBef>
              <a:spcAft>
                <a:spcPts val="0"/>
              </a:spcAft>
              <a:buNone/>
            </a:pPr>
            <a:r>
              <a:rPr sz="1600" b="0" i="0" lang="en-US" dirty="0">
                <a:solidFill>
                  <a:srgbClr val="111827"/>
                </a:solidFill>
                <a:latin typeface="Courier New"/>
              </a:rPr>
              <a:t>[ 2   1   0 |  3 ]</a:t>
            </a:r>
          </a:p>
          <a:p>
            <a:pPr algn="l">
              <a:lnSpc>
                <a:spcPct val="95000"/>
              </a:lnSpc>
              <a:spcBef>
                <a:spcPts val="0"/>
              </a:spcBef>
              <a:spcAft>
                <a:spcPts val="0"/>
              </a:spcAft>
              <a:buNone/>
            </a:pPr>
            <a:r>
              <a:rPr sz="1600" b="0" i="0" lang="en-US" dirty="0">
                <a:solidFill>
                  <a:srgbClr val="111827"/>
                </a:solidFill>
                <a:latin typeface="Courier New"/>
              </a:rPr>
              <a:t>[ 1  -1   4 | -4 ]</a:t>
            </a:r>
          </a:p>
          <a:p>
            <a:pPr algn="l">
              <a:lnSpc>
                <a:spcPct val="95000"/>
              </a:lnSpc>
              <a:spcBef>
                <a:spcPts val="0"/>
              </a:spcBef>
              <a:spcAft>
                <a:spcPts val="900"/>
              </a:spcAft>
              <a:buNone/>
            </a:pPr>
            <a:r>
              <a:rPr sz="1600" b="0" i="0" lang="en-US" dirty="0">
                <a:solidFill>
                  <a:srgbClr val="111827"/>
                </a:solidFill>
                <a:latin typeface="Courier New"/>
              </a:rPr>
              <a:t>[ 3  -1  -2 |  4 ]</a:t>
            </a:r>
          </a:p>
          <a:p>
            <a:pPr algn="l">
              <a:lnSpc>
                <a:spcPct val="95000"/>
              </a:lnSpc>
              <a:spcBef>
                <a:spcPts val="0"/>
              </a:spcBef>
              <a:spcAft>
                <a:spcPts val="900"/>
              </a:spcAft>
              <a:buNone/>
            </a:pPr>
            <a:r>
              <a:rPr sz="1500" b="0" i="0" lang="en-US" dirty="0">
                <a:solidFill>
                  <a:srgbClr val="111827"/>
                </a:solidFill>
                <a:latin typeface="Courier New"/>
              </a:rPr>
              <a:t>s1 = 2,  s2 = 4,  s3 = 3</a:t>
            </a:r>
          </a:p>
          <a:p>
            <a:pPr algn="l">
              <a:spcBef>
                <a:spcPts val="0"/>
              </a:spcBef>
              <a:spcAft>
                <a:spcPts val="900"/>
              </a:spcAft>
              <a:buNone/>
            </a:pPr>
            <a:r>
              <a:rPr sz="1500" b="0" i="0" lang="en-US" dirty="0">
                <a:solidFill>
                  <a:srgbClr val="111827"/>
                </a:solidFill>
                <a:latin typeface="Calibri"/>
              </a:rPr>
              <a:t>max(2/2, 1/4, 3/3) = 1 is attained first at p = 1, so no interchange — note that partial pivoting would have swapped here.</a:t>
            </a:r>
          </a:p>
          <a:p>
            <a:pPr algn="l">
              <a:lnSpc>
                <a:spcPct val="95000"/>
              </a:lnSpc>
              <a:spcBef>
                <a:spcPts val="0"/>
              </a:spcBef>
              <a:spcAft>
                <a:spcPts val="0"/>
              </a:spcAft>
              <a:buNone/>
            </a:pPr>
            <a:r>
              <a:rPr sz="1500" b="0" i="0" lang="en-US" dirty="0">
                <a:solidFill>
                  <a:srgbClr val="111827"/>
                </a:solidFill>
                <a:latin typeface="Courier New"/>
              </a:rPr>
              <a:t>[ 2     1   0 |     3 ]</a:t>
            </a:r>
          </a:p>
          <a:p>
            <a:pPr algn="l">
              <a:lnSpc>
                <a:spcPct val="95000"/>
              </a:lnSpc>
              <a:spcBef>
                <a:spcPts val="0"/>
              </a:spcBef>
              <a:spcAft>
                <a:spcPts val="0"/>
              </a:spcAft>
              <a:buNone/>
            </a:pPr>
            <a:r>
              <a:rPr sz="1500" b="0" i="0" lang="en-US" dirty="0">
                <a:solidFill>
                  <a:srgbClr val="111827"/>
                </a:solidFill>
                <a:latin typeface="Courier New"/>
              </a:rPr>
              <a:t>[ 0  -3/2   4 | -11/2 ]</a:t>
            </a:r>
          </a:p>
          <a:p>
            <a:pPr algn="l">
              <a:lnSpc>
                <a:spcPct val="95000"/>
              </a:lnSpc>
              <a:spcBef>
                <a:spcPts val="0"/>
              </a:spcBef>
              <a:spcAft>
                <a:spcPts val="0"/>
              </a:spcAft>
              <a:buNone/>
            </a:pPr>
            <a:r>
              <a:rPr sz="1500" b="0" i="0" lang="en-US" dirty="0">
                <a:solidFill>
                  <a:srgbClr val="111827"/>
                </a:solidFill>
                <a:latin typeface="Courier New"/>
              </a:rPr>
              <a:t>[ 0  -5/2  -2 |  -1/2 ]</a:t>
            </a:r>
          </a:p>
        </p:txBody>
      </p:sp>
      <p:sp>
        <p:nvSpPr>
          <p:cNvPr id="4" name="Step 2" descr="Step 2&#10;Compare (3/2)/s2 = 0.375 against (5/2)/s3 = 0.833, so p = 3: interchange E2 and E3.&#10;[ 2     1   0 |     3 ]&#10;[ 0  -5/2  -2 |  -1/2 ]&#10;[ 0  -3/2   4 | -11/2 ]&#10;E3 - (3/5) E2  -&gt;  E3&#10;[ 2     1     0 |     3 ]&#10;[ 0  -5/2    -2 |  -1/2 ]&#10;[ 0     0  26/5 | -26/5 ]"/>
          <p:cNvSpPr/>
          <p:nvPr/>
        </p:nvSpPr>
        <p:spPr>
          <a:xfrm>
            <a:off x="6400800" y="1335024"/>
            <a:ext cx="5224241" cy="351129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2</a:t>
            </a:r>
          </a:p>
          <a:p>
            <a:pPr algn="l">
              <a:spcBef>
                <a:spcPts val="0"/>
              </a:spcBef>
              <a:spcAft>
                <a:spcPts val="900"/>
              </a:spcAft>
              <a:buNone/>
            </a:pPr>
            <a:r>
              <a:rPr sz="1500" b="0" i="0" lang="en-US" dirty="0">
                <a:solidFill>
                  <a:srgbClr val="111827"/>
                </a:solidFill>
                <a:latin typeface="Calibri"/>
              </a:rPr>
              <a:t>Compare (3/2)/s2 = 0.375 against (5/2)/s3 = 0.833, so p = 3: interchange E2 and E3.</a:t>
            </a:r>
          </a:p>
          <a:p>
            <a:pPr algn="l">
              <a:lnSpc>
                <a:spcPct val="95000"/>
              </a:lnSpc>
              <a:spcBef>
                <a:spcPts val="0"/>
              </a:spcBef>
              <a:spcAft>
                <a:spcPts val="0"/>
              </a:spcAft>
              <a:buNone/>
            </a:pPr>
            <a:r>
              <a:rPr sz="1500" b="0" i="0" lang="en-US" dirty="0">
                <a:solidFill>
                  <a:srgbClr val="111827"/>
                </a:solidFill>
                <a:latin typeface="Courier New"/>
              </a:rPr>
              <a:t>[ 2     1   0 |     3 ]</a:t>
            </a:r>
          </a:p>
          <a:p>
            <a:pPr algn="l">
              <a:lnSpc>
                <a:spcPct val="95000"/>
              </a:lnSpc>
              <a:spcBef>
                <a:spcPts val="0"/>
              </a:spcBef>
              <a:spcAft>
                <a:spcPts val="0"/>
              </a:spcAft>
              <a:buNone/>
            </a:pPr>
            <a:r>
              <a:rPr sz="1500" b="0" i="0" lang="en-US" dirty="0">
                <a:solidFill>
                  <a:srgbClr val="111827"/>
                </a:solidFill>
                <a:latin typeface="Courier New"/>
              </a:rPr>
              <a:t>[ 0  -5/2  -2 |  -1/2 ]</a:t>
            </a:r>
          </a:p>
          <a:p>
            <a:pPr algn="l">
              <a:lnSpc>
                <a:spcPct val="95000"/>
              </a:lnSpc>
              <a:spcBef>
                <a:spcPts val="0"/>
              </a:spcBef>
              <a:spcAft>
                <a:spcPts val="900"/>
              </a:spcAft>
              <a:buNone/>
            </a:pPr>
            <a:r>
              <a:rPr sz="1500" b="0" i="0" lang="en-US" dirty="0">
                <a:solidFill>
                  <a:srgbClr val="111827"/>
                </a:solidFill>
                <a:latin typeface="Courier New"/>
              </a:rPr>
              <a:t>[ 0  -3/2   4 | -11/2 ]</a:t>
            </a:r>
          </a:p>
          <a:p>
            <a:pPr algn="l">
              <a:lnSpc>
                <a:spcPct val="95000"/>
              </a:lnSpc>
              <a:spcBef>
                <a:spcPts val="0"/>
              </a:spcBef>
              <a:spcAft>
                <a:spcPts val="900"/>
              </a:spcAft>
              <a:buNone/>
            </a:pPr>
            <a:r>
              <a:rPr sz="1500" b="0" i="0" lang="en-US" dirty="0">
                <a:solidFill>
                  <a:srgbClr val="111827"/>
                </a:solidFill>
                <a:latin typeface="Courier New"/>
              </a:rPr>
              <a:t>E3 - (3/5) E2  -&gt;  E3</a:t>
            </a:r>
          </a:p>
          <a:p>
            <a:pPr algn="l">
              <a:lnSpc>
                <a:spcPct val="95000"/>
              </a:lnSpc>
              <a:spcBef>
                <a:spcPts val="0"/>
              </a:spcBef>
              <a:spcAft>
                <a:spcPts val="0"/>
              </a:spcAft>
              <a:buNone/>
            </a:pPr>
            <a:r>
              <a:rPr sz="1500" b="0" i="0" lang="en-US" dirty="0">
                <a:solidFill>
                  <a:srgbClr val="111827"/>
                </a:solidFill>
                <a:latin typeface="Courier New"/>
              </a:rPr>
              <a:t>[ 2     1     0 |     3 ]</a:t>
            </a:r>
          </a:p>
          <a:p>
            <a:pPr algn="l">
              <a:lnSpc>
                <a:spcPct val="95000"/>
              </a:lnSpc>
              <a:spcBef>
                <a:spcPts val="0"/>
              </a:spcBef>
              <a:spcAft>
                <a:spcPts val="0"/>
              </a:spcAft>
              <a:buNone/>
            </a:pPr>
            <a:r>
              <a:rPr sz="1500" b="0" i="0" lang="en-US" dirty="0">
                <a:solidFill>
                  <a:srgbClr val="111827"/>
                </a:solidFill>
                <a:latin typeface="Courier New"/>
              </a:rPr>
              <a:t>[ 0  -5/2    -2 |  -1/2 ]</a:t>
            </a:r>
          </a:p>
          <a:p>
            <a:pPr algn="l">
              <a:lnSpc>
                <a:spcPct val="95000"/>
              </a:lnSpc>
              <a:spcBef>
                <a:spcPts val="0"/>
              </a:spcBef>
              <a:spcAft>
                <a:spcPts val="0"/>
              </a:spcAft>
              <a:buNone/>
            </a:pPr>
            <a:r>
              <a:rPr sz="1500" b="0" i="0" lang="en-US" dirty="0">
                <a:solidFill>
                  <a:srgbClr val="111827"/>
                </a:solidFill>
                <a:latin typeface="Courier New"/>
              </a:rPr>
              <a:t>[ 0     0  26/5 | -26/5 ]</a:t>
            </a:r>
          </a:p>
        </p:txBody>
      </p:sp>
      <p:sp>
        <p:nvSpPr>
          <p:cNvPr id="5" name="Backward substitution gives x = (1, 1, -1) — the same soluti" descr="Backward substitution gives x = (1, 1, -1) — the same solution, reached through a different sequence of pivots."/>
          <p:cNvSpPr/>
          <p:nvPr/>
        </p:nvSpPr>
        <p:spPr>
          <a:xfrm>
            <a:off x="566928" y="5029200"/>
            <a:ext cx="11058113" cy="786384"/>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0"/>
              </a:spcAft>
              <a:buNone/>
            </a:pPr>
            <a:r>
              <a:rPr sz="1700" b="0" i="0" lang="en-US" dirty="0">
                <a:solidFill>
                  <a:srgbClr val="111827"/>
                </a:solidFill>
                <a:latin typeface="Calibri"/>
              </a:rPr>
              <a:t>Backward substitution gives x = (1, 1, -1) — the same solution, reached through a different sequence of pivots.</a:t>
            </a:r>
          </a:p>
        </p:txBody>
      </p:sp>
      <p:sp>
        <p:nvSpPr>
          <p:cNvPr id="6" name="MATH 616 · Computational Linear Algebra  ·  Direct Methods f" descr="MATH 616 · Computational Linear Algebra  ·  Direct Methods for Linear Systems  ·  Slide 28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28 of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unting the work: the elimination" descr="Counting the work: the eliminatio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Counting the work: the elimination</a:t>
            </a:r>
          </a:p>
        </p:txBody>
      </p:sp>
      <p:sp>
        <p:nvSpPr>
          <p:cNvPr id="3" name="At step i the active block has n - i rows and n - i + 2 colu" descr="At step i the active block has n - i rows and n - i + 2 columns, counting the right-hand side."/>
          <p:cNvSpPr txBox="1"/>
          <p:nvPr/>
        </p:nvSpPr>
        <p:spPr>
          <a:xfrm>
            <a:off x="566928" y="1316736"/>
            <a:ext cx="11058113" cy="457200"/>
          </a:xfrm>
          <a:prstGeom prst="rect">
            <a:avLst/>
          </a:prstGeom>
          <a:noFill/>
        </p:spPr>
        <p:txBody>
          <a:bodyPr wrap="square" lIns="0" rIns="0" tIns="0" bIns="0">
            <a:spAutoFit/>
          </a:bodyPr>
          <a:lstStyle/>
          <a:p>
            <a:pPr algn="l">
              <a:spcBef>
                <a:spcPts val="0"/>
              </a:spcBef>
              <a:spcAft>
                <a:spcPts val="0"/>
              </a:spcAft>
              <a:buNone/>
            </a:pPr>
            <a:r>
              <a:rPr sz="1700" b="0" i="0" lang="en-US" dirty="0">
                <a:solidFill>
                  <a:srgbClr val="3F4B5C"/>
                </a:solidFill>
                <a:latin typeface="Calibri"/>
              </a:rPr>
              <a:t>At step i the active block has n - i rows and n - i + 2 columns, counting the right-hand side.</a:t>
            </a:r>
          </a:p>
        </p:txBody>
      </p:sp>
      <p:sp>
        <p:nvSpPr>
          <p:cNvPr id="4" name="Operations in step i" descr="Operations in step i&#10;multiply / divide :  (n-i) + (n-i)(n-i+1)  =  (n-i)(n-i+2)&#10;add / subtract    :  (n-i)(n-i+1)"/>
          <p:cNvSpPr/>
          <p:nvPr/>
        </p:nvSpPr>
        <p:spPr>
          <a:xfrm>
            <a:off x="566928" y="1847088"/>
            <a:ext cx="11058113" cy="13716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Operations in step i</a:t>
            </a:r>
          </a:p>
          <a:p>
            <a:pPr algn="l">
              <a:lnSpc>
                <a:spcPct val="95000"/>
              </a:lnSpc>
              <a:spcBef>
                <a:spcPts val="0"/>
              </a:spcBef>
              <a:spcAft>
                <a:spcPts val="0"/>
              </a:spcAft>
              <a:buNone/>
            </a:pPr>
            <a:r>
              <a:rPr sz="1500" b="0" i="0" lang="en-US" dirty="0">
                <a:solidFill>
                  <a:srgbClr val="111827"/>
                </a:solidFill>
                <a:latin typeface="Courier New"/>
              </a:rPr>
              <a:t>multiply / divide :  (n-i) + (n-i)(n-i+1)  =  (n-i)(n-i+2)</a:t>
            </a:r>
          </a:p>
          <a:p>
            <a:pPr algn="l">
              <a:lnSpc>
                <a:spcPct val="95000"/>
              </a:lnSpc>
              <a:spcBef>
                <a:spcPts val="0"/>
              </a:spcBef>
              <a:spcAft>
                <a:spcPts val="0"/>
              </a:spcAft>
              <a:buNone/>
            </a:pPr>
            <a:r>
              <a:rPr sz="1500" b="0" i="0" lang="en-US" dirty="0">
                <a:solidFill>
                  <a:srgbClr val="111827"/>
                </a:solidFill>
                <a:latin typeface="Courier New"/>
              </a:rPr>
              <a:t>add / subtract    :  (n-i)(n-i+1)</a:t>
            </a:r>
          </a:p>
        </p:txBody>
      </p:sp>
      <p:sp>
        <p:nvSpPr>
          <p:cNvPr id="5" name="Summing over i = 1, ..., n-1" descr="Summing over i = 1, ..., n-1&#10;sum (n-i)(n-i+2)  =  (2n^3 + 3n^2 - 5n)/6   ~  n^3/3   multiply / divide&#10;sum (n-i)(n-i+1)  =  (n^3 - n)/3            ~  n^3/3   add / subtract&#10;The sums use the identities  Σ 1 = m,  Σ j = m(m+1)/2  and  Σ j^2 = m(m+1)(2m+1)/6, the last proved by induction."/>
          <p:cNvSpPr/>
          <p:nvPr/>
        </p:nvSpPr>
        <p:spPr>
          <a:xfrm>
            <a:off x="566928" y="3401568"/>
            <a:ext cx="11058113" cy="1883664"/>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Summing over i = 1, ..., n-1</a:t>
            </a:r>
          </a:p>
          <a:p>
            <a:pPr algn="l">
              <a:lnSpc>
                <a:spcPct val="95000"/>
              </a:lnSpc>
              <a:spcBef>
                <a:spcPts val="0"/>
              </a:spcBef>
              <a:spcAft>
                <a:spcPts val="0"/>
              </a:spcAft>
              <a:buNone/>
            </a:pPr>
            <a:r>
              <a:rPr sz="1500" b="0" i="0" lang="en-US" dirty="0">
                <a:solidFill>
                  <a:srgbClr val="111827"/>
                </a:solidFill>
                <a:latin typeface="Courier New"/>
              </a:rPr>
              <a:t>sum (n-i)(n-i+2)  =  (2n^3 + 3n^2 - 5n)/6   ~  n^3/3   multiply / divide</a:t>
            </a:r>
          </a:p>
          <a:p>
            <a:pPr algn="l">
              <a:lnSpc>
                <a:spcPct val="95000"/>
              </a:lnSpc>
              <a:spcBef>
                <a:spcPts val="0"/>
              </a:spcBef>
              <a:spcAft>
                <a:spcPts val="1000"/>
              </a:spcAft>
              <a:buNone/>
            </a:pPr>
            <a:r>
              <a:rPr sz="1500" b="0" i="0" lang="en-US" dirty="0">
                <a:solidFill>
                  <a:srgbClr val="111827"/>
                </a:solidFill>
                <a:latin typeface="Courier New"/>
              </a:rPr>
              <a:t>sum (n-i)(n-i+1)  =  (n^3 - n)/3            ~  n^3/3   add / subtract</a:t>
            </a:r>
          </a:p>
          <a:p>
            <a:pPr algn="l">
              <a:spcBef>
                <a:spcPts val="0"/>
              </a:spcBef>
              <a:spcAft>
                <a:spcPts val="0"/>
              </a:spcAft>
              <a:buNone/>
            </a:pPr>
            <a:r>
              <a:rPr sz="1600" b="0" i="0" lang="en-US" dirty="0">
                <a:solidFill>
                  <a:srgbClr val="111827"/>
                </a:solidFill>
                <a:latin typeface="Calibri"/>
              </a:rPr>
              <a:t>The sums use the identities  Σ 1 = m,  Σ j = m(m+1)/2  and  Σ j^2 = m(m+1)(2m+1)/6, the last proved by induction.</a:t>
            </a:r>
          </a:p>
        </p:txBody>
      </p:sp>
      <p:sp>
        <p:nvSpPr>
          <p:cNvPr id="6" name="MATH 616 · Computational Linear Algebra  ·  Direct Methods f" descr="MATH 616 · Computational Linear Algebra  ·  Direct Methods for Linear Systems  ·  Slide 29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29 of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unting the work: totals and what they mean" descr="Counting the work: totals and what they mean"/>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Counting the work: totals and what they mean</a:t>
            </a:r>
          </a:p>
        </p:txBody>
      </p:sp>
      <p:sp>
        <p:nvSpPr>
          <p:cNvPr id="3" name="Backward substitution" descr="Backward substitution&#10;multiply / divide :  (n^2 + n)/2&#10;add / subtract    :  (n^2 - n)/2&#10;Whole solve&#10;multiply / divide :  n^3/3 + n^2 - n/3&#10;add / subtract    :  n^3/3 + n^2/2 - 5n/6&#10;partial pivoting  :  n(n-1)/2 comparisons"/>
          <p:cNvSpPr/>
          <p:nvPr/>
        </p:nvSpPr>
        <p:spPr>
          <a:xfrm>
            <a:off x="566928" y="1335024"/>
            <a:ext cx="5504688" cy="27432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Backward substitution</a:t>
            </a:r>
          </a:p>
          <a:p>
            <a:pPr algn="l">
              <a:lnSpc>
                <a:spcPct val="95000"/>
              </a:lnSpc>
              <a:spcBef>
                <a:spcPts val="0"/>
              </a:spcBef>
              <a:spcAft>
                <a:spcPts val="0"/>
              </a:spcAft>
              <a:buNone/>
            </a:pPr>
            <a:r>
              <a:rPr sz="1500" b="0" i="0" lang="en-US" dirty="0">
                <a:solidFill>
                  <a:srgbClr val="111827"/>
                </a:solidFill>
                <a:latin typeface="Courier New"/>
              </a:rPr>
              <a:t>multiply / divide :  (n^2 + n)/2</a:t>
            </a:r>
          </a:p>
          <a:p>
            <a:pPr algn="l">
              <a:lnSpc>
                <a:spcPct val="95000"/>
              </a:lnSpc>
              <a:spcBef>
                <a:spcPts val="0"/>
              </a:spcBef>
              <a:spcAft>
                <a:spcPts val="1200"/>
              </a:spcAft>
              <a:buNone/>
            </a:pPr>
            <a:r>
              <a:rPr sz="1500" b="0" i="0" lang="en-US" dirty="0">
                <a:solidFill>
                  <a:srgbClr val="111827"/>
                </a:solidFill>
                <a:latin typeface="Courier New"/>
              </a:rPr>
              <a:t>add / subtract    :  (n^2 - n)/2</a:t>
            </a:r>
          </a:p>
          <a:p>
            <a:pPr algn="l">
              <a:spcBef>
                <a:spcPts val="0"/>
              </a:spcBef>
              <a:spcAft>
                <a:spcPts val="700"/>
              </a:spcAft>
              <a:buNone/>
            </a:pPr>
            <a:r>
              <a:rPr sz="1700" b="1" i="0" lang="en-US" dirty="0">
                <a:solidFill>
                  <a:srgbClr val="083D62"/>
                </a:solidFill>
                <a:latin typeface="Calibri"/>
              </a:rPr>
              <a:t>Whole solve</a:t>
            </a:r>
          </a:p>
          <a:p>
            <a:pPr algn="l">
              <a:lnSpc>
                <a:spcPct val="95000"/>
              </a:lnSpc>
              <a:spcBef>
                <a:spcPts val="0"/>
              </a:spcBef>
              <a:spcAft>
                <a:spcPts val="0"/>
              </a:spcAft>
              <a:buNone/>
            </a:pPr>
            <a:r>
              <a:rPr sz="1500" b="0" i="0" lang="en-US" dirty="0">
                <a:solidFill>
                  <a:srgbClr val="111827"/>
                </a:solidFill>
                <a:latin typeface="Courier New"/>
              </a:rPr>
              <a:t>multiply / divide :  n^3/3 + n^2 - n/3</a:t>
            </a:r>
          </a:p>
          <a:p>
            <a:pPr algn="l">
              <a:lnSpc>
                <a:spcPct val="95000"/>
              </a:lnSpc>
              <a:spcBef>
                <a:spcPts val="0"/>
              </a:spcBef>
              <a:spcAft>
                <a:spcPts val="1000"/>
              </a:spcAft>
              <a:buNone/>
            </a:pPr>
            <a:r>
              <a:rPr sz="1500" b="0" i="0" lang="en-US" dirty="0">
                <a:solidFill>
                  <a:srgbClr val="111827"/>
                </a:solidFill>
                <a:latin typeface="Courier New"/>
              </a:rPr>
              <a:t>add / subtract    :  n^3/3 + n^2/2 - 5n/6</a:t>
            </a:r>
          </a:p>
          <a:p>
            <a:pPr algn="l">
              <a:lnSpc>
                <a:spcPct val="95000"/>
              </a:lnSpc>
              <a:spcBef>
                <a:spcPts val="0"/>
              </a:spcBef>
              <a:spcAft>
                <a:spcPts val="0"/>
              </a:spcAft>
              <a:buNone/>
            </a:pPr>
            <a:r>
              <a:rPr sz="1500" b="0" i="0" lang="en-US" dirty="0">
                <a:solidFill>
                  <a:srgbClr val="111827"/>
                </a:solidFill>
                <a:latin typeface="Courier New"/>
              </a:rPr>
              <a:t>partial pivoting  :  n(n-1)/2 comparisons</a:t>
            </a:r>
          </a:p>
        </p:txBody>
      </p:sp>
      <p:sp>
        <p:nvSpPr>
          <p:cNvPr id="4" name="Remarks" descr="Remarks&#10;▸  A comparison costs about as much as an addition.&#10;▸  A multiplication or division costs more than an addition on most hardware, though NumPy hides the difference.&#10;▸  The elimination dominates: it is O(n^3) against the O(n^2) of both substitution and pivoting.&#10;▸  Backward substitution needs about n^2/2 multiplications and n^2/2 additions."/>
          <p:cNvSpPr/>
          <p:nvPr/>
        </p:nvSpPr>
        <p:spPr>
          <a:xfrm>
            <a:off x="6400800" y="1335024"/>
            <a:ext cx="5224241" cy="27432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Remarks</a:t>
            </a:r>
          </a:p>
          <a:p>
            <a:pPr algn="l" marL="274320" indent="-274320">
              <a:spcBef>
                <a:spcPts val="0"/>
              </a:spcBef>
              <a:spcAft>
                <a:spcPts val="600"/>
              </a:spcAft>
              <a:buNone/>
            </a:pPr>
            <a:r>
              <a:rPr sz="1600" b="0" i="0" lang="en-US" dirty="0">
                <a:solidFill>
                  <a:srgbClr val="111827"/>
                </a:solidFill>
                <a:latin typeface="Calibri"/>
              </a:rPr>
              <a:t>▸  A comparison costs about as much as an addition.</a:t>
            </a:r>
          </a:p>
          <a:p>
            <a:pPr algn="l" marL="274320" indent="-274320">
              <a:spcBef>
                <a:spcPts val="0"/>
              </a:spcBef>
              <a:spcAft>
                <a:spcPts val="600"/>
              </a:spcAft>
              <a:buNone/>
            </a:pPr>
            <a:r>
              <a:rPr sz="1600" b="0" i="0" lang="en-US" dirty="0">
                <a:solidFill>
                  <a:srgbClr val="111827"/>
                </a:solidFill>
                <a:latin typeface="Calibri"/>
              </a:rPr>
              <a:t>▸  A multiplication or division costs more than an addition on most hardware, though NumPy hides the difference.</a:t>
            </a:r>
          </a:p>
          <a:p>
            <a:pPr algn="l" marL="274320" indent="-274320">
              <a:spcBef>
                <a:spcPts val="0"/>
              </a:spcBef>
              <a:spcAft>
                <a:spcPts val="600"/>
              </a:spcAft>
              <a:buNone/>
            </a:pPr>
            <a:r>
              <a:rPr sz="1600" b="0" i="0" lang="en-US" dirty="0">
                <a:solidFill>
                  <a:srgbClr val="111827"/>
                </a:solidFill>
                <a:latin typeface="Calibri"/>
              </a:rPr>
              <a:t>▸  The elimination dominates: it is O(n^3) against the O(n^2) of both substitution and pivoting.</a:t>
            </a:r>
          </a:p>
          <a:p>
            <a:pPr algn="l" marL="274320" indent="-274320">
              <a:spcBef>
                <a:spcPts val="0"/>
              </a:spcBef>
              <a:spcAft>
                <a:spcPts val="0"/>
              </a:spcAft>
              <a:buNone/>
            </a:pPr>
            <a:r>
              <a:rPr sz="1600" b="0" i="0" lang="en-US" dirty="0">
                <a:solidFill>
                  <a:srgbClr val="111827"/>
                </a:solidFill>
                <a:latin typeface="Calibri"/>
              </a:rPr>
              <a:t>▸  Backward substitution needs about n^2/2 multiplications and n^2/2 additions.</a:t>
            </a:r>
          </a:p>
        </p:txBody>
      </p:sp>
      <p:sp>
        <p:nvSpPr>
          <p:cNvPr id="5" name="The number to remember: n^3/3" descr="The number to remember: n^3/3&#10;Doubling n multiplies the work by roughly eight. This single fact is why we factor a matrix once and reuse the factors — the subject of the next lecture."/>
          <p:cNvSpPr/>
          <p:nvPr/>
        </p:nvSpPr>
        <p:spPr>
          <a:xfrm>
            <a:off x="566928" y="4315968"/>
            <a:ext cx="11058113" cy="1371600"/>
          </a:xfrm>
          <a:prstGeom prst="roundRect">
            <a:avLst>
              <a:gd name="adj" fmla="val 3500"/>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FFFFFF"/>
                </a:solidFill>
                <a:latin typeface="Calibri"/>
              </a:rPr>
              <a:t>The number to remember: n^3/3</a:t>
            </a:r>
          </a:p>
          <a:p>
            <a:pPr algn="l">
              <a:spcBef>
                <a:spcPts val="0"/>
              </a:spcBef>
              <a:spcAft>
                <a:spcPts val="0"/>
              </a:spcAft>
              <a:buNone/>
            </a:pPr>
            <a:r>
              <a:rPr sz="1700" b="0" i="0" lang="en-US" dirty="0">
                <a:solidFill>
                  <a:srgbClr val="FFFFFF"/>
                </a:solidFill>
                <a:latin typeface="Calibri"/>
              </a:rPr>
              <a:t>Doubling n multiplies the work by roughly eight. This single fact is why we factor a matrix once and reuse the factors — the subject of the next lecture.</a:t>
            </a:r>
          </a:p>
        </p:txBody>
      </p:sp>
      <p:sp>
        <p:nvSpPr>
          <p:cNvPr id="6" name="MATH 616 · Computational Linear Algebra  ·  Direct Methods f" descr="MATH 616 · Computational Linear Algebra  ·  Direct Methods for Linear Systems  ·  Slide 30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30 of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83D62"/>
        </a:solidFill>
        <a:effectLst/>
      </p:bgPr>
    </p:bg>
    <p:spTree>
      <p:nvGrpSpPr>
        <p:cNvPr id="1" name=""/>
        <p:cNvGrpSpPr/>
        <p:nvPr/>
      </p:nvGrpSpPr>
      <p:grpSpPr/>
      <p:sp>
        <p:nvSpPr>
          <p:cNvPr id="2" name="Solving systems with multiple right-hand sides" descr="Solving systems with multiple right-hand sides"/>
          <p:cNvSpPr>
            <a:spLocks noGrp="1"/>
          </p:cNvSpPr>
          <p:nvPr>
            <p:ph type="title"/>
          </p:nvPr>
        </p:nvSpPr>
        <p:spPr>
          <a:xfrm>
            <a:off x="566928" y="2212848"/>
            <a:ext cx="11058113" cy="1133856"/>
          </a:xfrm>
        </p:spPr>
        <p:txBody>
          <a:bodyPr wrap="square" lIns="0" rIns="0" tIns="0" bIns="0" anchor="ctr"/>
          <a:lstStyle/>
          <a:p>
            <a:pPr algn="l"/>
            <a:r>
              <a:rPr sz="3200" b="1" lang="en-US" dirty="0">
                <a:solidFill>
                  <a:srgbClr val="FFFFFF"/>
                </a:solidFill>
                <a:latin typeface="Calibri"/>
              </a:rPr>
              <a:t>Solving systems with multiple right-hand sides</a:t>
            </a:r>
          </a:p>
        </p:txBody>
      </p:sp>
      <p:sp>
        <p:nvSpPr>
          <p:cNvPr id="3" name="Topic 4" descr="Topic 4"/>
          <p:cNvSpPr txBox="1"/>
          <p:nvPr/>
        </p:nvSpPr>
        <p:spPr>
          <a:xfrm>
            <a:off x="566928" y="1792224"/>
            <a:ext cx="11058113" cy="365760"/>
          </a:xfrm>
          <a:prstGeom prst="rect">
            <a:avLst/>
          </a:prstGeom>
          <a:noFill/>
        </p:spPr>
        <p:txBody>
          <a:bodyPr wrap="square" lIns="0" rIns="0" tIns="0" bIns="0">
            <a:spAutoFit/>
          </a:bodyPr>
          <a:lstStyle/>
          <a:p>
            <a:pPr algn="l">
              <a:spcBef>
                <a:spcPts val="0"/>
              </a:spcBef>
              <a:spcAft>
                <a:spcPts val="0"/>
              </a:spcAft>
              <a:buNone/>
            </a:pPr>
            <a:r>
              <a:rPr sz="2000" b="0" i="0" lang="en-US" dirty="0">
                <a:solidFill>
                  <a:srgbClr val="D7E4EE"/>
                </a:solidFill>
                <a:latin typeface="Calibri"/>
              </a:rPr>
              <a:t>Topic 4</a:t>
            </a:r>
          </a:p>
        </p:txBody>
      </p:sp>
      <p:sp>
        <p:nvSpPr>
          <p:cNvPr id="4" name="▸  One elimination, many right-hand sides — if they are all " descr="▸  One elimination, many right-hand sides — if they are all available at once&#10;▸  Computing A inverse by solving A X = I&#10;▸  Why the inverse costs about four times a single solve"/>
          <p:cNvSpPr/>
          <p:nvPr/>
        </p:nvSpPr>
        <p:spPr>
          <a:xfrm>
            <a:off x="566928" y="3730752"/>
            <a:ext cx="11058113" cy="1892808"/>
          </a:xfrm>
          <a:prstGeom prst="roundRect">
            <a:avLst>
              <a:gd name="adj" fmla="val 3500"/>
            </a:avLst>
          </a:prstGeom>
          <a:solidFill>
            <a:srgbClr val="104E7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marL="274320" indent="-274320">
              <a:spcBef>
                <a:spcPts val="0"/>
              </a:spcBef>
              <a:spcAft>
                <a:spcPts val="700"/>
              </a:spcAft>
              <a:buNone/>
            </a:pPr>
            <a:r>
              <a:rPr sz="1700" b="0" i="0" lang="en-US" dirty="0">
                <a:solidFill>
                  <a:srgbClr val="FFFFFF"/>
                </a:solidFill>
                <a:latin typeface="Calibri"/>
              </a:rPr>
              <a:t>▸  One elimination, many right-hand sides — if they are all available at once</a:t>
            </a:r>
          </a:p>
          <a:p>
            <a:pPr algn="l" marL="274320" indent="-274320">
              <a:spcBef>
                <a:spcPts val="0"/>
              </a:spcBef>
              <a:spcAft>
                <a:spcPts val="700"/>
              </a:spcAft>
              <a:buNone/>
            </a:pPr>
            <a:r>
              <a:rPr sz="1700" b="0" i="0" lang="en-US" dirty="0">
                <a:solidFill>
                  <a:srgbClr val="FFFFFF"/>
                </a:solidFill>
                <a:latin typeface="Calibri"/>
              </a:rPr>
              <a:t>▸  Computing A inverse by solving A X = I</a:t>
            </a:r>
          </a:p>
          <a:p>
            <a:pPr algn="l" marL="274320" indent="-274320">
              <a:spcBef>
                <a:spcPts val="0"/>
              </a:spcBef>
              <a:spcAft>
                <a:spcPts val="700"/>
              </a:spcAft>
              <a:buNone/>
            </a:pPr>
            <a:r>
              <a:rPr sz="1700" b="0" i="0" lang="en-US" dirty="0">
                <a:solidFill>
                  <a:srgbClr val="FFFFFF"/>
                </a:solidFill>
                <a:latin typeface="Calibri"/>
              </a:rPr>
              <a:t>▸  Why the inverse costs about four times a single solve</a:t>
            </a:r>
          </a:p>
        </p:txBody>
      </p:sp>
      <p:sp>
        <p:nvSpPr>
          <p:cNvPr id="5" name="MATH 616 · Computational Linear Algebra  ·  Direct Methods f" descr="MATH 616 · Computational Linear Algebra  ·  Direct Methods for Linear Systems  ·  Slide 31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C7D6E2"/>
                </a:solidFill>
                <a:latin typeface="Calibri"/>
              </a:rPr>
              <a:t>MATH 616 · Computational Linear Algebra  ·  Direct Methods for Linear Systems  ·  Slide 31 of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ne elimination, many right-hand sides" descr="One elimination, many right-hand sides"/>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One elimination, many right-hand sides</a:t>
            </a:r>
          </a:p>
        </p:txBody>
      </p:sp>
      <p:sp>
        <p:nvSpPr>
          <p:cNvPr id="3" name="Suppose we must solve A x = b_1, ..., A x = b_m with the sam" descr="Suppose we must solve A x = b_1, ..., A x = b_m with the same matrix A. If every b_k is known in advance, eliminate once on the wide augmented matrix."/>
          <p:cNvSpPr txBox="1"/>
          <p:nvPr/>
        </p:nvSpPr>
        <p:spPr>
          <a:xfrm>
            <a:off x="566928" y="1316736"/>
            <a:ext cx="11058113" cy="457200"/>
          </a:xfrm>
          <a:prstGeom prst="rect">
            <a:avLst/>
          </a:prstGeom>
          <a:noFill/>
        </p:spPr>
        <p:txBody>
          <a:bodyPr wrap="square" lIns="0" rIns="0" tIns="0" bIns="0">
            <a:spAutoFit/>
          </a:bodyPr>
          <a:lstStyle/>
          <a:p>
            <a:pPr algn="l">
              <a:spcBef>
                <a:spcPts val="0"/>
              </a:spcBef>
              <a:spcAft>
                <a:spcPts val="0"/>
              </a:spcAft>
              <a:buNone/>
            </a:pPr>
            <a:r>
              <a:rPr sz="1700" b="0" i="0" lang="en-US" dirty="0">
                <a:solidFill>
                  <a:srgbClr val="3F4B5C"/>
                </a:solidFill>
                <a:latin typeface="Calibri"/>
              </a:rPr>
              <a:t>Suppose we must solve A x = b_1, ..., A x = b_m with the same matrix A. If every b_k is known in advance, eliminate once on the wide augmented matrix.</a:t>
            </a:r>
          </a:p>
        </p:txBody>
      </p:sp>
      <p:sp>
        <p:nvSpPr>
          <p:cNvPr id="4" name="The augmented form  [ A | b_1  b_2  ...  b_m ]" descr="The augmented form  [ A | b_1  b_2  ...  b_m ]&#10;[ a11  ...  a1n | b11  ...  b1m ]&#10;[  .         .  |  .         .  ]&#10;[ an1  ...  ann | bn1  ...  bnm ]"/>
          <p:cNvSpPr/>
          <p:nvPr/>
        </p:nvSpPr>
        <p:spPr>
          <a:xfrm>
            <a:off x="566928" y="1938528"/>
            <a:ext cx="11058113" cy="1755648"/>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The augmented form  [ A | b_1  b_2  ...  b_m ]</a:t>
            </a:r>
          </a:p>
          <a:p>
            <a:pPr algn="l">
              <a:lnSpc>
                <a:spcPct val="95000"/>
              </a:lnSpc>
              <a:spcBef>
                <a:spcPts val="0"/>
              </a:spcBef>
              <a:spcAft>
                <a:spcPts val="0"/>
              </a:spcAft>
              <a:buNone/>
            </a:pPr>
            <a:r>
              <a:rPr sz="1600" b="0" i="0" lang="en-US" dirty="0">
                <a:solidFill>
                  <a:srgbClr val="111827"/>
                </a:solidFill>
                <a:latin typeface="Courier New"/>
              </a:rPr>
              <a:t>[ a11  ...  a1n | b11  ...  b1m ]</a:t>
            </a:r>
          </a:p>
          <a:p>
            <a:pPr algn="l">
              <a:lnSpc>
                <a:spcPct val="95000"/>
              </a:lnSpc>
              <a:spcBef>
                <a:spcPts val="0"/>
              </a:spcBef>
              <a:spcAft>
                <a:spcPts val="0"/>
              </a:spcAft>
              <a:buNone/>
            </a:pPr>
            <a:r>
              <a:rPr sz="1600" b="0" i="0" lang="en-US" dirty="0">
                <a:solidFill>
                  <a:srgbClr val="111827"/>
                </a:solidFill>
                <a:latin typeface="Courier New"/>
              </a:rPr>
              <a:t>[  .         .  |  .         .  ]</a:t>
            </a:r>
          </a:p>
          <a:p>
            <a:pPr algn="l">
              <a:lnSpc>
                <a:spcPct val="95000"/>
              </a:lnSpc>
              <a:spcBef>
                <a:spcPts val="0"/>
              </a:spcBef>
              <a:spcAft>
                <a:spcPts val="0"/>
              </a:spcAft>
              <a:buNone/>
            </a:pPr>
            <a:r>
              <a:rPr sz="1600" b="0" i="0" lang="en-US" dirty="0">
                <a:solidFill>
                  <a:srgbClr val="111827"/>
                </a:solidFill>
                <a:latin typeface="Courier New"/>
              </a:rPr>
              <a:t>[ an1  ...  ann | bn1  ...  bnm ]</a:t>
            </a:r>
          </a:p>
        </p:txBody>
      </p:sp>
      <p:sp>
        <p:nvSpPr>
          <p:cNvPr id="5" name="What it costs" descr="What it costs&#10;One elimination, about n^3/3 operations, plus m backward substitutions at about n^2/2 each."/>
          <p:cNvSpPr/>
          <p:nvPr/>
        </p:nvSpPr>
        <p:spPr>
          <a:xfrm>
            <a:off x="566928" y="3877056"/>
            <a:ext cx="5504688" cy="173736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What it costs</a:t>
            </a:r>
          </a:p>
          <a:p>
            <a:pPr algn="l">
              <a:spcBef>
                <a:spcPts val="0"/>
              </a:spcBef>
              <a:spcAft>
                <a:spcPts val="0"/>
              </a:spcAft>
              <a:buNone/>
            </a:pPr>
            <a:r>
              <a:rPr sz="1600" b="0" i="0" lang="en-US" dirty="0">
                <a:solidFill>
                  <a:srgbClr val="111827"/>
                </a:solidFill>
                <a:latin typeface="Calibri"/>
              </a:rPr>
              <a:t>One elimination, about n^3/3 operations, plus m backward substitutions at about n^2/2 each.</a:t>
            </a:r>
          </a:p>
        </p:txBody>
      </p:sp>
      <p:sp>
        <p:nvSpPr>
          <p:cNvPr id="6" name="The catch" descr="The catch&#10;If b_2 only becomes known after x_1 is computed, this trick is unavailable. That is exactly what the LU factorization fixes."/>
          <p:cNvSpPr/>
          <p:nvPr/>
        </p:nvSpPr>
        <p:spPr>
          <a:xfrm>
            <a:off x="6400800" y="3877056"/>
            <a:ext cx="5224241" cy="1737360"/>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7C2D12"/>
                </a:solidFill>
                <a:latin typeface="Calibri"/>
              </a:rPr>
              <a:t>The catch</a:t>
            </a:r>
          </a:p>
          <a:p>
            <a:pPr algn="l">
              <a:spcBef>
                <a:spcPts val="0"/>
              </a:spcBef>
              <a:spcAft>
                <a:spcPts val="0"/>
              </a:spcAft>
              <a:buNone/>
            </a:pPr>
            <a:r>
              <a:rPr sz="1600" b="0" i="0" lang="en-US" dirty="0">
                <a:solidFill>
                  <a:srgbClr val="7C2D12"/>
                </a:solidFill>
                <a:latin typeface="Calibri"/>
              </a:rPr>
              <a:t>If b_2 only becomes known after x_1 is computed, this trick is unavailable. That is exactly what the LU factorization fixes.</a:t>
            </a:r>
          </a:p>
        </p:txBody>
      </p:sp>
      <p:sp>
        <p:nvSpPr>
          <p:cNvPr id="7" name="MATH 616 · Computational Linear Algebra  ·  Direct Methods f" descr="MATH 616 · Computational Linear Algebra  ·  Direct Methods for Linear Systems  ·  Slide 32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32 of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ultiple right-hand sides: worked example" descr="Multiple right-hand sides: worked example"/>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Multiple right-hand sides: worked example</a:t>
            </a:r>
          </a:p>
        </p:txBody>
      </p:sp>
      <p:sp>
        <p:nvSpPr>
          <p:cNvPr id="3" name="Start, then step 1" descr="Start, then step 1&#10;[  1   1   0   3 |   4   0 ]&#10;[  2   1  -1   1 |   1   1 ]&#10;[  3  -1  -1   2 |  -3   0 ]&#10;[ -1   2   3  -1 |   4   0 ]&#10;|3| is the largest entry in column 1: interchange rows 1 and 3, then eliminate.&#10;[ 3    -1    -1     2 |  -3   0 ]&#10;[ 0   5/3  -1/3  -1/3 |   3   1 ]&#10;[ 0   4/3   1/3   7/3 |   5   0 ]&#10;[ 0   5/3   8/3  -1/3 |   3   0 ]"/>
          <p:cNvSpPr/>
          <p:nvPr/>
        </p:nvSpPr>
        <p:spPr>
          <a:xfrm>
            <a:off x="566928" y="1335024"/>
            <a:ext cx="5504688" cy="360273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Start, then step 1</a:t>
            </a:r>
          </a:p>
          <a:p>
            <a:pPr algn="l">
              <a:lnSpc>
                <a:spcPct val="95000"/>
              </a:lnSpc>
              <a:spcBef>
                <a:spcPts val="0"/>
              </a:spcBef>
              <a:spcAft>
                <a:spcPts val="0"/>
              </a:spcAft>
              <a:buNone/>
            </a:pPr>
            <a:r>
              <a:rPr sz="1500" b="0" i="0" lang="en-US" dirty="0">
                <a:solidFill>
                  <a:srgbClr val="111827"/>
                </a:solidFill>
                <a:latin typeface="Courier New"/>
              </a:rPr>
              <a:t>[  1   1   0   3 |   4   0 ]</a:t>
            </a:r>
          </a:p>
          <a:p>
            <a:pPr algn="l">
              <a:lnSpc>
                <a:spcPct val="95000"/>
              </a:lnSpc>
              <a:spcBef>
                <a:spcPts val="0"/>
              </a:spcBef>
              <a:spcAft>
                <a:spcPts val="0"/>
              </a:spcAft>
              <a:buNone/>
            </a:pPr>
            <a:r>
              <a:rPr sz="1500" b="0" i="0" lang="en-US" dirty="0">
                <a:solidFill>
                  <a:srgbClr val="111827"/>
                </a:solidFill>
                <a:latin typeface="Courier New"/>
              </a:rPr>
              <a:t>[  2   1  -1   1 |   1   1 ]</a:t>
            </a:r>
          </a:p>
          <a:p>
            <a:pPr algn="l">
              <a:lnSpc>
                <a:spcPct val="95000"/>
              </a:lnSpc>
              <a:spcBef>
                <a:spcPts val="0"/>
              </a:spcBef>
              <a:spcAft>
                <a:spcPts val="0"/>
              </a:spcAft>
              <a:buNone/>
            </a:pPr>
            <a:r>
              <a:rPr sz="1500" b="0" i="0" lang="en-US" dirty="0">
                <a:solidFill>
                  <a:srgbClr val="111827"/>
                </a:solidFill>
                <a:latin typeface="Courier New"/>
              </a:rPr>
              <a:t>[  3  -1  -1   2 |  -3   0 ]</a:t>
            </a:r>
          </a:p>
          <a:p>
            <a:pPr algn="l">
              <a:lnSpc>
                <a:spcPct val="95000"/>
              </a:lnSpc>
              <a:spcBef>
                <a:spcPts val="0"/>
              </a:spcBef>
              <a:spcAft>
                <a:spcPts val="900"/>
              </a:spcAft>
              <a:buNone/>
            </a:pPr>
            <a:r>
              <a:rPr sz="1500" b="0" i="0" lang="en-US" dirty="0">
                <a:solidFill>
                  <a:srgbClr val="111827"/>
                </a:solidFill>
                <a:latin typeface="Courier New"/>
              </a:rPr>
              <a:t>[ -1   2   3  -1 |   4   0 ]</a:t>
            </a:r>
          </a:p>
          <a:p>
            <a:pPr algn="l">
              <a:spcBef>
                <a:spcPts val="0"/>
              </a:spcBef>
              <a:spcAft>
                <a:spcPts val="900"/>
              </a:spcAft>
              <a:buNone/>
            </a:pPr>
            <a:r>
              <a:rPr sz="1500" b="0" i="0" lang="en-US" dirty="0">
                <a:solidFill>
                  <a:srgbClr val="111827"/>
                </a:solidFill>
                <a:latin typeface="Calibri"/>
              </a:rPr>
              <a:t>|3| is the largest entry in column 1: interchange rows 1 and 3, then eliminate.</a:t>
            </a:r>
          </a:p>
          <a:p>
            <a:pPr algn="l">
              <a:lnSpc>
                <a:spcPct val="95000"/>
              </a:lnSpc>
              <a:spcBef>
                <a:spcPts val="0"/>
              </a:spcBef>
              <a:spcAft>
                <a:spcPts val="0"/>
              </a:spcAft>
              <a:buNone/>
            </a:pPr>
            <a:r>
              <a:rPr sz="1500" b="0" i="0" lang="en-US" dirty="0">
                <a:solidFill>
                  <a:srgbClr val="111827"/>
                </a:solidFill>
                <a:latin typeface="Courier New"/>
              </a:rPr>
              <a:t>[ 3    -1    -1     2 |  -3   0 ]</a:t>
            </a:r>
          </a:p>
          <a:p>
            <a:pPr algn="l">
              <a:lnSpc>
                <a:spcPct val="95000"/>
              </a:lnSpc>
              <a:spcBef>
                <a:spcPts val="0"/>
              </a:spcBef>
              <a:spcAft>
                <a:spcPts val="0"/>
              </a:spcAft>
              <a:buNone/>
            </a:pPr>
            <a:r>
              <a:rPr sz="1500" b="0" i="0" lang="en-US" dirty="0">
                <a:solidFill>
                  <a:srgbClr val="111827"/>
                </a:solidFill>
                <a:latin typeface="Courier New"/>
              </a:rPr>
              <a:t>[ 0   5/3  -1/3  -1/3 |   3   1 ]</a:t>
            </a:r>
          </a:p>
          <a:p>
            <a:pPr algn="l">
              <a:lnSpc>
                <a:spcPct val="95000"/>
              </a:lnSpc>
              <a:spcBef>
                <a:spcPts val="0"/>
              </a:spcBef>
              <a:spcAft>
                <a:spcPts val="0"/>
              </a:spcAft>
              <a:buNone/>
            </a:pPr>
            <a:r>
              <a:rPr sz="1500" b="0" i="0" lang="en-US" dirty="0">
                <a:solidFill>
                  <a:srgbClr val="111827"/>
                </a:solidFill>
                <a:latin typeface="Courier New"/>
              </a:rPr>
              <a:t>[ 0   4/3   1/3   7/3 |   5   0 ]</a:t>
            </a:r>
          </a:p>
          <a:p>
            <a:pPr algn="l">
              <a:lnSpc>
                <a:spcPct val="95000"/>
              </a:lnSpc>
              <a:spcBef>
                <a:spcPts val="0"/>
              </a:spcBef>
              <a:spcAft>
                <a:spcPts val="0"/>
              </a:spcAft>
              <a:buNone/>
            </a:pPr>
            <a:r>
              <a:rPr sz="1500" b="0" i="0" lang="en-US" dirty="0">
                <a:solidFill>
                  <a:srgbClr val="111827"/>
                </a:solidFill>
                <a:latin typeface="Courier New"/>
              </a:rPr>
              <a:t>[ 0   5/3   8/3  -1/3 |   3   0 ]</a:t>
            </a:r>
          </a:p>
        </p:txBody>
      </p:sp>
      <p:sp>
        <p:nvSpPr>
          <p:cNvPr id="4" name="Steps 2 and 3" descr="Steps 2 and 3&#10;Column 2: the largest entry 5/3 is already in row 2, so no interchange. Column 3: |3| &gt; |3/5|, so rows 3 and 4 are interchanged.&#10;[ 3    -1    -1     2 |    -3     0 ]&#10;[ 0   5/3  -1/3  -1/3 |     3     1 ]&#10;[ 0     0     3     0 |     0    -1 ]&#10;[ 0     0     0  13/5 |  13/5  -3/5 ]&#10;Two backward substitutions, one per column of the right-hand side, finish the job."/>
          <p:cNvSpPr/>
          <p:nvPr/>
        </p:nvSpPr>
        <p:spPr>
          <a:xfrm>
            <a:off x="6400800" y="1335024"/>
            <a:ext cx="5224241" cy="3602736"/>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Steps 2 and 3</a:t>
            </a:r>
          </a:p>
          <a:p>
            <a:pPr algn="l">
              <a:spcBef>
                <a:spcPts val="0"/>
              </a:spcBef>
              <a:spcAft>
                <a:spcPts val="900"/>
              </a:spcAft>
              <a:buNone/>
            </a:pPr>
            <a:r>
              <a:rPr sz="1500" b="0" i="0" lang="en-US" dirty="0">
                <a:solidFill>
                  <a:srgbClr val="111827"/>
                </a:solidFill>
                <a:latin typeface="Calibri"/>
              </a:rPr>
              <a:t>Column 2: the largest entry 5/3 is already in row 2, so no interchange. Column 3: |3| &gt; |3/5|, so rows 3 and 4 are interchanged.</a:t>
            </a:r>
          </a:p>
          <a:p>
            <a:pPr algn="l">
              <a:lnSpc>
                <a:spcPct val="95000"/>
              </a:lnSpc>
              <a:spcBef>
                <a:spcPts val="0"/>
              </a:spcBef>
              <a:spcAft>
                <a:spcPts val="0"/>
              </a:spcAft>
              <a:buNone/>
            </a:pPr>
            <a:r>
              <a:rPr sz="1500" b="0" i="0" lang="en-US" dirty="0">
                <a:solidFill>
                  <a:srgbClr val="111827"/>
                </a:solidFill>
                <a:latin typeface="Courier New"/>
              </a:rPr>
              <a:t>[ 3    -1    -1     2 |    -3     0 ]</a:t>
            </a:r>
          </a:p>
          <a:p>
            <a:pPr algn="l">
              <a:lnSpc>
                <a:spcPct val="95000"/>
              </a:lnSpc>
              <a:spcBef>
                <a:spcPts val="0"/>
              </a:spcBef>
              <a:spcAft>
                <a:spcPts val="0"/>
              </a:spcAft>
              <a:buNone/>
            </a:pPr>
            <a:r>
              <a:rPr sz="1500" b="0" i="0" lang="en-US" dirty="0">
                <a:solidFill>
                  <a:srgbClr val="111827"/>
                </a:solidFill>
                <a:latin typeface="Courier New"/>
              </a:rPr>
              <a:t>[ 0   5/3  -1/3  -1/3 |     3     1 ]</a:t>
            </a:r>
          </a:p>
          <a:p>
            <a:pPr algn="l">
              <a:lnSpc>
                <a:spcPct val="95000"/>
              </a:lnSpc>
              <a:spcBef>
                <a:spcPts val="0"/>
              </a:spcBef>
              <a:spcAft>
                <a:spcPts val="0"/>
              </a:spcAft>
              <a:buNone/>
            </a:pPr>
            <a:r>
              <a:rPr sz="1500" b="0" i="0" lang="en-US" dirty="0">
                <a:solidFill>
                  <a:srgbClr val="111827"/>
                </a:solidFill>
                <a:latin typeface="Courier New"/>
              </a:rPr>
              <a:t>[ 0     0     3     0 |     0    -1 ]</a:t>
            </a:r>
          </a:p>
          <a:p>
            <a:pPr algn="l">
              <a:lnSpc>
                <a:spcPct val="95000"/>
              </a:lnSpc>
              <a:spcBef>
                <a:spcPts val="0"/>
              </a:spcBef>
              <a:spcAft>
                <a:spcPts val="900"/>
              </a:spcAft>
              <a:buNone/>
            </a:pPr>
            <a:r>
              <a:rPr sz="1500" b="0" i="0" lang="en-US" dirty="0">
                <a:solidFill>
                  <a:srgbClr val="111827"/>
                </a:solidFill>
                <a:latin typeface="Courier New"/>
              </a:rPr>
              <a:t>[ 0     0     0  13/5 |  13/5  -3/5 ]</a:t>
            </a:r>
          </a:p>
          <a:p>
            <a:pPr algn="l">
              <a:spcBef>
                <a:spcPts val="0"/>
              </a:spcBef>
              <a:spcAft>
                <a:spcPts val="0"/>
              </a:spcAft>
              <a:buNone/>
            </a:pPr>
            <a:r>
              <a:rPr sz="1500" b="0" i="0" lang="en-US" dirty="0">
                <a:solidFill>
                  <a:srgbClr val="111827"/>
                </a:solidFill>
                <a:latin typeface="Calibri"/>
              </a:rPr>
              <a:t>Two backward substitutions, one per column of the right-hand side, finish the job.</a:t>
            </a:r>
          </a:p>
        </p:txBody>
      </p:sp>
      <p:sp>
        <p:nvSpPr>
          <p:cNvPr id="5" name="X1 = (-1, 2, 0, 1)   and   X2 = (8/39, 19/39, -1/3, -3/13)." descr="X1 = (-1, 2, 0, 1)   and   X2 = (8/39, 19/39, -1/3, -3/13)."/>
          <p:cNvSpPr/>
          <p:nvPr/>
        </p:nvSpPr>
        <p:spPr>
          <a:xfrm>
            <a:off x="566928" y="5102352"/>
            <a:ext cx="11058113" cy="749808"/>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0"/>
              </a:spcAft>
              <a:buNone/>
            </a:pPr>
            <a:r>
              <a:rPr sz="1700" b="0" i="0" lang="en-US" dirty="0">
                <a:solidFill>
                  <a:srgbClr val="111827"/>
                </a:solidFill>
                <a:latin typeface="Calibri"/>
              </a:rPr>
              <a:t>X1 = (-1, 2, 0, 1)   and   X2 = (8/39, 19/39, -1/3, -3/13).</a:t>
            </a:r>
          </a:p>
        </p:txBody>
      </p:sp>
      <p:sp>
        <p:nvSpPr>
          <p:cNvPr id="6" name="MATH 616 · Computational Linear Algebra  ·  Direct Methods f" descr="MATH 616 · Computational Linear Algebra  ·  Direct Methods for Linear Systems  ·  Slide 33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33 of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mputing the inverse from [ A | I ]" descr="Computing the inverse from [ A | I ]"/>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Computing the inverse from [ A | I ]</a:t>
            </a:r>
          </a:p>
        </p:txBody>
      </p:sp>
      <p:sp>
        <p:nvSpPr>
          <p:cNvPr id="3" name="The columns of A inverse are the solutions of A X = I, so we" descr="The columns of A inverse are the solutions of A X = I, so we put all n right-hand sides in at once."/>
          <p:cNvSpPr txBox="1"/>
          <p:nvPr/>
        </p:nvSpPr>
        <p:spPr>
          <a:xfrm>
            <a:off x="566928" y="1316736"/>
            <a:ext cx="11058113" cy="457200"/>
          </a:xfrm>
          <a:prstGeom prst="rect">
            <a:avLst/>
          </a:prstGeom>
          <a:noFill/>
        </p:spPr>
        <p:txBody>
          <a:bodyPr wrap="square" lIns="0" rIns="0" tIns="0" bIns="0">
            <a:spAutoFit/>
          </a:bodyPr>
          <a:lstStyle/>
          <a:p>
            <a:pPr algn="l">
              <a:spcBef>
                <a:spcPts val="0"/>
              </a:spcBef>
              <a:spcAft>
                <a:spcPts val="0"/>
              </a:spcAft>
              <a:buNone/>
            </a:pPr>
            <a:r>
              <a:rPr sz="1700" b="0" i="0" lang="en-US" dirty="0">
                <a:solidFill>
                  <a:srgbClr val="3F4B5C"/>
                </a:solidFill>
                <a:latin typeface="Calibri"/>
              </a:rPr>
              <a:t>The columns of A inverse are the solutions of A X = I, so we put all n right-hand sides in at once.</a:t>
            </a:r>
          </a:p>
        </p:txBody>
      </p:sp>
      <p:sp>
        <p:nvSpPr>
          <p:cNvPr id="4" name="Start, then step 1" descr="Start, then step 1&#10;[ 2   1   0 | 1  0  0 ]&#10;[ 1  -1   4 | 0  1  0 ]&#10;[ 3  -1  -2 | 0  0  1 ]&#10;Interchange rows 1 and 3, then eliminate column 1.&#10;[ 3    -1    -2 | 0  0     1 ]&#10;[ 0  -2/3  14/3 | 0  1  -1/3 ]&#10;[ 0   5/3   4/3 | 1  0  -2/3 ]"/>
          <p:cNvSpPr/>
          <p:nvPr/>
        </p:nvSpPr>
        <p:spPr>
          <a:xfrm>
            <a:off x="566928" y="1865376"/>
            <a:ext cx="5504688" cy="29260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Start, then step 1</a:t>
            </a:r>
          </a:p>
          <a:p>
            <a:pPr algn="l">
              <a:lnSpc>
                <a:spcPct val="95000"/>
              </a:lnSpc>
              <a:spcBef>
                <a:spcPts val="0"/>
              </a:spcBef>
              <a:spcAft>
                <a:spcPts val="0"/>
              </a:spcAft>
              <a:buNone/>
            </a:pPr>
            <a:r>
              <a:rPr sz="1600" b="0" i="0" lang="en-US" dirty="0">
                <a:solidFill>
                  <a:srgbClr val="111827"/>
                </a:solidFill>
                <a:latin typeface="Courier New"/>
              </a:rPr>
              <a:t>[ 2   1   0 | 1  0  0 ]</a:t>
            </a:r>
          </a:p>
          <a:p>
            <a:pPr algn="l">
              <a:lnSpc>
                <a:spcPct val="95000"/>
              </a:lnSpc>
              <a:spcBef>
                <a:spcPts val="0"/>
              </a:spcBef>
              <a:spcAft>
                <a:spcPts val="0"/>
              </a:spcAft>
              <a:buNone/>
            </a:pPr>
            <a:r>
              <a:rPr sz="1600" b="0" i="0" lang="en-US" dirty="0">
                <a:solidFill>
                  <a:srgbClr val="111827"/>
                </a:solidFill>
                <a:latin typeface="Courier New"/>
              </a:rPr>
              <a:t>[ 1  -1   4 | 0  1  0 ]</a:t>
            </a:r>
          </a:p>
          <a:p>
            <a:pPr algn="l">
              <a:lnSpc>
                <a:spcPct val="95000"/>
              </a:lnSpc>
              <a:spcBef>
                <a:spcPts val="0"/>
              </a:spcBef>
              <a:spcAft>
                <a:spcPts val="900"/>
              </a:spcAft>
              <a:buNone/>
            </a:pPr>
            <a:r>
              <a:rPr sz="1600" b="0" i="0" lang="en-US" dirty="0">
                <a:solidFill>
                  <a:srgbClr val="111827"/>
                </a:solidFill>
                <a:latin typeface="Courier New"/>
              </a:rPr>
              <a:t>[ 3  -1  -2 | 0  0  1 ]</a:t>
            </a:r>
          </a:p>
          <a:p>
            <a:pPr algn="l">
              <a:spcBef>
                <a:spcPts val="0"/>
              </a:spcBef>
              <a:spcAft>
                <a:spcPts val="900"/>
              </a:spcAft>
              <a:buNone/>
            </a:pPr>
            <a:r>
              <a:rPr sz="1500" b="0" i="0" lang="en-US" dirty="0">
                <a:solidFill>
                  <a:srgbClr val="111827"/>
                </a:solidFill>
                <a:latin typeface="Calibri"/>
              </a:rPr>
              <a:t>Interchange rows 1 and 3, then eliminate column 1.</a:t>
            </a:r>
          </a:p>
          <a:p>
            <a:pPr algn="l">
              <a:lnSpc>
                <a:spcPct val="95000"/>
              </a:lnSpc>
              <a:spcBef>
                <a:spcPts val="0"/>
              </a:spcBef>
              <a:spcAft>
                <a:spcPts val="0"/>
              </a:spcAft>
              <a:buNone/>
            </a:pPr>
            <a:r>
              <a:rPr sz="1500" b="0" i="0" lang="en-US" dirty="0">
                <a:solidFill>
                  <a:srgbClr val="111827"/>
                </a:solidFill>
                <a:latin typeface="Courier New"/>
              </a:rPr>
              <a:t>[ 3    -1    -2 | 0  0     1 ]</a:t>
            </a:r>
          </a:p>
          <a:p>
            <a:pPr algn="l">
              <a:lnSpc>
                <a:spcPct val="95000"/>
              </a:lnSpc>
              <a:spcBef>
                <a:spcPts val="0"/>
              </a:spcBef>
              <a:spcAft>
                <a:spcPts val="0"/>
              </a:spcAft>
              <a:buNone/>
            </a:pPr>
            <a:r>
              <a:rPr sz="1500" b="0" i="0" lang="en-US" dirty="0">
                <a:solidFill>
                  <a:srgbClr val="111827"/>
                </a:solidFill>
                <a:latin typeface="Courier New"/>
              </a:rPr>
              <a:t>[ 0  -2/3  14/3 | 0  1  -1/3 ]</a:t>
            </a:r>
          </a:p>
          <a:p>
            <a:pPr algn="l">
              <a:lnSpc>
                <a:spcPct val="95000"/>
              </a:lnSpc>
              <a:spcBef>
                <a:spcPts val="0"/>
              </a:spcBef>
              <a:spcAft>
                <a:spcPts val="0"/>
              </a:spcAft>
              <a:buNone/>
            </a:pPr>
            <a:r>
              <a:rPr sz="1500" b="0" i="0" lang="en-US" dirty="0">
                <a:solidFill>
                  <a:srgbClr val="111827"/>
                </a:solidFill>
                <a:latin typeface="Courier New"/>
              </a:rPr>
              <a:t>[ 0   5/3   4/3 | 1  0  -2/3 ]</a:t>
            </a:r>
          </a:p>
        </p:txBody>
      </p:sp>
      <p:sp>
        <p:nvSpPr>
          <p:cNvPr id="5" name="Step 2" descr="Step 2&#10;|5/3| &gt; |2/3|: interchange rows 2 and 3, then eliminate column 2.&#10;[ 3    -1    -2 | 0  0     1 ]&#10;[ 0   5/3   4/3 | 1  0  -2/3 ]&#10;[ 0  -2/3  14/3 | 0  1  -1/3 ]&#10;E3 + (2/5) E2  -&gt;  E3&#10;[ 3   -1    -2 |   0  0     1 ]&#10;[ 0  5/3   4/3 |   1  0  -2/3 ]&#10;[ 0    0  26/5 | 2/5  1  -3/5 ]"/>
          <p:cNvSpPr/>
          <p:nvPr/>
        </p:nvSpPr>
        <p:spPr>
          <a:xfrm>
            <a:off x="6400800" y="1865376"/>
            <a:ext cx="5224241" cy="292608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Step 2</a:t>
            </a:r>
          </a:p>
          <a:p>
            <a:pPr algn="l">
              <a:spcBef>
                <a:spcPts val="0"/>
              </a:spcBef>
              <a:spcAft>
                <a:spcPts val="900"/>
              </a:spcAft>
              <a:buNone/>
            </a:pPr>
            <a:r>
              <a:rPr sz="1500" b="0" i="0" lang="en-US" dirty="0">
                <a:solidFill>
                  <a:srgbClr val="111827"/>
                </a:solidFill>
                <a:latin typeface="Calibri"/>
              </a:rPr>
              <a:t>|5/3| &gt; |2/3|: interchange rows 2 and 3, then eliminate column 2.</a:t>
            </a:r>
          </a:p>
          <a:p>
            <a:pPr algn="l">
              <a:lnSpc>
                <a:spcPct val="95000"/>
              </a:lnSpc>
              <a:spcBef>
                <a:spcPts val="0"/>
              </a:spcBef>
              <a:spcAft>
                <a:spcPts val="0"/>
              </a:spcAft>
              <a:buNone/>
            </a:pPr>
            <a:r>
              <a:rPr sz="1500" b="0" i="0" lang="en-US" dirty="0">
                <a:solidFill>
                  <a:srgbClr val="111827"/>
                </a:solidFill>
                <a:latin typeface="Courier New"/>
              </a:rPr>
              <a:t>[ 3    -1    -2 | 0  0     1 ]</a:t>
            </a:r>
          </a:p>
          <a:p>
            <a:pPr algn="l">
              <a:lnSpc>
                <a:spcPct val="95000"/>
              </a:lnSpc>
              <a:spcBef>
                <a:spcPts val="0"/>
              </a:spcBef>
              <a:spcAft>
                <a:spcPts val="0"/>
              </a:spcAft>
              <a:buNone/>
            </a:pPr>
            <a:r>
              <a:rPr sz="1500" b="0" i="0" lang="en-US" dirty="0">
                <a:solidFill>
                  <a:srgbClr val="111827"/>
                </a:solidFill>
                <a:latin typeface="Courier New"/>
              </a:rPr>
              <a:t>[ 0   5/3   4/3 | 1  0  -2/3 ]</a:t>
            </a:r>
          </a:p>
          <a:p>
            <a:pPr algn="l">
              <a:lnSpc>
                <a:spcPct val="95000"/>
              </a:lnSpc>
              <a:spcBef>
                <a:spcPts val="0"/>
              </a:spcBef>
              <a:spcAft>
                <a:spcPts val="900"/>
              </a:spcAft>
              <a:buNone/>
            </a:pPr>
            <a:r>
              <a:rPr sz="1500" b="0" i="0" lang="en-US" dirty="0">
                <a:solidFill>
                  <a:srgbClr val="111827"/>
                </a:solidFill>
                <a:latin typeface="Courier New"/>
              </a:rPr>
              <a:t>[ 0  -2/3  14/3 | 0  1  -1/3 ]</a:t>
            </a:r>
          </a:p>
          <a:p>
            <a:pPr algn="l">
              <a:lnSpc>
                <a:spcPct val="95000"/>
              </a:lnSpc>
              <a:spcBef>
                <a:spcPts val="0"/>
              </a:spcBef>
              <a:spcAft>
                <a:spcPts val="900"/>
              </a:spcAft>
              <a:buNone/>
            </a:pPr>
            <a:r>
              <a:rPr sz="1500" b="0" i="0" lang="en-US" dirty="0">
                <a:solidFill>
                  <a:srgbClr val="111827"/>
                </a:solidFill>
                <a:latin typeface="Courier New"/>
              </a:rPr>
              <a:t>E3 + (2/5) E2  -&gt;  E3</a:t>
            </a:r>
          </a:p>
          <a:p>
            <a:pPr algn="l">
              <a:lnSpc>
                <a:spcPct val="95000"/>
              </a:lnSpc>
              <a:spcBef>
                <a:spcPts val="0"/>
              </a:spcBef>
              <a:spcAft>
                <a:spcPts val="0"/>
              </a:spcAft>
              <a:buNone/>
            </a:pPr>
            <a:r>
              <a:rPr sz="1500" b="0" i="0" lang="en-US" dirty="0">
                <a:solidFill>
                  <a:srgbClr val="111827"/>
                </a:solidFill>
                <a:latin typeface="Courier New"/>
              </a:rPr>
              <a:t>[ 3   -1    -2 |   0  0     1 ]</a:t>
            </a:r>
          </a:p>
          <a:p>
            <a:pPr algn="l">
              <a:lnSpc>
                <a:spcPct val="95000"/>
              </a:lnSpc>
              <a:spcBef>
                <a:spcPts val="0"/>
              </a:spcBef>
              <a:spcAft>
                <a:spcPts val="0"/>
              </a:spcAft>
              <a:buNone/>
            </a:pPr>
            <a:r>
              <a:rPr sz="1500" b="0" i="0" lang="en-US" dirty="0">
                <a:solidFill>
                  <a:srgbClr val="111827"/>
                </a:solidFill>
                <a:latin typeface="Courier New"/>
              </a:rPr>
              <a:t>[ 0  5/3   4/3 |   1  0  -2/3 ]</a:t>
            </a:r>
          </a:p>
          <a:p>
            <a:pPr algn="l">
              <a:lnSpc>
                <a:spcPct val="95000"/>
              </a:lnSpc>
              <a:spcBef>
                <a:spcPts val="0"/>
              </a:spcBef>
              <a:spcAft>
                <a:spcPts val="0"/>
              </a:spcAft>
              <a:buNone/>
            </a:pPr>
            <a:r>
              <a:rPr sz="1500" b="0" i="0" lang="en-US" dirty="0">
                <a:solidFill>
                  <a:srgbClr val="111827"/>
                </a:solidFill>
                <a:latin typeface="Courier New"/>
              </a:rPr>
              <a:t>[ 0    0  26/5 | 2/5  1  -3/5 ]</a:t>
            </a:r>
          </a:p>
        </p:txBody>
      </p:sp>
      <p:sp>
        <p:nvSpPr>
          <p:cNvPr id="6" name="MATH 616 · Computational Linear Algebra  ·  Direct Methods f" descr="MATH 616 · Computational Linear Algebra  ·  Direct Methods for Linear Systems  ·  Slide 34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34 of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 inverse, and what it costs" descr="The inverse, and what it costs"/>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The inverse, and what it costs</a:t>
            </a:r>
          </a:p>
        </p:txBody>
      </p:sp>
      <p:sp>
        <p:nvSpPr>
          <p:cNvPr id="3" name="Three backward substitutions give" descr="Three backward substitutions give&#10;          [ 3/13   1/13   2/13 ]&#10;A^(-1) =  [ 7/13  -2/13  -4/13 ]&#10;          [ 1/13   5/26  -3/26 ]"/>
          <p:cNvSpPr/>
          <p:nvPr/>
        </p:nvSpPr>
        <p:spPr>
          <a:xfrm>
            <a:off x="566928" y="1335024"/>
            <a:ext cx="4846320" cy="237744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Three backward substitutions give</a:t>
            </a:r>
          </a:p>
          <a:p>
            <a:pPr algn="l">
              <a:lnSpc>
                <a:spcPct val="95000"/>
              </a:lnSpc>
              <a:spcBef>
                <a:spcPts val="0"/>
              </a:spcBef>
              <a:spcAft>
                <a:spcPts val="0"/>
              </a:spcAft>
              <a:buNone/>
            </a:pPr>
            <a:r>
              <a:rPr sz="1500" b="0" i="0" lang="en-US" dirty="0">
                <a:solidFill>
                  <a:srgbClr val="111827"/>
                </a:solidFill>
                <a:latin typeface="Courier New"/>
              </a:rPr>
              <a:t>          [ 3/13   1/13   2/13 ]</a:t>
            </a:r>
          </a:p>
          <a:p>
            <a:pPr algn="l">
              <a:lnSpc>
                <a:spcPct val="95000"/>
              </a:lnSpc>
              <a:spcBef>
                <a:spcPts val="0"/>
              </a:spcBef>
              <a:spcAft>
                <a:spcPts val="0"/>
              </a:spcAft>
              <a:buNone/>
            </a:pPr>
            <a:r>
              <a:rPr sz="1500" b="0" i="0" lang="en-US" dirty="0">
                <a:solidFill>
                  <a:srgbClr val="111827"/>
                </a:solidFill>
                <a:latin typeface="Courier New"/>
              </a:rPr>
              <a:t>A^(-1) =  [ 7/13  -2/13  -4/13 ]</a:t>
            </a:r>
          </a:p>
          <a:p>
            <a:pPr algn="l">
              <a:lnSpc>
                <a:spcPct val="95000"/>
              </a:lnSpc>
              <a:spcBef>
                <a:spcPts val="0"/>
              </a:spcBef>
              <a:spcAft>
                <a:spcPts val="0"/>
              </a:spcAft>
              <a:buNone/>
            </a:pPr>
            <a:r>
              <a:rPr sz="1500" b="0" i="0" lang="en-US" dirty="0">
                <a:solidFill>
                  <a:srgbClr val="111827"/>
                </a:solidFill>
                <a:latin typeface="Courier New"/>
              </a:rPr>
              <a:t>          [ 1/13   5/26  -3/26 ]</a:t>
            </a:r>
          </a:p>
        </p:txBody>
      </p:sp>
      <p:sp>
        <p:nvSpPr>
          <p:cNvPr id="4" name="Cost of elimination plus the substitutions" descr="Cost of elimination plus the substitutions&#10;multiply / divide :  4n^3/3 - n/3&#10;add / subtract    :  4n^3/3 - 3n^2/2 + n/6&#10;Roughly four times the cost of solving a single system."/>
          <p:cNvSpPr/>
          <p:nvPr/>
        </p:nvSpPr>
        <p:spPr>
          <a:xfrm>
            <a:off x="5742432" y="1335024"/>
            <a:ext cx="5882609" cy="237744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800" b="1" i="0" lang="en-US" dirty="0">
                <a:solidFill>
                  <a:srgbClr val="083D62"/>
                </a:solidFill>
                <a:latin typeface="Calibri"/>
              </a:rPr>
              <a:t>Cost of elimination plus the substitutions</a:t>
            </a:r>
          </a:p>
          <a:p>
            <a:pPr algn="l">
              <a:lnSpc>
                <a:spcPct val="95000"/>
              </a:lnSpc>
              <a:spcBef>
                <a:spcPts val="0"/>
              </a:spcBef>
              <a:spcAft>
                <a:spcPts val="0"/>
              </a:spcAft>
              <a:buNone/>
            </a:pPr>
            <a:r>
              <a:rPr sz="1500" b="0" i="0" lang="en-US" dirty="0">
                <a:solidFill>
                  <a:srgbClr val="111827"/>
                </a:solidFill>
                <a:latin typeface="Courier New"/>
              </a:rPr>
              <a:t>multiply / divide :  4n^3/3 - n/3</a:t>
            </a:r>
          </a:p>
          <a:p>
            <a:pPr algn="l">
              <a:lnSpc>
                <a:spcPct val="95000"/>
              </a:lnSpc>
              <a:spcBef>
                <a:spcPts val="0"/>
              </a:spcBef>
              <a:spcAft>
                <a:spcPts val="1000"/>
              </a:spcAft>
              <a:buNone/>
            </a:pPr>
            <a:r>
              <a:rPr sz="1500" b="0" i="0" lang="en-US" dirty="0">
                <a:solidFill>
                  <a:srgbClr val="111827"/>
                </a:solidFill>
                <a:latin typeface="Courier New"/>
              </a:rPr>
              <a:t>add / subtract    :  4n^3/3 - 3n^2/2 + n/6</a:t>
            </a:r>
          </a:p>
          <a:p>
            <a:pPr algn="l">
              <a:spcBef>
                <a:spcPts val="0"/>
              </a:spcBef>
              <a:spcAft>
                <a:spcPts val="0"/>
              </a:spcAft>
              <a:buNone/>
            </a:pPr>
            <a:r>
              <a:rPr sz="1600" b="0" i="0" lang="en-US" dirty="0">
                <a:solidFill>
                  <a:srgbClr val="111827"/>
                </a:solidFill>
                <a:latin typeface="Calibri"/>
              </a:rPr>
              <a:t>Roughly four times the cost of solving a single system.</a:t>
            </a:r>
          </a:p>
        </p:txBody>
      </p:sp>
      <p:sp>
        <p:nvSpPr>
          <p:cNvPr id="5" name="A rule you should carry into every course after this one" descr="A rule you should carry into every course after this one&#10;Almost never compute A inverse to solve A x = b. The inverse costs about four solves, then multiplying it by b costs another n^2 and loses accuracy. Solve the system directly, or factor A once and reuse the factors."/>
          <p:cNvSpPr/>
          <p:nvPr/>
        </p:nvSpPr>
        <p:spPr>
          <a:xfrm>
            <a:off x="566928" y="3931920"/>
            <a:ext cx="11058113" cy="1426464"/>
          </a:xfrm>
          <a:prstGeom prst="roundRect">
            <a:avLst>
              <a:gd name="adj" fmla="val 35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500"/>
              </a:spcAft>
              <a:buNone/>
            </a:pPr>
            <a:r>
              <a:rPr sz="1800" b="1" i="0" lang="en-US" dirty="0">
                <a:solidFill>
                  <a:srgbClr val="7C2D12"/>
                </a:solidFill>
                <a:latin typeface="Calibri"/>
              </a:rPr>
              <a:t>A rule you should carry into every course after this one</a:t>
            </a:r>
          </a:p>
          <a:p>
            <a:pPr algn="l">
              <a:spcBef>
                <a:spcPts val="0"/>
              </a:spcBef>
              <a:spcAft>
                <a:spcPts val="0"/>
              </a:spcAft>
              <a:buNone/>
            </a:pPr>
            <a:r>
              <a:rPr sz="1700" b="0" i="0" lang="en-US" dirty="0">
                <a:solidFill>
                  <a:srgbClr val="7C2D12"/>
                </a:solidFill>
                <a:latin typeface="Calibri"/>
              </a:rPr>
              <a:t>Almost never compute A inverse to solve A x = b. The inverse costs about four solves, then multiplying it by b costs another n^2 and loses accuracy. Solve the system directly, or factor A once and reuse the factors.</a:t>
            </a:r>
          </a:p>
        </p:txBody>
      </p:sp>
      <p:sp>
        <p:nvSpPr>
          <p:cNvPr id="6" name="MATH 616 · Computational Linear Algebra  ·  Direct Methods f" descr="MATH 616 · Computational Linear Algebra  ·  Direct Methods for Linear Systems  ·  Slide 35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35 of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ey takeaways" descr="Key takeaways"/>
          <p:cNvSpPr>
            <a:spLocks noGrp="1"/>
          </p:cNvSpPr>
          <p:nvPr>
            <p:ph type="title"/>
          </p:nvPr>
        </p:nvSpPr>
        <p:spPr>
          <a:xfrm>
            <a:off x="566928" y="310896"/>
            <a:ext cx="11058113" cy="786384"/>
          </a:xfrm>
        </p:spPr>
        <p:txBody>
          <a:bodyPr wrap="square" lIns="0" rIns="0" tIns="0" bIns="0" anchor="ctr"/>
          <a:lstStyle/>
          <a:p>
            <a:pPr algn="l"/>
            <a:r>
              <a:rPr sz="3000" b="1" lang="en-US" dirty="0">
                <a:solidFill>
                  <a:srgbClr val="083D62"/>
                </a:solidFill>
                <a:latin typeface="Calibri"/>
              </a:rPr>
              <a:t>Key takeaways</a:t>
            </a:r>
          </a:p>
        </p:txBody>
      </p:sp>
      <p:sp>
        <p:nvSpPr>
          <p:cNvPr id="3" name="Triangular first" descr="Triangular first&#10;Forward and backward substitution solve a triangular system in about n^2/2 multiplications. Everything else today exists to produce one."/>
          <p:cNvSpPr/>
          <p:nvPr/>
        </p:nvSpPr>
        <p:spPr>
          <a:xfrm>
            <a:off x="566928" y="1335024"/>
            <a:ext cx="11058113" cy="9144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8680" rIns="201168" tIns="118872" bIns="146304"/>
          <a:lstStyle/>
          <a:p>
            <a:pPr algn="l">
              <a:spcBef>
                <a:spcPts val="0"/>
              </a:spcBef>
              <a:spcAft>
                <a:spcPts val="300"/>
              </a:spcAft>
              <a:buNone/>
            </a:pPr>
            <a:r>
              <a:rPr sz="1700" b="1" i="0" lang="en-US" dirty="0">
                <a:solidFill>
                  <a:srgbClr val="083D62"/>
                </a:solidFill>
                <a:latin typeface="Calibri"/>
              </a:rPr>
              <a:t>Triangular first</a:t>
            </a:r>
          </a:p>
          <a:p>
            <a:pPr algn="l">
              <a:spcBef>
                <a:spcPts val="0"/>
              </a:spcBef>
              <a:spcAft>
                <a:spcPts val="0"/>
              </a:spcAft>
              <a:buNone/>
            </a:pPr>
            <a:r>
              <a:rPr sz="1500" b="0" i="0" lang="en-US" dirty="0">
                <a:solidFill>
                  <a:srgbClr val="111827"/>
                </a:solidFill>
                <a:latin typeface="Calibri"/>
              </a:rPr>
              <a:t>Forward and backward substitution solve a triangular system in about n^2/2 multiplications. Everything else today exists to produce one.</a:t>
            </a:r>
          </a:p>
        </p:txBody>
      </p:sp>
      <p:sp>
        <p:nvSpPr>
          <p:cNvPr id="4" name="1" descr="1"/>
          <p:cNvSpPr/>
          <p:nvPr/>
        </p:nvSpPr>
        <p:spPr>
          <a:xfrm>
            <a:off x="786384" y="1572768"/>
            <a:ext cx="438912" cy="438912"/>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lang="en-US" dirty="0">
                <a:solidFill>
                  <a:srgbClr val="FFFFFF"/>
                </a:solidFill>
                <a:latin typeface="Calibri"/>
              </a:rPr>
              <a:t>1</a:t>
            </a:r>
          </a:p>
        </p:txBody>
      </p:sp>
      <p:sp>
        <p:nvSpPr>
          <p:cNvPr id="5" name="Elimination costs n^3/3" descr="Elimination costs n^3/3&#10;Gaussian elimination dominates the solve. Cramer's rule, at O(n!), is not a competitor at any size that matters."/>
          <p:cNvSpPr/>
          <p:nvPr/>
        </p:nvSpPr>
        <p:spPr>
          <a:xfrm>
            <a:off x="566928" y="2322576"/>
            <a:ext cx="11058113" cy="91440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8680" rIns="201168" tIns="118872" bIns="146304"/>
          <a:lstStyle/>
          <a:p>
            <a:pPr algn="l">
              <a:spcBef>
                <a:spcPts val="0"/>
              </a:spcBef>
              <a:spcAft>
                <a:spcPts val="300"/>
              </a:spcAft>
              <a:buNone/>
            </a:pPr>
            <a:r>
              <a:rPr sz="1700" b="1" i="0" lang="en-US" dirty="0">
                <a:solidFill>
                  <a:srgbClr val="083D62"/>
                </a:solidFill>
                <a:latin typeface="Calibri"/>
              </a:rPr>
              <a:t>Elimination costs n^3/3</a:t>
            </a:r>
          </a:p>
          <a:p>
            <a:pPr algn="l">
              <a:spcBef>
                <a:spcPts val="0"/>
              </a:spcBef>
              <a:spcAft>
                <a:spcPts val="0"/>
              </a:spcAft>
              <a:buNone/>
            </a:pPr>
            <a:r>
              <a:rPr sz="1500" b="0" i="0" lang="en-US" dirty="0">
                <a:solidFill>
                  <a:srgbClr val="111827"/>
                </a:solidFill>
                <a:latin typeface="Calibri"/>
              </a:rPr>
              <a:t>Gaussian elimination dominates the solve. Cramer's rule, at O(n!), is not a competitor at any size that matters.</a:t>
            </a:r>
          </a:p>
        </p:txBody>
      </p:sp>
      <p:sp>
        <p:nvSpPr>
          <p:cNvPr id="6" name="2" descr="2"/>
          <p:cNvSpPr/>
          <p:nvPr/>
        </p:nvSpPr>
        <p:spPr>
          <a:xfrm>
            <a:off x="786384" y="2560320"/>
            <a:ext cx="438912" cy="438912"/>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lang="en-US" dirty="0">
                <a:solidFill>
                  <a:srgbClr val="FFFFFF"/>
                </a:solidFill>
                <a:latin typeface="Calibri"/>
              </a:rPr>
              <a:t>2</a:t>
            </a:r>
          </a:p>
        </p:txBody>
      </p:sp>
      <p:sp>
        <p:nvSpPr>
          <p:cNvPr id="7" name="Pivoting is not optional" descr="Pivoting is not optional&#10;A zero pivot stops the algorithm; a tiny pivot quietly returns a wrong answer. Partial pivoting keeps every multiplier at most 1."/>
          <p:cNvSpPr/>
          <p:nvPr/>
        </p:nvSpPr>
        <p:spPr>
          <a:xfrm>
            <a:off x="566928" y="3310128"/>
            <a:ext cx="11058113" cy="9144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8680" rIns="201168" tIns="118872" bIns="146304"/>
          <a:lstStyle/>
          <a:p>
            <a:pPr algn="l">
              <a:spcBef>
                <a:spcPts val="0"/>
              </a:spcBef>
              <a:spcAft>
                <a:spcPts val="300"/>
              </a:spcAft>
              <a:buNone/>
            </a:pPr>
            <a:r>
              <a:rPr sz="1700" b="1" i="0" lang="en-US" dirty="0">
                <a:solidFill>
                  <a:srgbClr val="083D62"/>
                </a:solidFill>
                <a:latin typeface="Calibri"/>
              </a:rPr>
              <a:t>Pivoting is not optional</a:t>
            </a:r>
          </a:p>
          <a:p>
            <a:pPr algn="l">
              <a:spcBef>
                <a:spcPts val="0"/>
              </a:spcBef>
              <a:spcAft>
                <a:spcPts val="0"/>
              </a:spcAft>
              <a:buNone/>
            </a:pPr>
            <a:r>
              <a:rPr sz="1500" b="0" i="0" lang="en-US" dirty="0">
                <a:solidFill>
                  <a:srgbClr val="111827"/>
                </a:solidFill>
                <a:latin typeface="Calibri"/>
              </a:rPr>
              <a:t>A zero pivot stops the algorithm; a tiny pivot quietly returns a wrong answer. Partial pivoting keeps every multiplier at most 1.</a:t>
            </a:r>
          </a:p>
        </p:txBody>
      </p:sp>
      <p:sp>
        <p:nvSpPr>
          <p:cNvPr id="8" name="3" descr="3"/>
          <p:cNvSpPr/>
          <p:nvPr/>
        </p:nvSpPr>
        <p:spPr>
          <a:xfrm>
            <a:off x="786384" y="3547872"/>
            <a:ext cx="438912" cy="438912"/>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lang="en-US" dirty="0">
                <a:solidFill>
                  <a:srgbClr val="FFFFFF"/>
                </a:solidFill>
                <a:latin typeface="Calibri"/>
              </a:rPr>
              <a:t>3</a:t>
            </a:r>
          </a:p>
        </p:txBody>
      </p:sp>
      <p:sp>
        <p:nvSpPr>
          <p:cNvPr id="9" name="Scale before you compare" descr="Scale before you compare&#10;Scaled-column pivoting divides each candidate by its row scale, so an arbitrarily rescaled equation cannot capture the pivot."/>
          <p:cNvSpPr/>
          <p:nvPr/>
        </p:nvSpPr>
        <p:spPr>
          <a:xfrm>
            <a:off x="566928" y="4297680"/>
            <a:ext cx="11058113" cy="914400"/>
          </a:xfrm>
          <a:prstGeom prst="roundRect">
            <a:avLst>
              <a:gd name="adj" fmla="val 3500"/>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8680" rIns="201168" tIns="118872" bIns="146304"/>
          <a:lstStyle/>
          <a:p>
            <a:pPr algn="l">
              <a:spcBef>
                <a:spcPts val="0"/>
              </a:spcBef>
              <a:spcAft>
                <a:spcPts val="300"/>
              </a:spcAft>
              <a:buNone/>
            </a:pPr>
            <a:r>
              <a:rPr sz="1700" b="1" i="0" lang="en-US" dirty="0">
                <a:solidFill>
                  <a:srgbClr val="083D62"/>
                </a:solidFill>
                <a:latin typeface="Calibri"/>
              </a:rPr>
              <a:t>Scale before you compare</a:t>
            </a:r>
          </a:p>
          <a:p>
            <a:pPr algn="l">
              <a:spcBef>
                <a:spcPts val="0"/>
              </a:spcBef>
              <a:spcAft>
                <a:spcPts val="0"/>
              </a:spcAft>
              <a:buNone/>
            </a:pPr>
            <a:r>
              <a:rPr sz="1500" b="0" i="0" lang="en-US" dirty="0">
                <a:solidFill>
                  <a:srgbClr val="111827"/>
                </a:solidFill>
                <a:latin typeface="Calibri"/>
              </a:rPr>
              <a:t>Scaled-column pivoting divides each candidate by its row scale, so an arbitrarily rescaled equation cannot capture the pivot.</a:t>
            </a:r>
          </a:p>
        </p:txBody>
      </p:sp>
      <p:sp>
        <p:nvSpPr>
          <p:cNvPr id="10" name="4" descr="4"/>
          <p:cNvSpPr/>
          <p:nvPr/>
        </p:nvSpPr>
        <p:spPr>
          <a:xfrm>
            <a:off x="786384" y="4535424"/>
            <a:ext cx="438912" cy="438912"/>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lang="en-US" dirty="0">
                <a:solidFill>
                  <a:srgbClr val="FFFFFF"/>
                </a:solidFill>
                <a:latin typeface="Calibri"/>
              </a:rPr>
              <a:t>4</a:t>
            </a:r>
          </a:p>
        </p:txBody>
      </p:sp>
      <p:sp>
        <p:nvSpPr>
          <p:cNvPr id="11" name="Reuse the work" descr="Reuse the work&#10;Many right-hand sides at once cost one elimination. Right-hand sides that arrive later need a factorization."/>
          <p:cNvSpPr/>
          <p:nvPr/>
        </p:nvSpPr>
        <p:spPr>
          <a:xfrm>
            <a:off x="566928" y="5285232"/>
            <a:ext cx="11058113" cy="914400"/>
          </a:xfrm>
          <a:prstGeom prst="roundRect">
            <a:avLst>
              <a:gd name="adj" fmla="val 35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8680" rIns="201168" tIns="118872" bIns="146304"/>
          <a:lstStyle/>
          <a:p>
            <a:pPr algn="l">
              <a:spcBef>
                <a:spcPts val="0"/>
              </a:spcBef>
              <a:spcAft>
                <a:spcPts val="300"/>
              </a:spcAft>
              <a:buNone/>
            </a:pPr>
            <a:r>
              <a:rPr sz="1700" b="1" i="0" lang="en-US" dirty="0">
                <a:solidFill>
                  <a:srgbClr val="083D62"/>
                </a:solidFill>
                <a:latin typeface="Calibri"/>
              </a:rPr>
              <a:t>Reuse the work</a:t>
            </a:r>
          </a:p>
          <a:p>
            <a:pPr algn="l">
              <a:spcBef>
                <a:spcPts val="0"/>
              </a:spcBef>
              <a:spcAft>
                <a:spcPts val="0"/>
              </a:spcAft>
              <a:buNone/>
            </a:pPr>
            <a:r>
              <a:rPr sz="1500" b="0" i="0" lang="en-US" dirty="0">
                <a:solidFill>
                  <a:srgbClr val="111827"/>
                </a:solidFill>
                <a:latin typeface="Calibri"/>
              </a:rPr>
              <a:t>Many right-hand sides at once cost one elimination. Right-hand sides that arrive later need a factorization.</a:t>
            </a:r>
          </a:p>
        </p:txBody>
      </p:sp>
      <p:sp>
        <p:nvSpPr>
          <p:cNvPr id="12" name="5" descr="5"/>
          <p:cNvSpPr/>
          <p:nvPr/>
        </p:nvSpPr>
        <p:spPr>
          <a:xfrm>
            <a:off x="786384" y="5522976"/>
            <a:ext cx="438912" cy="438912"/>
          </a:xfrm>
          <a:prstGeom prst="ellipse">
            <a:avLst/>
          </a:prstGeom>
          <a:solidFill>
            <a:srgbClr val="083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lang="en-US" dirty="0">
                <a:solidFill>
                  <a:srgbClr val="FFFFFF"/>
                </a:solidFill>
                <a:latin typeface="Calibri"/>
              </a:rPr>
              <a:t>5</a:t>
            </a:r>
          </a:p>
        </p:txBody>
      </p:sp>
      <p:sp>
        <p:nvSpPr>
          <p:cNvPr id="13" name="MATH 616 · Computational Linear Algebra  ·  Direct Methods f" descr="MATH 616 · Computational Linear Algebra  ·  Direct Methods for Linear Systems  ·  Slide 36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3F4B5C"/>
                </a:solidFill>
                <a:latin typeface="Calibri"/>
              </a:rPr>
              <a:t>MATH 616 · Computational Linear Algebra  ·  Direct Methods for Linear Systems  ·  Slide 36 of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83D62"/>
        </a:solidFill>
        <a:effectLst/>
      </p:bgPr>
    </p:bg>
    <p:spTree>
      <p:nvGrpSpPr>
        <p:cNvPr id="1" name=""/>
        <p:cNvGrpSpPr/>
        <p:nvPr/>
      </p:nvGrpSpPr>
      <p:grpSpPr/>
      <p:sp>
        <p:nvSpPr>
          <p:cNvPr id="2" name="Next: matrix factorization" descr="Next: matrix factorization"/>
          <p:cNvSpPr>
            <a:spLocks noGrp="1"/>
          </p:cNvSpPr>
          <p:nvPr>
            <p:ph type="title"/>
          </p:nvPr>
        </p:nvSpPr>
        <p:spPr>
          <a:xfrm>
            <a:off x="566928" y="1737360"/>
            <a:ext cx="11058113" cy="822960"/>
          </a:xfrm>
        </p:spPr>
        <p:txBody>
          <a:bodyPr wrap="square" lIns="0" rIns="0" tIns="0" bIns="0" anchor="ctr"/>
          <a:lstStyle/>
          <a:p>
            <a:pPr algn="l"/>
            <a:r>
              <a:rPr sz="3400" b="1" lang="en-US" dirty="0">
                <a:solidFill>
                  <a:srgbClr val="FFFFFF"/>
                </a:solidFill>
                <a:latin typeface="Calibri"/>
              </a:rPr>
              <a:t>Next: matrix factorization</a:t>
            </a:r>
          </a:p>
        </p:txBody>
      </p:sp>
      <p:sp>
        <p:nvSpPr>
          <p:cNvPr id="3" name="The question this lecture leaves open" descr="The question this lecture leaves open&#10;Gaussian elimination throws the multipliers away. If we keep them instead, we get A = LU — and every later right-hand side costs only two triangular solves."/>
          <p:cNvSpPr/>
          <p:nvPr/>
        </p:nvSpPr>
        <p:spPr>
          <a:xfrm>
            <a:off x="566928" y="2743200"/>
            <a:ext cx="11058113" cy="1371600"/>
          </a:xfrm>
          <a:prstGeom prst="roundRect">
            <a:avLst>
              <a:gd name="adj" fmla="val 3500"/>
            </a:avLst>
          </a:prstGeom>
          <a:solidFill>
            <a:srgbClr val="104E7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900" b="1" i="0" lang="en-US" dirty="0">
                <a:solidFill>
                  <a:srgbClr val="FFFFFF"/>
                </a:solidFill>
                <a:latin typeface="Calibri"/>
              </a:rPr>
              <a:t>The question this lecture leaves open</a:t>
            </a:r>
          </a:p>
          <a:p>
            <a:pPr algn="l">
              <a:spcBef>
                <a:spcPts val="0"/>
              </a:spcBef>
              <a:spcAft>
                <a:spcPts val="0"/>
              </a:spcAft>
              <a:buNone/>
            </a:pPr>
            <a:r>
              <a:rPr sz="1700" b="0" i="0" lang="en-US" dirty="0">
                <a:solidFill>
                  <a:srgbClr val="D7E4EE"/>
                </a:solidFill>
                <a:latin typeface="Calibri"/>
              </a:rPr>
              <a:t>Gaussian elimination throws the multipliers away. If we keep them instead, we get A = LU — and every later right-hand side costs only two triangular solves.</a:t>
            </a:r>
          </a:p>
        </p:txBody>
      </p:sp>
      <p:sp>
        <p:nvSpPr>
          <p:cNvPr id="4" name="To prepare" descr="To prepare&#10;Read the opening of the matrix-factorization notes, up to the first LU theorem, and redo today's 4 x 4 elimination by hand, writing down each multiplier as you go. Those multipliers are exactly the entries of L."/>
          <p:cNvSpPr/>
          <p:nvPr/>
        </p:nvSpPr>
        <p:spPr>
          <a:xfrm>
            <a:off x="566928" y="4315968"/>
            <a:ext cx="11058113" cy="1572768"/>
          </a:xfrm>
          <a:prstGeom prst="roundRect">
            <a:avLst>
              <a:gd name="adj" fmla="val 3500"/>
            </a:avLst>
          </a:prstGeom>
          <a:solidFill>
            <a:srgbClr val="104E7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spcBef>
                <a:spcPts val="0"/>
              </a:spcBef>
              <a:spcAft>
                <a:spcPts val="700"/>
              </a:spcAft>
              <a:buNone/>
            </a:pPr>
            <a:r>
              <a:rPr sz="1900" b="1" i="0" lang="en-US" dirty="0">
                <a:solidFill>
                  <a:srgbClr val="FFFFFF"/>
                </a:solidFill>
                <a:latin typeface="Calibri"/>
              </a:rPr>
              <a:t>To prepare</a:t>
            </a:r>
          </a:p>
          <a:p>
            <a:pPr algn="l">
              <a:spcBef>
                <a:spcPts val="0"/>
              </a:spcBef>
              <a:spcAft>
                <a:spcPts val="0"/>
              </a:spcAft>
              <a:buNone/>
            </a:pPr>
            <a:r>
              <a:rPr sz="1700" b="0" i="0" lang="en-US" dirty="0">
                <a:solidFill>
                  <a:srgbClr val="D7E4EE"/>
                </a:solidFill>
                <a:latin typeface="Calibri"/>
              </a:rPr>
              <a:t>Read the opening of the matrix-factorization notes, up to the first LU theorem, and redo today's 4 x 4 elimination by hand, writing down each multiplier as you go. Those multipliers are exactly the entries of L.</a:t>
            </a:r>
          </a:p>
        </p:txBody>
      </p:sp>
      <p:sp>
        <p:nvSpPr>
          <p:cNvPr id="5" name="MATH 616 · Computational Linear Algebra  ·  Direct Methods f" descr="MATH 616 · Computational Linear Algebra  ·  Direct Methods for Linear Systems  ·  Slide 37 of 37"/>
          <p:cNvSpPr txBox="1"/>
          <p:nvPr/>
        </p:nvSpPr>
        <p:spPr>
          <a:xfrm>
            <a:off x="566928" y="6345936"/>
            <a:ext cx="11058113" cy="292608"/>
          </a:xfrm>
          <a:prstGeom prst="rect">
            <a:avLst/>
          </a:prstGeom>
          <a:noFill/>
        </p:spPr>
        <p:txBody>
          <a:bodyPr wrap="square" lIns="0" rIns="0" tIns="0" bIns="0" anchor="ctr">
            <a:spAutoFit/>
          </a:bodyPr>
          <a:lstStyle/>
          <a:p>
            <a:pPr algn="l"/>
            <a:r>
              <a:rPr sz="1200" lang="en-US" dirty="0">
                <a:solidFill>
                  <a:srgbClr val="C7D6E2"/>
                </a:solidFill>
                <a:latin typeface="Calibri"/>
              </a:rPr>
              <a:t>MATH 616 · Computational Linear Algebra  ·  Direct Methods for Linear Systems  ·  Slide 37 of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 Methods for Solving Linear Systems (MATH 616)</dc:title>
  <dc:subject>MATH 616 Computational Linear Algebra</dc:subject>
  <dc:creator>Dr. Xuping Xie, Old Dominion University</dc:creator>
  <cp:keywords>Gaussian elimination, pivoting, backward substitution, linear systems</cp:keywords>
  <dc:description>Lecture slides on direct methods for linear systems: triangular solves, Gaussian elimination, partial and scaled-column pivoting, operation counts, multiple right-hand sides, and matrix inversion.</dc:description>
  <cp:lastModifiedBy>Steve Canny</cp:lastModifiedBy>
  <cp:revision>1</cp:revision>
  <dcterms:created xsi:type="dcterms:W3CDTF">2013-01-27T09:14:16Z</dcterms:created>
  <dcterms:modified xsi:type="dcterms:W3CDTF">2013-01-27T09:15:58Z</dcterms:modified>
  <cp:category/>
  <dc:language>en-US</dc:language>
</cp:coreProperties>
</file>