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 lang="en-US">
                <a:solidFill>
                  <a:srgbClr val="083D62"/>
                </a:solidFill>
                <a:latin typeface="Calibri"/>
              </a:rPr>
              <a:t>ρ(M_SOR(ω)) against ω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ρ(M_SOR(ω))</c:v>
                </c:pt>
              </c:strCache>
            </c:strRef>
          </c:tx>
          <c:spPr>
            <a:ln w="31750">
              <a:solidFill>
                <a:srgbClr val="083D62"/>
              </a:solidFill>
            </a:ln>
          </c:spPr>
          <c:marker>
            <c:symbol val="none"/>
          </c:marker>
          <c:xVal>
            <c:numRef>
              <c:f>Sheet1!$A$2:$A$60</c:f>
              <c:numCache>
                <c:formatCode>General</c:formatCode>
                <c:ptCount val="59"/>
                <c:pt idx="0">
                  <c:v>0.5</c:v>
                </c:pt>
                <c:pt idx="1">
                  <c:v>0.525</c:v>
                </c:pt>
                <c:pt idx="2">
                  <c:v>0.55</c:v>
                </c:pt>
                <c:pt idx="3">
                  <c:v>0.575</c:v>
                </c:pt>
                <c:pt idx="4">
                  <c:v>0.6</c:v>
                </c:pt>
                <c:pt idx="5">
                  <c:v>0.625</c:v>
                </c:pt>
                <c:pt idx="6">
                  <c:v>0.65</c:v>
                </c:pt>
                <c:pt idx="7">
                  <c:v>0.675</c:v>
                </c:pt>
                <c:pt idx="8">
                  <c:v>0.7</c:v>
                </c:pt>
                <c:pt idx="9">
                  <c:v>0.725</c:v>
                </c:pt>
                <c:pt idx="10">
                  <c:v>0.75</c:v>
                </c:pt>
                <c:pt idx="11">
                  <c:v>0.775</c:v>
                </c:pt>
                <c:pt idx="12">
                  <c:v>0.8</c:v>
                </c:pt>
                <c:pt idx="13">
                  <c:v>0.825</c:v>
                </c:pt>
                <c:pt idx="14">
                  <c:v>0.85</c:v>
                </c:pt>
                <c:pt idx="15">
                  <c:v>0.875</c:v>
                </c:pt>
                <c:pt idx="16">
                  <c:v>0.9</c:v>
                </c:pt>
                <c:pt idx="17">
                  <c:v>0.925</c:v>
                </c:pt>
                <c:pt idx="18">
                  <c:v>0.95</c:v>
                </c:pt>
                <c:pt idx="19">
                  <c:v>0.975</c:v>
                </c:pt>
                <c:pt idx="20">
                  <c:v>1.0</c:v>
                </c:pt>
                <c:pt idx="21">
                  <c:v>1.025</c:v>
                </c:pt>
                <c:pt idx="22">
                  <c:v>1.05</c:v>
                </c:pt>
                <c:pt idx="23">
                  <c:v>1.075</c:v>
                </c:pt>
                <c:pt idx="24">
                  <c:v>1.1</c:v>
                </c:pt>
                <c:pt idx="25">
                  <c:v>1.125</c:v>
                </c:pt>
                <c:pt idx="26">
                  <c:v>1.15</c:v>
                </c:pt>
                <c:pt idx="27">
                  <c:v>1.175</c:v>
                </c:pt>
                <c:pt idx="28">
                  <c:v>1.2</c:v>
                </c:pt>
                <c:pt idx="29">
                  <c:v>1.225</c:v>
                </c:pt>
                <c:pt idx="30">
                  <c:v>1.25</c:v>
                </c:pt>
                <c:pt idx="31">
                  <c:v>1.275</c:v>
                </c:pt>
                <c:pt idx="32">
                  <c:v>1.3</c:v>
                </c:pt>
                <c:pt idx="33">
                  <c:v>1.325</c:v>
                </c:pt>
                <c:pt idx="34">
                  <c:v>1.35</c:v>
                </c:pt>
                <c:pt idx="35">
                  <c:v>1.375</c:v>
                </c:pt>
                <c:pt idx="36">
                  <c:v>1.4</c:v>
                </c:pt>
                <c:pt idx="37">
                  <c:v>1.425</c:v>
                </c:pt>
                <c:pt idx="38">
                  <c:v>1.45</c:v>
                </c:pt>
                <c:pt idx="39">
                  <c:v>1.475</c:v>
                </c:pt>
                <c:pt idx="40">
                  <c:v>1.5</c:v>
                </c:pt>
                <c:pt idx="41">
                  <c:v>1.525</c:v>
                </c:pt>
                <c:pt idx="42">
                  <c:v>1.55</c:v>
                </c:pt>
                <c:pt idx="43">
                  <c:v>1.575</c:v>
                </c:pt>
                <c:pt idx="44">
                  <c:v>1.6</c:v>
                </c:pt>
                <c:pt idx="45">
                  <c:v>1.625</c:v>
                </c:pt>
                <c:pt idx="46">
                  <c:v>1.65</c:v>
                </c:pt>
                <c:pt idx="47">
                  <c:v>1.675</c:v>
                </c:pt>
                <c:pt idx="48">
                  <c:v>1.7</c:v>
                </c:pt>
                <c:pt idx="49">
                  <c:v>1.725</c:v>
                </c:pt>
                <c:pt idx="50">
                  <c:v>1.75</c:v>
                </c:pt>
                <c:pt idx="51">
                  <c:v>1.775</c:v>
                </c:pt>
                <c:pt idx="52">
                  <c:v>1.8</c:v>
                </c:pt>
                <c:pt idx="53">
                  <c:v>1.825</c:v>
                </c:pt>
                <c:pt idx="54">
                  <c:v>1.85</c:v>
                </c:pt>
                <c:pt idx="55">
                  <c:v>1.875</c:v>
                </c:pt>
                <c:pt idx="56">
                  <c:v>1.9</c:v>
                </c:pt>
                <c:pt idx="57">
                  <c:v>1.925</c:v>
                </c:pt>
                <c:pt idx="58">
                  <c:v>1.95</c:v>
                </c:pt>
              </c:numCache>
            </c:numRef>
          </c:xVal>
          <c:yVal>
            <c:numRef>
              <c:f>Sheet1!$B$2:$B$60</c:f>
              <c:numCache>
                <c:formatCode>General</c:formatCode>
                <c:ptCount val="59"/>
                <c:pt idx="0">
                  <c:v>0.6649239125184869</c:v>
                </c:pt>
                <c:pt idx="1">
                  <c:v>0.645640599570672</c:v>
                </c:pt>
                <c:pt idx="2">
                  <c:v>0.626030576436694</c:v>
                </c:pt>
                <c:pt idx="3">
                  <c:v>0.6060750905907615</c:v>
                </c:pt>
                <c:pt idx="4">
                  <c:v>0.5857531644552437</c:v>
                </c:pt>
                <c:pt idx="5">
                  <c:v>0.5650411789467054</c:v>
                </c:pt>
                <c:pt idx="6">
                  <c:v>0.5439123478215642</c:v>
                </c:pt>
                <c:pt idx="7">
                  <c:v>0.5223360450504035</c:v>
                </c:pt>
                <c:pt idx="8">
                  <c:v>0.5002769308105404</c:v>
                </c:pt>
                <c:pt idx="9">
                  <c:v>0.47769379591314426</c:v>
                </c:pt>
                <c:pt idx="10">
                  <c:v>0.45453800341224343</c:v>
                </c:pt>
                <c:pt idx="11">
                  <c:v>0.4307513385500633</c:v>
                </c:pt>
                <c:pt idx="12">
                  <c:v>0.4062629627226496</c:v>
                </c:pt>
                <c:pt idx="13">
                  <c:v>0.3809849611316777</c:v>
                </c:pt>
                <c:pt idx="14">
                  <c:v>0.35480558684795205</c:v>
                </c:pt>
                <c:pt idx="15">
                  <c:v>0.3275785309565471</c:v>
                </c:pt>
                <c:pt idx="16">
                  <c:v>0.29910488216812264</c:v>
                </c:pt>
                <c:pt idx="17">
                  <c:v>0.2691004859395554</c:v>
                </c:pt>
                <c:pt idx="18">
                  <c:v>0.2371307738122594</c:v>
                </c:pt>
                <c:pt idx="19">
                  <c:v>0.20246102106675304</c:v>
                </c:pt>
                <c:pt idx="20">
                  <c:v>0.1636271242968684</c:v>
                </c:pt>
                <c:pt idx="21">
                  <c:v>0.11654815731812866</c:v>
                </c:pt>
                <c:pt idx="22">
                  <c:v>0.0500000000000001</c:v>
                </c:pt>
                <c:pt idx="23">
                  <c:v>0.07499999999999997</c:v>
                </c:pt>
                <c:pt idx="24">
                  <c:v>0.10000000000000009</c:v>
                </c:pt>
                <c:pt idx="25">
                  <c:v>0.125</c:v>
                </c:pt>
                <c:pt idx="26">
                  <c:v>0.14999999999999997</c:v>
                </c:pt>
                <c:pt idx="27">
                  <c:v>0.17500000000000002</c:v>
                </c:pt>
                <c:pt idx="28">
                  <c:v>0.19999999999999987</c:v>
                </c:pt>
                <c:pt idx="29">
                  <c:v>0.22500000000000003</c:v>
                </c:pt>
                <c:pt idx="30">
                  <c:v>0.25</c:v>
                </c:pt>
                <c:pt idx="31">
                  <c:v>0.27500000000000013</c:v>
                </c:pt>
                <c:pt idx="32">
                  <c:v>0.30000000000000016</c:v>
                </c:pt>
                <c:pt idx="33">
                  <c:v>0.32499999999999996</c:v>
                </c:pt>
                <c:pt idx="34">
                  <c:v>0.35000000000000003</c:v>
                </c:pt>
                <c:pt idx="35">
                  <c:v>0.3750000000000004</c:v>
                </c:pt>
                <c:pt idx="36">
                  <c:v>0.39999999999999997</c:v>
                </c:pt>
                <c:pt idx="37">
                  <c:v>0.4250000000000001</c:v>
                </c:pt>
                <c:pt idx="38">
                  <c:v>0.44999999999999984</c:v>
                </c:pt>
                <c:pt idx="39">
                  <c:v>0.47500000000000037</c:v>
                </c:pt>
                <c:pt idx="40">
                  <c:v>0.5</c:v>
                </c:pt>
                <c:pt idx="41">
                  <c:v>0.5250000000000002</c:v>
                </c:pt>
                <c:pt idx="42">
                  <c:v>0.5500000000000002</c:v>
                </c:pt>
                <c:pt idx="43">
                  <c:v>0.5749999999999998</c:v>
                </c:pt>
                <c:pt idx="44">
                  <c:v>0.6000000000000002</c:v>
                </c:pt>
                <c:pt idx="45">
                  <c:v>0.6250000000000004</c:v>
                </c:pt>
                <c:pt idx="46">
                  <c:v>0.6500000000000001</c:v>
                </c:pt>
                <c:pt idx="47">
                  <c:v>0.6750000000000005</c:v>
                </c:pt>
                <c:pt idx="48">
                  <c:v>0.7000000000000006</c:v>
                </c:pt>
                <c:pt idx="49">
                  <c:v>0.7250000000000002</c:v>
                </c:pt>
                <c:pt idx="50">
                  <c:v>0.7500000000000002</c:v>
                </c:pt>
                <c:pt idx="51">
                  <c:v>0.7750000000000002</c:v>
                </c:pt>
                <c:pt idx="52">
                  <c:v>0.8000000000000002</c:v>
                </c:pt>
                <c:pt idx="53">
                  <c:v>0.8250000000000004</c:v>
                </c:pt>
                <c:pt idx="54">
                  <c:v>0.8500000000000003</c:v>
                </c:pt>
                <c:pt idx="55">
                  <c:v>0.8750000000000002</c:v>
                </c:pt>
                <c:pt idx="56">
                  <c:v>0.9</c:v>
                </c:pt>
                <c:pt idx="57">
                  <c:v>0.9249999999999998</c:v>
                </c:pt>
                <c:pt idx="58">
                  <c:v>0.9499999999999998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.0"/>
          <c:min val="0.5"/>
        </c:scaling>
        <c:delete val="0"/>
        <c:axPos val="b"/>
        <c:title>
          <c:tx>
            <c:rich>
              <a:bodyPr/>
              <a:lstStyle/>
              <a:p>
                <a:r>
                  <a:rPr sz="1200" b="0" lang="en-US">
                    <a:solidFill>
                      <a:srgbClr val="111827"/>
                    </a:solidFill>
                    <a:latin typeface="Calibri"/>
                  </a:rPr>
                  <a:t>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crossAx val="-2129643912"/>
        <c:crosses val="autoZero"/>
        <c:crossBetween val="midCat"/>
        <c:majorUnit val="0.25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lang="en-US">
                    <a:solidFill>
                      <a:srgbClr val="111827"/>
                    </a:solidFill>
                    <a:latin typeface="Calibri"/>
                  </a:rPr>
                  <a:t>spectral radius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1182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terative Methods for Linear Systems" descr="Iterative Methods for Linear Systems"/>
          <p:cNvSpPr>
            <a:spLocks noGrp="1"/>
          </p:cNvSpPr>
          <p:nvPr>
            <p:ph type="title"/>
          </p:nvPr>
        </p:nvSpPr>
        <p:spPr>
          <a:xfrm>
            <a:off x="566928" y="1938528"/>
            <a:ext cx="11055096" cy="914400"/>
          </a:xfrm>
        </p:spPr>
        <p:txBody>
          <a:bodyPr wrap="square" lIns="0" rIns="0" tIns="0" bIns="0" anchor="ctr"/>
          <a:lstStyle/>
          <a:p>
            <a:pPr algn="l"/>
            <a:r>
              <a:rPr sz="4000" b="1" i="0" lang="en-US">
                <a:solidFill>
                  <a:srgbClr val="FFFFFF"/>
                </a:solidFill>
                <a:latin typeface="Calibri"/>
              </a:rPr>
              <a:t>Iterative Methods for Linear Systems</a:t>
            </a:r>
          </a:p>
        </p:txBody>
      </p:sp>
      <p:sp>
        <p:nvSpPr>
          <p:cNvPr id="3" name="MATH 616 · Computational Linear Algebra"/>
          <p:cNvSpPr txBox="1"/>
          <p:nvPr/>
        </p:nvSpPr>
        <p:spPr>
          <a:xfrm>
            <a:off x="566928" y="1444752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MATH 616 · Computational Linear Algebra</a:t>
            </a:r>
          </a:p>
        </p:txBody>
      </p:sp>
      <p:sp>
        <p:nvSpPr>
          <p:cNvPr id="4" name="Jacobi, Gauss–Seidel, and successive over-relaxation: buildi"/>
          <p:cNvSpPr txBox="1"/>
          <p:nvPr/>
        </p:nvSpPr>
        <p:spPr>
          <a:xfrm>
            <a:off x="566928" y="3017520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7E4EE"/>
                </a:solidFill>
                <a:latin typeface="Calibri"/>
              </a:rPr>
              <a:t>Jacobi, Gauss–Seidel, and successive over-relaxation: building a sequence that converges to A⁻¹b, and the theory that says when it does</a:t>
            </a:r>
          </a:p>
        </p:txBody>
      </p:sp>
      <p:sp>
        <p:nvSpPr>
          <p:cNvPr id="5" name="Dr. Xuping Xie · Old Dominion University"/>
          <p:cNvSpPr txBox="1"/>
          <p:nvPr/>
        </p:nvSpPr>
        <p:spPr>
          <a:xfrm>
            <a:off x="566928" y="393192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 lang="en-US">
                <a:solidFill>
                  <a:srgbClr val="FFFFFF"/>
                </a:solidFill>
                <a:latin typeface="Calibri"/>
              </a:rPr>
              <a:t>Dr. Xuping Xie · Old Dominion University</a:t>
            </a:r>
          </a:p>
        </p:txBody>
      </p:sp>
      <p:sp>
        <p:nvSpPr>
          <p:cNvPr id="6" name="Where we left off"/>
          <p:cNvSpPr/>
          <p:nvPr/>
        </p:nvSpPr>
        <p:spPr>
          <a:xfrm>
            <a:off x="566928" y="4572000"/>
            <a:ext cx="11055096" cy="1426464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Where we left off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7E4EE"/>
                </a:solidFill>
                <a:latin typeface="Calibri"/>
              </a:rPr>
              <a:t>Every direct method so far costs O(n³) operations and stores O(n²) numbers, even when A is sparse. For the very large systems that come out of differential equations that is not affordable, so today we stop solving exactly and start converging.</a:t>
            </a:r>
          </a:p>
        </p:txBody>
      </p:sp>
      <p:sp>
        <p:nvSpPr>
          <p:cNvPr id="7" name="MATH 616 · Computational Linear Algebra  ·  Iterative Methods  ·  Slide 1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1 of 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at this lecture covers" descr="What this lecture cover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What this lecture covers</a:t>
            </a:r>
          </a:p>
        </p:txBody>
      </p:sp>
      <p:sp>
        <p:nvSpPr>
          <p:cNvPr id="3" name="Why iterate at all"/>
          <p:cNvSpPr/>
          <p:nvPr/>
        </p:nvSpPr>
        <p:spPr>
          <a:xfrm>
            <a:off x="566928" y="1335024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Why iterate at 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cost wall for direct methods, and the fixed-point form x = M x + d that every method shares.</a:t>
            </a:r>
          </a:p>
        </p:txBody>
      </p:sp>
      <p:sp>
        <p:nvSpPr>
          <p:cNvPr id="4" name="1"/>
          <p:cNvSpPr/>
          <p:nvPr/>
        </p:nvSpPr>
        <p:spPr>
          <a:xfrm>
            <a:off x="804672" y="15727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hree classical methods"/>
          <p:cNvSpPr/>
          <p:nvPr/>
        </p:nvSpPr>
        <p:spPr>
          <a:xfrm>
            <a:off x="4364736" y="1335024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Three classical methods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Jacobi, Gauss–Seidel, and SOR, by formula, by worked example, and in Python.</a:t>
            </a:r>
          </a:p>
        </p:txBody>
      </p:sp>
      <p:sp>
        <p:nvSpPr>
          <p:cNvPr id="6" name="2"/>
          <p:cNvSpPr/>
          <p:nvPr/>
        </p:nvSpPr>
        <p:spPr>
          <a:xfrm>
            <a:off x="4602480" y="15727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Matrix formulation"/>
          <p:cNvSpPr/>
          <p:nvPr/>
        </p:nvSpPr>
        <p:spPr>
          <a:xfrm>
            <a:off x="8162543" y="1335024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Matrix formulation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splitting A = D − L − U and the iteration matrix of each method.</a:t>
            </a:r>
          </a:p>
        </p:txBody>
      </p:sp>
      <p:sp>
        <p:nvSpPr>
          <p:cNvPr id="8" name="3"/>
          <p:cNvSpPr/>
          <p:nvPr/>
        </p:nvSpPr>
        <p:spPr>
          <a:xfrm>
            <a:off x="8400288" y="15727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Convergence theory"/>
          <p:cNvSpPr/>
          <p:nvPr/>
        </p:nvSpPr>
        <p:spPr>
          <a:xfrm>
            <a:off x="566928" y="3182111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Convergence theory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Norms, the spectral radius, and the theorem: convergence ⇔ ρ(M) &lt; 1.</a:t>
            </a:r>
          </a:p>
        </p:txBody>
      </p:sp>
      <p:sp>
        <p:nvSpPr>
          <p:cNvPr id="10" name="4"/>
          <p:cNvSpPr/>
          <p:nvPr/>
        </p:nvSpPr>
        <p:spPr>
          <a:xfrm>
            <a:off x="804672" y="3419855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Special matrices"/>
          <p:cNvSpPr/>
          <p:nvPr/>
        </p:nvSpPr>
        <p:spPr>
          <a:xfrm>
            <a:off x="4364736" y="3182111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Special matrices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Diagonal dominance, SPD matrices, Kahan's bound, and the optimal ω.</a:t>
            </a:r>
          </a:p>
        </p:txBody>
      </p:sp>
      <p:sp>
        <p:nvSpPr>
          <p:cNvPr id="12" name="5"/>
          <p:cNvSpPr/>
          <p:nvPr/>
        </p:nvSpPr>
        <p:spPr>
          <a:xfrm>
            <a:off x="4602480" y="3419855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he single idea"/>
          <p:cNvSpPr/>
          <p:nvPr/>
        </p:nvSpPr>
        <p:spPr>
          <a:xfrm>
            <a:off x="8162543" y="3182112"/>
            <a:ext cx="3459480" cy="157276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The single idea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FFFFFF"/>
                </a:solidFill>
                <a:latin typeface="Calibri"/>
              </a:rPr>
              <a:t>Pick an easy matrix Q that imitates A, then repeat x ← x + Q⁻¹(b − A x) until the residual is small.</a:t>
            </a:r>
          </a:p>
        </p:txBody>
      </p:sp>
      <p:sp>
        <p:nvSpPr>
          <p:cNvPr id="14" name="Nothing today needs A to be stored as a full matrix: each it"/>
          <p:cNvSpPr/>
          <p:nvPr/>
        </p:nvSpPr>
        <p:spPr>
          <a:xfrm>
            <a:off x="566928" y="5175504"/>
            <a:ext cx="11055096" cy="89611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Nothing today needs A to be stored as a full matrix: each iteration only needs the product A x and a solve with Q.</a:t>
            </a:r>
          </a:p>
        </p:txBody>
      </p:sp>
      <p:sp>
        <p:nvSpPr>
          <p:cNvPr id="15" name="MATH 616 · Computational Linear Algebra  ·  Iterative Methods  ·  Slide 2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 of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om exact solves to converging sequences" descr="From exact solves to converging sequences"/>
          <p:cNvSpPr>
            <a:spLocks noGrp="1"/>
          </p:cNvSpPr>
          <p:nvPr>
            <p:ph type="title"/>
          </p:nvPr>
        </p:nvSpPr>
        <p:spPr>
          <a:xfrm>
            <a:off x="566928" y="2212848"/>
            <a:ext cx="11055096" cy="1133856"/>
          </a:xfrm>
        </p:spPr>
        <p:txBody>
          <a:bodyPr wrap="square" lIns="0" rIns="0" tIns="0" bIns="0" anchor="ctr"/>
          <a:lstStyle/>
          <a:p>
            <a:pPr algn="l"/>
            <a:r>
              <a:rPr sz="3200" b="1" i="0" lang="en-US">
                <a:solidFill>
                  <a:srgbClr val="FFFFFF"/>
                </a:solidFill>
                <a:latin typeface="Calibri"/>
              </a:rPr>
              <a:t>From exact solves to converging sequences</a:t>
            </a:r>
          </a:p>
        </p:txBody>
      </p:sp>
      <p:sp>
        <p:nvSpPr>
          <p:cNvPr id="3" name="Topic 1"/>
          <p:cNvSpPr txBox="1"/>
          <p:nvPr/>
        </p:nvSpPr>
        <p:spPr>
          <a:xfrm>
            <a:off x="566928" y="179222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Topic 1</a:t>
            </a:r>
          </a:p>
        </p:txBody>
      </p:sp>
      <p:sp>
        <p:nvSpPr>
          <p:cNvPr id="4" name="Topic 1 contents"/>
          <p:cNvSpPr/>
          <p:nvPr/>
        </p:nvSpPr>
        <p:spPr>
          <a:xfrm>
            <a:off x="566928" y="3730752"/>
            <a:ext cx="11055096" cy="1380744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▸ Why Gaussian elimination stops being an option at n = 10⁶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fixed-point form x^(k+1) = M x^(k) + d and where M and d come from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▸ Why a limit of the iteration is automatically a solution of A x = b</a:t>
            </a:r>
          </a:p>
        </p:txBody>
      </p:sp>
      <p:sp>
        <p:nvSpPr>
          <p:cNvPr id="5" name="MATH 616 · Computational Linear Algebra  ·  Iterative Methods  ·  Slide 3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3 of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cost direct methods cannot escape" descr="The cost direct methods cannot escap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cost direct methods cannot escape</a:t>
            </a:r>
          </a:p>
        </p:txBody>
      </p:sp>
      <p:sp>
        <p:nvSpPr>
          <p:cNvPr id="3" name="stat n = 10⁶"/>
          <p:cNvSpPr/>
          <p:nvPr/>
        </p:nvSpPr>
        <p:spPr>
          <a:xfrm>
            <a:off x="566928" y="1335024"/>
            <a:ext cx="3459480" cy="170078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 lang="en-US">
                <a:solidFill>
                  <a:srgbClr val="083D62"/>
                </a:solidFill>
                <a:latin typeface="Calibri"/>
              </a:rPr>
              <a:t>n = 10⁶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unknowns in a routine 3-D simulation</a:t>
            </a:r>
          </a:p>
        </p:txBody>
      </p:sp>
      <p:sp>
        <p:nvSpPr>
          <p:cNvPr id="4" name="stat 2n³/3 ≈ 7 × 10¹⁷"/>
          <p:cNvSpPr/>
          <p:nvPr/>
        </p:nvSpPr>
        <p:spPr>
          <a:xfrm>
            <a:off x="4364736" y="1335024"/>
            <a:ext cx="3459480" cy="170078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 lang="en-US">
                <a:solidFill>
                  <a:srgbClr val="083D62"/>
                </a:solidFill>
                <a:latin typeface="Calibri"/>
              </a:rPr>
              <a:t>2n³/3 ≈ 7 × 10¹⁷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floating-point operations for one full elimination</a:t>
            </a:r>
          </a:p>
        </p:txBody>
      </p:sp>
      <p:sp>
        <p:nvSpPr>
          <p:cNvPr id="5" name="stat ≈ 1 week"/>
          <p:cNvSpPr/>
          <p:nvPr/>
        </p:nvSpPr>
        <p:spPr>
          <a:xfrm>
            <a:off x="8162543" y="1335024"/>
            <a:ext cx="3459480" cy="170078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 lang="en-US">
                <a:solidFill>
                  <a:srgbClr val="083D62"/>
                </a:solidFill>
                <a:latin typeface="Calibri"/>
              </a:rPr>
              <a:t>≈ 1 week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of CPU time on a teraflop machine, 10¹² operations per second</a:t>
            </a:r>
          </a:p>
        </p:txBody>
      </p:sp>
      <p:sp>
        <p:nvSpPr>
          <p:cNvPr id="6" name="What counted as a large system"/>
          <p:cNvSpPr/>
          <p:nvPr/>
        </p:nvSpPr>
        <p:spPr>
          <a:xfrm>
            <a:off x="566928" y="3310128"/>
            <a:ext cx="5504688" cy="19202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What counted as a large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Large has always meant whatever the hardware of the day could just barely eliminate. Problem sizes keep outrunning the machines, so the O(n³) cost keeps biting.</a:t>
            </a:r>
          </a:p>
        </p:txBody>
      </p:sp>
      <p:graphicFrame>
        <p:nvGraphicFramePr>
          <p:cNvPr id="7" name="Largest routinely solved system by year" descr="Table of the largest routinely solved system size by year: 20 in 1950, 200 in 1965, 2000 in 1980, 20000 in 1995"/>
          <p:cNvGraphicFramePr>
            <a:graphicFrameLocks noGrp="1"/>
          </p:cNvGraphicFramePr>
          <p:nvPr/>
        </p:nvGraphicFramePr>
        <p:xfrm>
          <a:off x="6400800" y="3310128"/>
          <a:ext cx="522122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0744"/>
                <a:gridCol w="960120"/>
                <a:gridCol w="960120"/>
                <a:gridCol w="96012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1950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1965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1980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1995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Largest n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2 000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sparsity remark"/>
          <p:cNvSpPr txBox="1"/>
          <p:nvPr/>
        </p:nvSpPr>
        <p:spPr>
          <a:xfrm>
            <a:off x="6400800" y="4343400"/>
            <a:ext cx="52212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Sparse matrices from differential equations have only a handful of nonzeros per row, yet elimination fills the triangular factors in. Iteration never forms them.</a:t>
            </a:r>
          </a:p>
        </p:txBody>
      </p:sp>
      <p:sp>
        <p:nvSpPr>
          <p:cNvPr id="9" name="Goal: a sequence x^(0), x^(1), x^(2), … with ‖x^(k) − A⁻¹b‖ "/>
          <p:cNvSpPr/>
          <p:nvPr/>
        </p:nvSpPr>
        <p:spPr>
          <a:xfrm>
            <a:off x="566928" y="5394960"/>
            <a:ext cx="11055096" cy="768096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Goal: a sequence x^(0), x^(1), x^(2), … with ‖x^(k) − A⁻¹b‖ → 0, each step costing about one product with A.</a:t>
            </a:r>
          </a:p>
        </p:txBody>
      </p:sp>
      <p:sp>
        <p:nvSpPr>
          <p:cNvPr id="10" name="MATH 616 · Computational Linear Algebra  ·  Iterative Methods  ·  Slide 4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 of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idea: trade one exact solve for a sequence" descr="The idea: trade one exact solve for a sequenc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idea: trade one exact solve for a sequence</a:t>
            </a:r>
          </a:p>
        </p:txBody>
      </p:sp>
      <p:sp>
        <p:nvSpPr>
          <p:cNvPr id="3" name="iteration formula"/>
          <p:cNvSpPr/>
          <p:nvPr/>
        </p:nvSpPr>
        <p:spPr>
          <a:xfrm>
            <a:off x="566928" y="1335024"/>
            <a:ext cx="11055096" cy="713232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111827"/>
                </a:solidFill>
                <a:latin typeface="Courier New"/>
              </a:rPr>
              <a:t>x^(k+1) = M x^(k) + d,      k = 0, 1, 2, …        (start from any x^(0))</a:t>
            </a:r>
          </a:p>
        </p:txBody>
      </p:sp>
      <p:sp>
        <p:nvSpPr>
          <p:cNvPr id="4" name="Where M and d come from"/>
          <p:cNvSpPr/>
          <p:nvPr/>
        </p:nvSpPr>
        <p:spPr>
          <a:xfrm>
            <a:off x="566928" y="2212848"/>
            <a:ext cx="5504688" cy="261518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Where M and d come from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Pick any invertible Q, then add and subtract Q x in A x − b = 0: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Q x − Q x + A x − b = 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Q x = (Q − A) x +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 = (I − Q⁻¹A) x + Q⁻¹b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So the iteration matrix and vector are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M = I − Q⁻¹A,     d = Q⁻¹b</a:t>
            </a:r>
          </a:p>
        </p:txBody>
      </p:sp>
      <p:sp>
        <p:nvSpPr>
          <p:cNvPr id="5" name="Two demands on Q"/>
          <p:cNvSpPr/>
          <p:nvPr/>
        </p:nvSpPr>
        <p:spPr>
          <a:xfrm>
            <a:off x="6400800" y="2212848"/>
            <a:ext cx="5221224" cy="261518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Two demands on Q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Cheap to solve with. Each step solves Q z = r, so Q should be diagonal, triangular, or otherwise easy.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Close to A. The closer Q is to A, the smaller M = I − Q⁻¹A, and the faster the error shrinks.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Q = A would converge in one step but costs a full solve. Q = I costs nothing but rarely converges. Every method lives in between.</a:t>
            </a:r>
          </a:p>
        </p:txBody>
      </p:sp>
      <p:sp>
        <p:nvSpPr>
          <p:cNvPr id="6" name="Choosing Q is choosing the method. Jacobi, Gauss–Seidel, and"/>
          <p:cNvSpPr/>
          <p:nvPr/>
        </p:nvSpPr>
        <p:spPr>
          <a:xfrm>
            <a:off x="566928" y="5047488"/>
            <a:ext cx="11055096" cy="91440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Choosing Q is choosing the method. Jacobi, Gauss–Seidel, and SOR are three different answers to “what is easy and close to A?”</a:t>
            </a:r>
          </a:p>
        </p:txBody>
      </p:sp>
      <p:sp>
        <p:nvSpPr>
          <p:cNvPr id="7" name="MATH 616 · Computational Linear Algebra  ·  Iterative Methods  ·  Slide 5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5 of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 fixed point of the iteration is a solution" descr="A fixed point of the iteration is a soluti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A fixed point of the iteration is a solution</a:t>
            </a:r>
          </a:p>
        </p:txBody>
      </p:sp>
      <p:sp>
        <p:nvSpPr>
          <p:cNvPr id="3" name="If the sequence converges, it converges to the answer"/>
          <p:cNvSpPr/>
          <p:nvPr/>
        </p:nvSpPr>
        <p:spPr>
          <a:xfrm>
            <a:off x="566928" y="1335024"/>
            <a:ext cx="5504688" cy="246888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If the sequence converges, it converges to the answer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Suppose x^(k) → x*. Letting k → ∞ in x^(k+1) = M x^(k) + d gives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x* = M x* + d = (I − Q⁻¹A) x* + Q⁻¹b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so Q⁻¹(A x* − b) = 0. Since Q is invertible, A x* = b, that is x* = A⁻¹b. The limit is unique whenever A is.</a:t>
            </a:r>
          </a:p>
        </p:txBody>
      </p:sp>
      <p:sp>
        <p:nvSpPr>
          <p:cNvPr id="4" name="The same step, written with the residual"/>
          <p:cNvSpPr/>
          <p:nvPr/>
        </p:nvSpPr>
        <p:spPr>
          <a:xfrm>
            <a:off x="6400800" y="1335024"/>
            <a:ext cx="5221224" cy="24688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The same step, written with the residual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r^(k) = b − A x^(k)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solve  Q z = r^(k)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x^(k+1) = x^(k) + 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This is M x^(k) + d expanded. One product with A, one solve with Q, no iteration matrix is ever formed.</a:t>
            </a:r>
          </a:p>
        </p:txBody>
      </p:sp>
      <p:sp>
        <p:nvSpPr>
          <p:cNvPr id="5" name="Cost per step"/>
          <p:cNvSpPr/>
          <p:nvPr/>
        </p:nvSpPr>
        <p:spPr>
          <a:xfrm>
            <a:off x="566928" y="3986784"/>
            <a:ext cx="11055096" cy="987552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Cost per step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O(nnz(A)) for the product plus the cost of the Q-solve. For a sparse A with a few nonzeros per row that is O(n), not O(n³).</a:t>
            </a:r>
          </a:p>
        </p:txBody>
      </p:sp>
      <p:sp>
        <p:nvSpPr>
          <p:cNvPr id="6" name="1"/>
          <p:cNvSpPr/>
          <p:nvPr/>
        </p:nvSpPr>
        <p:spPr>
          <a:xfrm>
            <a:off x="786384" y="4261104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he question that remains"/>
          <p:cNvSpPr/>
          <p:nvPr/>
        </p:nvSpPr>
        <p:spPr>
          <a:xfrm>
            <a:off x="566928" y="5102352"/>
            <a:ext cx="11055096" cy="987552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 question that remains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When does the sequence converge, and how fast? That is Topic 4. First the three classical choices of Q.</a:t>
            </a:r>
          </a:p>
        </p:txBody>
      </p:sp>
      <p:sp>
        <p:nvSpPr>
          <p:cNvPr id="8" name="2"/>
          <p:cNvSpPr/>
          <p:nvPr/>
        </p:nvSpPr>
        <p:spPr>
          <a:xfrm>
            <a:off x="786384" y="5376672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MATH 616 · Computational Linear Algebra  ·  Iterative Methods  ·  Slide 6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6 of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Jacobi, Gauss–Seidel, and successive over-relaxation" descr="Jacobi, Gauss–Seidel, and successive over-relaxation"/>
          <p:cNvSpPr>
            <a:spLocks noGrp="1"/>
          </p:cNvSpPr>
          <p:nvPr>
            <p:ph type="title"/>
          </p:nvPr>
        </p:nvSpPr>
        <p:spPr>
          <a:xfrm>
            <a:off x="566928" y="2212848"/>
            <a:ext cx="11055096" cy="1133856"/>
          </a:xfrm>
        </p:spPr>
        <p:txBody>
          <a:bodyPr wrap="square" lIns="0" rIns="0" tIns="0" bIns="0" anchor="ctr"/>
          <a:lstStyle/>
          <a:p>
            <a:pPr algn="l"/>
            <a:r>
              <a:rPr sz="3200" b="1" i="0" lang="en-US">
                <a:solidFill>
                  <a:srgbClr val="FFFFFF"/>
                </a:solidFill>
                <a:latin typeface="Calibri"/>
              </a:rPr>
              <a:t>Jacobi, Gauss–Seidel, and successive over-relaxation</a:t>
            </a:r>
          </a:p>
        </p:txBody>
      </p:sp>
      <p:sp>
        <p:nvSpPr>
          <p:cNvPr id="3" name="Topic 2"/>
          <p:cNvSpPr txBox="1"/>
          <p:nvPr/>
        </p:nvSpPr>
        <p:spPr>
          <a:xfrm>
            <a:off x="566928" y="179222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Topic 2</a:t>
            </a:r>
          </a:p>
        </p:txBody>
      </p:sp>
      <p:sp>
        <p:nvSpPr>
          <p:cNvPr id="4" name="Topic 2 contents"/>
          <p:cNvSpPr/>
          <p:nvPr/>
        </p:nvSpPr>
        <p:spPr>
          <a:xfrm>
            <a:off x="566928" y="3730752"/>
            <a:ext cx="11055096" cy="1682496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▸ Solving the i-th equation for the i-th unknown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▸ Jacobi: a full sweep from the old vector; Gauss–Seidel: use new values at once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▸ SOR: a relaxation parameter ω that can speed Gauss–Seidel up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▸ Each method in Python, and a 3 × 3 example run ten iterations</a:t>
            </a:r>
          </a:p>
        </p:txBody>
      </p:sp>
      <p:sp>
        <p:nvSpPr>
          <p:cNvPr id="5" name="MATH 616 · Computational Linear Algebra  ·  Iterative Methods  ·  Slide 7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7 of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lve each equation for its own unknown" descr="Solve each equation for its own unknow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Solve each equation for its own unknown</a:t>
            </a:r>
          </a:p>
        </p:txBody>
      </p:sp>
      <p:sp>
        <p:nvSpPr>
          <p:cNvPr id="3" name="The system"/>
          <p:cNvSpPr/>
          <p:nvPr/>
        </p:nvSpPr>
        <p:spPr>
          <a:xfrm>
            <a:off x="566928" y="1335024"/>
            <a:ext cx="5504688" cy="21945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The system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a11 x1 + a12 x2 + … + a1n xn = b1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a21 x1 + a22 x2 + … + a2n xn = b2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⋮                        ⋮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an1 x1 + an2 x2 + … + ann xn = bn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Assume every diagonal entry a_ii is nonzero. If it is not, reorder the equations first.</a:t>
            </a:r>
          </a:p>
        </p:txBody>
      </p:sp>
      <p:sp>
        <p:nvSpPr>
          <p:cNvPr id="4" name="Equation i, solved for x_i"/>
          <p:cNvSpPr/>
          <p:nvPr/>
        </p:nvSpPr>
        <p:spPr>
          <a:xfrm>
            <a:off x="6400800" y="1335024"/>
            <a:ext cx="5221224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Equation i, solved for x_i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x_i = ( b_i − Σ_(j&lt;i) a_ij x_j − Σ_(j&gt;i) a_ij x_j ) / a_ii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Written for every i = 1, …, n this is x = M x + d in disguise: the right-hand side is a fixed-point map whose fixed point solves A x = b.</a:t>
            </a:r>
          </a:p>
        </p:txBody>
      </p:sp>
      <p:sp>
        <p:nvSpPr>
          <p:cNvPr id="5" name="Turning the identity into an iteration"/>
          <p:cNvSpPr/>
          <p:nvPr/>
        </p:nvSpPr>
        <p:spPr>
          <a:xfrm>
            <a:off x="566928" y="3730752"/>
            <a:ext cx="11055096" cy="14264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Turning the identity into an iteration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Put the current guess into the right-hand side and read a new guess off the left. The methods differ only in which guess, old or freshly updated, feeds the two sums.</a:t>
            </a:r>
          </a:p>
        </p:txBody>
      </p:sp>
      <p:sp>
        <p:nvSpPr>
          <p:cNvPr id="6" name="Jacobi feeds both sums the old vector. Gauss–Seidel feeds th"/>
          <p:cNvSpPr/>
          <p:nvPr/>
        </p:nvSpPr>
        <p:spPr>
          <a:xfrm>
            <a:off x="566928" y="5340096"/>
            <a:ext cx="11055096" cy="82296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Jacobi feeds both sums the old vector. Gauss–Seidel feeds the first sum the new values it already has.</a:t>
            </a:r>
          </a:p>
        </p:txBody>
      </p:sp>
      <p:sp>
        <p:nvSpPr>
          <p:cNvPr id="7" name="MATH 616 · Computational Linear Algebra  ·  Iterative Methods  ·  Slide 8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8 of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Jacobi: update every component from the old vector" descr="Jacobi: update every component from the old vector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Jacobi: update every component from the old vector</a:t>
            </a:r>
          </a:p>
        </p:txBody>
      </p:sp>
      <p:sp>
        <p:nvSpPr>
          <p:cNvPr id="3" name="Jacobi update"/>
          <p:cNvSpPr/>
          <p:nvPr/>
        </p:nvSpPr>
        <p:spPr>
          <a:xfrm>
            <a:off x="566928" y="1335024"/>
            <a:ext cx="11055096" cy="11887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ourier New"/>
              </a:rPr>
              <a:t>x_i^(k+1) = ( b_i − Σ_(j&lt;i) a_ij x_j^(k) − Σ_(j&gt;i) a_ij x_j^(k) ) / a_ii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i = 1, …, n. Both sums use the previous iterate x^(k). Nothing computed during sweep k + 1 is used until the sweep is complete.</a:t>
            </a:r>
          </a:p>
        </p:txBody>
      </p:sp>
      <p:sp>
        <p:nvSpPr>
          <p:cNvPr id="4" name="What it needs"/>
          <p:cNvSpPr/>
          <p:nvPr/>
        </p:nvSpPr>
        <p:spPr>
          <a:xfrm>
            <a:off x="566928" y="2706624"/>
            <a:ext cx="5504688" cy="21945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What it needs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Two vectors in memory: the old x^(k) being read and the new x^(k+1) being written.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One sweep costs one multiplication by the off-diagonal part of A plus n divisions.</a:t>
            </a:r>
          </a:p>
        </p:txBody>
      </p:sp>
      <p:sp>
        <p:nvSpPr>
          <p:cNvPr id="5" name="Why people still like it"/>
          <p:cNvSpPr/>
          <p:nvPr/>
        </p:nvSpPr>
        <p:spPr>
          <a:xfrm>
            <a:off x="6400800" y="2706624"/>
            <a:ext cx="5221224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Why people still like 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n component updates are independent, so a sweep parallelizes perfectly across cores or GPU threads.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Its iteration matrix is the simplest to analyze, which is why the theory starts here.</a:t>
            </a:r>
          </a:p>
        </p:txBody>
      </p:sp>
      <p:sp>
        <p:nvSpPr>
          <p:cNvPr id="6" name="Stopping rule: quit when ‖x^(k+1) − x^(k)‖ ≤ ε, or the relat"/>
          <p:cNvSpPr/>
          <p:nvPr/>
        </p:nvSpPr>
        <p:spPr>
          <a:xfrm>
            <a:off x="566928" y="5084064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Stopping rule: quit when ‖x^(k+1) − x^(k)‖ ≤ ε, or the relative version with ‖x^(k+1)‖ in the denominator, or after a maximum number of sweeps.</a:t>
            </a:r>
          </a:p>
        </p:txBody>
      </p:sp>
      <p:sp>
        <p:nvSpPr>
          <p:cNvPr id="7" name="MATH 616 · Computational Linear Algebra  ·  Iterative Methods  ·  Slide 9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9 of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Jacobi in Python" descr="Jacobi in Pyth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Jacobi in Python</a:t>
            </a:r>
          </a:p>
        </p:txBody>
      </p:sp>
      <p:sp>
        <p:nvSpPr>
          <p:cNvPr id="3" name="Python code: Jacobi in Python"/>
          <p:cNvSpPr/>
          <p:nvPr/>
        </p:nvSpPr>
        <p:spPr>
          <a:xfrm>
            <a:off x="566928" y="1335024"/>
            <a:ext cx="11055096" cy="3611879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import numpy as np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def jacobi(A, b, x0, tol=1e-8, maxit=200):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"""Jacobi iteration for A x = b, starting from the guess x0."""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n = len(b)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x_old = x0.astype(float)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for it in range(1, maxit + 1):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x = np.empty(n)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for i in range(n):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s = A[i, :i] @ x_old[:i] + A[i, i+1:] @ x_old[i+1:]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x[i] = (b[i] - s) / A[i, i]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if np.linalg.norm(x - x_old) &lt;= tol * max(1, np.linalg.norm(x)):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return x, 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x_old = x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raise RuntimeError("Jacobi did not converge in maxit iterations")</a:t>
            </a:r>
          </a:p>
        </p:txBody>
      </p:sp>
      <p:sp>
        <p:nvSpPr>
          <p:cNvPr id="4" name="Every entry of the new x is computed from x_old alone, which"/>
          <p:cNvSpPr/>
          <p:nvPr/>
        </p:nvSpPr>
        <p:spPr>
          <a:xfrm>
            <a:off x="566928" y="5111496"/>
            <a:ext cx="11055096" cy="106070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Every entry of the new x is computed from x_old alone, which is why x is allocated fresh each sweep. The inner loop is the formula from the previous slide; a vectorized version is one line, x = (b − (A − D) @ x_old) / d with d = np.diag(A), and runs much faster for large n.</a:t>
            </a:r>
          </a:p>
        </p:txBody>
      </p:sp>
      <p:sp>
        <p:nvSpPr>
          <p:cNvPr id="5" name="MATH 616 · Computational Linear Algebra  ·  Iterative Methods  ·  Slide 10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10 of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auss–Seidel: use each new value immediately" descr="Gauss–Seidel: use each new value immediately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Gauss–Seidel: use each new value immediately</a:t>
            </a:r>
          </a:p>
        </p:txBody>
      </p:sp>
      <p:sp>
        <p:nvSpPr>
          <p:cNvPr id="3" name="Gauss-Seidel update"/>
          <p:cNvSpPr/>
          <p:nvPr/>
        </p:nvSpPr>
        <p:spPr>
          <a:xfrm>
            <a:off x="566928" y="1335024"/>
            <a:ext cx="11055096" cy="11887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ourier New"/>
              </a:rPr>
              <a:t>x_i^(k+1) = ( b_i − Σ_(j&lt;i) a_ij x_j^(k+1) − Σ_(j&gt;i) a_ij x_j^(k) ) / a_ii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i = 1, …, n. The first sum now uses components already updated in this sweep; the second still uses the old iterate.</a:t>
            </a:r>
          </a:p>
        </p:txBody>
      </p:sp>
      <p:sp>
        <p:nvSpPr>
          <p:cNvPr id="4" name="What it needs"/>
          <p:cNvSpPr/>
          <p:nvPr/>
        </p:nvSpPr>
        <p:spPr>
          <a:xfrm>
            <a:off x="566928" y="2706624"/>
            <a:ext cx="5504688" cy="21945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What it needs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One vector, updated in place: x_i is overwritten as soon as it is computed.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Same cost per sweep as Jacobi, but the sweep is inherently sequential: x_2 waits for x_1.</a:t>
            </a:r>
          </a:p>
        </p:txBody>
      </p:sp>
      <p:sp>
        <p:nvSpPr>
          <p:cNvPr id="5" name="What it buys"/>
          <p:cNvSpPr/>
          <p:nvPr/>
        </p:nvSpPr>
        <p:spPr>
          <a:xfrm>
            <a:off x="6400800" y="2706624"/>
            <a:ext cx="5221224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What it buys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Fresher information in every update. On most well-behaved systems it converges in roughly half the Jacobi iterations.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order of the unknowns now matters; sweeping 1 → n and n → 1 give different methods.</a:t>
            </a:r>
          </a:p>
        </p:txBody>
      </p:sp>
      <p:sp>
        <p:nvSpPr>
          <p:cNvPr id="6" name="The two methods share formula, cost, and stopping rule. They"/>
          <p:cNvSpPr/>
          <p:nvPr/>
        </p:nvSpPr>
        <p:spPr>
          <a:xfrm>
            <a:off x="566928" y="5084064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two methods share formula, cost, and stopping rule. They differ in one word: whether the first sum reads x^(k) or x^(k+1).</a:t>
            </a:r>
          </a:p>
        </p:txBody>
      </p:sp>
      <p:sp>
        <p:nvSpPr>
          <p:cNvPr id="7" name="MATH 616 · Computational Linear Algebra  ·  Iterative Methods  ·  Slide 11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11 of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auss–Seidel in Python" descr="Gauss–Seidel in Pyth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Gauss–Seidel in Python</a:t>
            </a:r>
          </a:p>
        </p:txBody>
      </p:sp>
      <p:sp>
        <p:nvSpPr>
          <p:cNvPr id="3" name="Python code: Gauss–Seidel in Python"/>
          <p:cNvSpPr/>
          <p:nvPr/>
        </p:nvSpPr>
        <p:spPr>
          <a:xfrm>
            <a:off x="566928" y="1335024"/>
            <a:ext cx="11055096" cy="316931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def gauss_seidel(A, b, x0, tol=1e-8, maxit=200):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"""Gauss-Seidel iteration: new values are used as soon as they exist."""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n = len(b)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x = x0.astype(float).copy()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for it in range(1, maxit + 1):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x_old = x.copy()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for i in range(n):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# x[:i] already holds sweep k+1, x[i+1:] still holds sweep 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s = A[i, :i] @ x[:i] + A[i, i+1:] @ x[i+1:]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x[i] = (b[i] - s) / A[i, i]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if np.linalg.norm(x - x_old) &lt;= tol * max(1, np.linalg.norm(x)):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return x, 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raise RuntimeError("Gauss-Seidel did not converge in maxit iterations")</a:t>
            </a:r>
          </a:p>
        </p:txBody>
      </p:sp>
      <p:sp>
        <p:nvSpPr>
          <p:cNvPr id="4" name="Compared with Jacobi, the only change is that the inner loop"/>
          <p:cNvSpPr/>
          <p:nvPr/>
        </p:nvSpPr>
        <p:spPr>
          <a:xfrm>
            <a:off x="566928" y="4668926"/>
            <a:ext cx="11055096" cy="1503273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Compared with Jacobi, the only change is that the inner loop reads from x itself instead of x_old. Because x is overwritten in place, the slice x[:i] already contains this sweep's values while x[i+1:] still contains last sweep's. The copy x_old is kept only for the stopping test.</a:t>
            </a:r>
          </a:p>
        </p:txBody>
      </p:sp>
      <p:sp>
        <p:nvSpPr>
          <p:cNvPr id="5" name="MATH 616 · Computational Linear Algebra  ·  Iterative Methods  ·  Slide 12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12 of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Jacobi and Gauss–Seidel on a 3 × 3 system" descr="Jacobi and Gauss–Seidel on a 3 × 3 system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Jacobi and Gauss–Seidel on a 3 × 3 system</a:t>
            </a:r>
          </a:p>
        </p:txBody>
      </p:sp>
      <p:sp>
        <p:nvSpPr>
          <p:cNvPr id="3" name="The system, with exact solution x = (1, 1, 1)"/>
          <p:cNvSpPr/>
          <p:nvPr/>
        </p:nvSpPr>
        <p:spPr>
          <a:xfrm>
            <a:off x="566928" y="1335024"/>
            <a:ext cx="11055096" cy="14813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The system, with exact solution x = (1, 1, 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[ 10   1   1 ] [ x1 ]   [ 12 ]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[ -1  10   1 ] [ x2 ] = [ 10 ]          start from x^(0) = (0, 0, 0)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[ -1  -1  10 ] [ x3 ]   [  8 ]</a:t>
            </a:r>
          </a:p>
        </p:txBody>
      </p:sp>
      <p:sp>
        <p:nvSpPr>
          <p:cNvPr id="4" name="Jacobi sweep"/>
          <p:cNvSpPr/>
          <p:nvPr/>
        </p:nvSpPr>
        <p:spPr>
          <a:xfrm>
            <a:off x="566928" y="2980944"/>
            <a:ext cx="5504688" cy="21945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Jacobi sweep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x1^(k+1) = (12 − x2^(k) − x3^(k)) / 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x2^(k+1) = (10 + x1^(k) − x3^(k)) / 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x3^(k+1) = (8 + x1^(k) + x2^(k)) /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First sweep: (6/5, 1, 4/5). Second: (51/50, 26/25, 51/50).</a:t>
            </a:r>
          </a:p>
        </p:txBody>
      </p:sp>
      <p:sp>
        <p:nvSpPr>
          <p:cNvPr id="5" name="Gauss–Seidel sweep"/>
          <p:cNvSpPr/>
          <p:nvPr/>
        </p:nvSpPr>
        <p:spPr>
          <a:xfrm>
            <a:off x="6400800" y="2980944"/>
            <a:ext cx="5221224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Gauss–Seidel sweep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x1^(k+1) = (12 − x2^(k) − x3^(k)) / 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x2^(k+1) = (10 + x1^(k+1) − x3^(k)) / 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x3^(k+1) = (8 + x1^(k+1) + x2^(k+1)) /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First sweep: (6/5, 28/25, 129/125). The 28/25 already uses x1 = 6/5.</a:t>
            </a:r>
          </a:p>
        </p:txBody>
      </p:sp>
      <p:sp>
        <p:nvSpPr>
          <p:cNvPr id="6" name="Same equations, same start. The only difference is that Gaus"/>
          <p:cNvSpPr/>
          <p:nvPr/>
        </p:nvSpPr>
        <p:spPr>
          <a:xfrm>
            <a:off x="566928" y="5358384"/>
            <a:ext cx="11055096" cy="80467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Same equations, same start. The only difference is that Gauss–Seidel plugs 6/5 into the second line immediately.</a:t>
            </a:r>
          </a:p>
        </p:txBody>
      </p:sp>
      <p:sp>
        <p:nvSpPr>
          <p:cNvPr id="7" name="MATH 616 · Computational Linear Algebra  ·  Iterative Methods  ·  Slide 13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13 of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iterates, side by side" descr="The iterates, side by sid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iterates, side by side</a:t>
            </a:r>
          </a:p>
        </p:txBody>
      </p:sp>
      <p:graphicFrame>
        <p:nvGraphicFramePr>
          <p:cNvPr id="3" name="Jacobi and Gauss-Seidel iterates" descr="Iterates and maximum-norm errors of Jacobi and Gauss-Seidel at sweeps 1, 2, 3, 5 and 10 on the 3 by 3 example"/>
          <p:cNvGraphicFramePr>
            <a:graphicFrameLocks noGrp="1"/>
          </p:cNvGraphicFramePr>
          <p:nvPr/>
        </p:nvGraphicFramePr>
        <p:xfrm>
          <a:off x="566928" y="1335024"/>
          <a:ext cx="1105509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3611880"/>
                <a:gridCol w="1572768"/>
                <a:gridCol w="3611880"/>
                <a:gridCol w="157276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Jacobi x^(k)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Gauss–Seidel x^(k)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(1.20000, 1.00000, 0.80000)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2.0e-01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(1.20000, 1.12000, 1.03200)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2.0e-01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(1.02000, 1.04000, 1.02000)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4.0e-02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(0.98480, 0.99528, 0.99801)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1.5e-02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(0.99400, 1.00000, 1.00600)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6.0e-03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(1.00067, 1.00027, 1.00009)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6.7e-04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(1.00018, 1.00000, 0.99982)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1.8e-04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(1.00000, 1.00000, 1.00000)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1.8e-06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(1.00000, 1.00000, 1.00000)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3.2e-08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(1.00000, 1.00000, 1.00000)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6.0e-13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eading the error column"/>
          <p:cNvSpPr/>
          <p:nvPr/>
        </p:nvSpPr>
        <p:spPr>
          <a:xfrm>
            <a:off x="566928" y="4315968"/>
            <a:ext cx="5504688" cy="10972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Reading the error column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error is ‖x^(k) − (1,1,1)‖∞. Jacobi gains about one digit per sweep, Gauss–Seidel about one and a half.</a:t>
            </a:r>
          </a:p>
        </p:txBody>
      </p:sp>
      <p:sp>
        <p:nvSpPr>
          <p:cNvPr id="5" name="Why the ratio is roughly constant"/>
          <p:cNvSpPr/>
          <p:nvPr/>
        </p:nvSpPr>
        <p:spPr>
          <a:xfrm>
            <a:off x="6400800" y="4315968"/>
            <a:ext cx="5221224" cy="109728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Why the ratio is roughly constant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Error_(k+1) ≈ ρ · Error_k with ρ the spectral radius of the iteration matrix. Topic 4 makes this precise.</a:t>
            </a:r>
          </a:p>
        </p:txBody>
      </p:sp>
      <p:sp>
        <p:nvSpPr>
          <p:cNvPr id="6" name="After ten sweeps Gauss–Seidel is at 10⁻¹² and Jacobi at 10⁻⁸"/>
          <p:cNvSpPr/>
          <p:nvPr/>
        </p:nvSpPr>
        <p:spPr>
          <a:xfrm>
            <a:off x="566928" y="5541264"/>
            <a:ext cx="11055096" cy="64008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After ten sweeps Gauss–Seidel is at 10⁻¹² and Jacobi at 10⁻⁸: four extra digits for the same work.</a:t>
            </a:r>
          </a:p>
        </p:txBody>
      </p:sp>
      <p:sp>
        <p:nvSpPr>
          <p:cNvPr id="7" name="MATH 616 · Computational Linear Algebra  ·  Iterative Methods  ·  Slide 14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14 of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ccessive over-relaxation: push the update further" descr="Successive over-relaxation: push the update further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Successive over-relaxation: push the update further</a:t>
            </a:r>
          </a:p>
        </p:txBody>
      </p:sp>
      <p:sp>
        <p:nvSpPr>
          <p:cNvPr id="3" name="SOR update"/>
          <p:cNvSpPr/>
          <p:nvPr/>
        </p:nvSpPr>
        <p:spPr>
          <a:xfrm>
            <a:off x="566928" y="1335024"/>
            <a:ext cx="11055096" cy="13716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ourier New"/>
              </a:rPr>
              <a:t>x_i^(k+1) = ω · ( b_i − Σ_(j&lt;i) a_ij x_j^(k+1) − Σ_(j&gt;i) a_ij x_j^(k) ) / a_ii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ourier New"/>
              </a:rPr>
              <a:t>           + (1 − ω) · x_i^(k)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Compute the Gauss–Seidel value, then move from x_i^(k) toward it by the fraction ω instead of all the way. ω is the relaxation parameter.</a:t>
            </a:r>
          </a:p>
        </p:txBody>
      </p:sp>
      <p:sp>
        <p:nvSpPr>
          <p:cNvPr id="4" name="0 &lt; ω &lt; 1: under-relaxation"/>
          <p:cNvSpPr/>
          <p:nvPr/>
        </p:nvSpPr>
        <p:spPr>
          <a:xfrm>
            <a:off x="566928" y="2889504"/>
            <a:ext cx="3459480" cy="19202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0 &lt; ω &lt; 1: under-relaxation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 damped step. Useful when Gauss–Seidel overshoots or oscillates, at the price of slower convergence.</a:t>
            </a:r>
          </a:p>
        </p:txBody>
      </p:sp>
      <p:sp>
        <p:nvSpPr>
          <p:cNvPr id="5" name="ω = 1: Gauss–Seidel"/>
          <p:cNvSpPr/>
          <p:nvPr/>
        </p:nvSpPr>
        <p:spPr>
          <a:xfrm>
            <a:off x="4364736" y="2889504"/>
            <a:ext cx="3459480" cy="192024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ω = 1: Gauss–Seidel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formula collapses to x_i^(k+1) = Gauss–Seidel value. SOR contains the previous method as a special case.</a:t>
            </a:r>
          </a:p>
        </p:txBody>
      </p:sp>
      <p:sp>
        <p:nvSpPr>
          <p:cNvPr id="6" name="ω &gt; 1: over-relaxation"/>
          <p:cNvSpPr/>
          <p:nvPr/>
        </p:nvSpPr>
        <p:spPr>
          <a:xfrm>
            <a:off x="8162543" y="2889504"/>
            <a:ext cx="3459480" cy="19202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ω &gt; 1: over-relaxation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An extrapolated step. For the right ω the error can shrink by an order of magnitude more per sweep.</a:t>
            </a:r>
          </a:p>
        </p:txBody>
      </p:sp>
      <p:sp>
        <p:nvSpPr>
          <p:cNvPr id="7" name="Topic 5 proves that ω must lie in (0, 2) and gives the optim"/>
          <p:cNvSpPr/>
          <p:nvPr/>
        </p:nvSpPr>
        <p:spPr>
          <a:xfrm>
            <a:off x="566928" y="5029200"/>
            <a:ext cx="11055096" cy="91440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Topic 5 proves that ω must lie in (0, 2) and gives the optimal ω for SPD tridiagonal matrices in closed form.</a:t>
            </a:r>
          </a:p>
        </p:txBody>
      </p:sp>
      <p:sp>
        <p:nvSpPr>
          <p:cNvPr id="8" name="MATH 616 · Computational Linear Algebra  ·  Iterative Methods  ·  Slide 15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15 of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R in Python" descr="SOR in Pyth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SOR in Python</a:t>
            </a:r>
          </a:p>
        </p:txBody>
      </p:sp>
      <p:sp>
        <p:nvSpPr>
          <p:cNvPr id="3" name="Python code: SOR in Python"/>
          <p:cNvSpPr/>
          <p:nvPr/>
        </p:nvSpPr>
        <p:spPr>
          <a:xfrm>
            <a:off x="566928" y="1335024"/>
            <a:ext cx="11055096" cy="316931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def sor(A, b, x0, omega, tol=1e-8, maxit=200):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"""SOR iteration with relaxation parameter omega; omega = 1 is Gauss-Seidel."""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n = len(b)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x = x0.astype(float).copy()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for it in range(1, maxit + 1):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x_old = x.copy()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for i in range(n):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s = A[i, :i] @ x[:i] + A[i, i+1:] @ x[i+1:]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x_gs = (b[i] - s) / A[i, i]                 # Gauss-Seidel value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x[i] = omega * x_gs + (1 - omega) * x_old[i]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if np.linalg.norm(x - x_old) &lt;= tol * max(1, np.linalg.norm(x)):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return x, 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raise RuntimeError("SOR did not converge in maxit iterations")</a:t>
            </a:r>
          </a:p>
        </p:txBody>
      </p:sp>
      <p:sp>
        <p:nvSpPr>
          <p:cNvPr id="4" name="One extra line: blend the Gauss–Seidel value with the old co"/>
          <p:cNvSpPr/>
          <p:nvPr/>
        </p:nvSpPr>
        <p:spPr>
          <a:xfrm>
            <a:off x="566928" y="4668926"/>
            <a:ext cx="11055096" cy="1503273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One extra line: blend the Gauss–Seidel value with the old component. The three functions share their signature apart from omega, so a driver can run all of them on the same (A, b, x0) and compare iteration counts, as the last topic does.</a:t>
            </a:r>
          </a:p>
        </p:txBody>
      </p:sp>
      <p:sp>
        <p:nvSpPr>
          <p:cNvPr id="5" name="MATH 616 · Computational Linear Algebra  ·  Iterative Methods  ·  Slide 16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16 of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R on the same system, ω = 0.8 and ω = 1.1" descr="SOR on the same system, ω = 0.8 and ω = 1.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SOR on the same system, ω = 0.8 and ω = 1.1</a:t>
            </a:r>
          </a:p>
        </p:txBody>
      </p:sp>
      <p:graphicFrame>
        <p:nvGraphicFramePr>
          <p:cNvPr id="3" name="Error after k sweeps for four methods" descr="Maximum-norm error after 1, 2, 3, 5 and 10 sweeps for Jacobi, Gauss-Seidel, SOR with omega 0.8 and SOR with omega 1.1 on the 3 by 3 example"/>
          <p:cNvGraphicFramePr>
            <a:graphicFrameLocks noGrp="1"/>
          </p:cNvGraphicFramePr>
          <p:nvPr/>
        </p:nvGraphicFramePr>
        <p:xfrm>
          <a:off x="566928" y="1335024"/>
          <a:ext cx="11055096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7240"/>
                <a:gridCol w="2569464"/>
                <a:gridCol w="2569464"/>
                <a:gridCol w="2569464"/>
                <a:gridCol w="2569464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Jacobi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Gauss–Seidel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SOR, ω = 0.8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SOR, ω = 1.1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2.0e-01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2.0e-01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2.1e-01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3.2e-01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4.0e-02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1.5e-02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4.2e-02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7.7e-02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6.0e-03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6.7e-04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7.6e-03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1.7e-02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1.8e-04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1.8e-06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3.9e-04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7.0e-04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3.2e-08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6.0e-13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1.7e-07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2.4e-07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he first SOR sweep, ω = 0.8"/>
          <p:cNvSpPr/>
          <p:nvPr/>
        </p:nvSpPr>
        <p:spPr>
          <a:xfrm>
            <a:off x="566928" y="4041648"/>
            <a:ext cx="5504688" cy="133502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 first SOR sweep, ω = 0.8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x^(1) = (24/25, 548/625, 12296/15625) ≈ (0.96, 0.877, 0.787): each component is 0.8 of its Gauss–Seidel value.</a:t>
            </a:r>
          </a:p>
        </p:txBody>
      </p:sp>
      <p:sp>
        <p:nvSpPr>
          <p:cNvPr id="5" name="Neither ω beats ω = 1 here"/>
          <p:cNvSpPr/>
          <p:nvPr/>
        </p:nvSpPr>
        <p:spPr>
          <a:xfrm>
            <a:off x="6400800" y="4041648"/>
            <a:ext cx="5221224" cy="1335024"/>
          </a:xfrm>
          <a:prstGeom prst="roundRect">
            <a:avLst>
              <a:gd name="adj" fmla="val 35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7C2D12"/>
                </a:solidFill>
                <a:latin typeface="Calibri"/>
              </a:rPr>
              <a:t>Neither ω beats ω = 1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7C2D12"/>
                </a:solidFill>
                <a:latin typeface="Calibri"/>
              </a:rPr>
              <a:t>ω = 0.8 falls back to Jacobi speed and ω = 1.1 overshoots. Relaxation only pays with the right ω for the right A.</a:t>
            </a:r>
          </a:p>
        </p:txBody>
      </p:sp>
      <p:sp>
        <p:nvSpPr>
          <p:cNvPr id="6" name="The right ω depends on the spectrum of A. For this system Ga"/>
          <p:cNvSpPr/>
          <p:nvPr/>
        </p:nvSpPr>
        <p:spPr>
          <a:xfrm>
            <a:off x="566928" y="5522976"/>
            <a:ext cx="11055096" cy="65836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right ω depends on the spectrum of A. For this system Gauss–Seidel is already close to optimal.</a:t>
            </a:r>
          </a:p>
        </p:txBody>
      </p:sp>
      <p:sp>
        <p:nvSpPr>
          <p:cNvPr id="7" name="MATH 616 · Computational Linear Algebra  ·  Iterative Methods  ·  Slide 17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17 of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trix formulation" descr="Matrix formulation"/>
          <p:cNvSpPr>
            <a:spLocks noGrp="1"/>
          </p:cNvSpPr>
          <p:nvPr>
            <p:ph type="title"/>
          </p:nvPr>
        </p:nvSpPr>
        <p:spPr>
          <a:xfrm>
            <a:off x="566928" y="2212848"/>
            <a:ext cx="11055096" cy="1133856"/>
          </a:xfrm>
        </p:spPr>
        <p:txBody>
          <a:bodyPr wrap="square" lIns="0" rIns="0" tIns="0" bIns="0" anchor="ctr"/>
          <a:lstStyle/>
          <a:p>
            <a:pPr algn="l"/>
            <a:r>
              <a:rPr sz="3200" b="1" i="0" lang="en-US">
                <a:solidFill>
                  <a:srgbClr val="FFFFFF"/>
                </a:solidFill>
                <a:latin typeface="Calibri"/>
              </a:rPr>
              <a:t>Matrix formulation</a:t>
            </a:r>
          </a:p>
        </p:txBody>
      </p:sp>
      <p:sp>
        <p:nvSpPr>
          <p:cNvPr id="3" name="Topic 3"/>
          <p:cNvSpPr txBox="1"/>
          <p:nvPr/>
        </p:nvSpPr>
        <p:spPr>
          <a:xfrm>
            <a:off x="566928" y="179222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Topic 3</a:t>
            </a:r>
          </a:p>
        </p:txBody>
      </p:sp>
      <p:sp>
        <p:nvSpPr>
          <p:cNvPr id="4" name="Topic 3 contents"/>
          <p:cNvSpPr/>
          <p:nvPr/>
        </p:nvSpPr>
        <p:spPr>
          <a:xfrm>
            <a:off x="566928" y="3730752"/>
            <a:ext cx="11055096" cy="1380744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splitting A = D − L − U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▸ Jacobi, Gauss–Seidel, and SOR as x^(k+1) = M x^(k) + d, with their Q and 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three iteration matrices of a 4 × 4 tridiagonal system, and how to build them in NumPy</a:t>
            </a:r>
          </a:p>
        </p:txBody>
      </p:sp>
      <p:sp>
        <p:nvSpPr>
          <p:cNvPr id="5" name="MATH 616 · Computational Linear Algebra  ·  Iterative Methods  ·  Slide 18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18 of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lit A into diagonal, lower, and upper parts" descr="Split A into diagonal, lower, and upper part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Split A into diagonal, lower, and upper parts</a:t>
            </a:r>
          </a:p>
        </p:txBody>
      </p:sp>
      <p:sp>
        <p:nvSpPr>
          <p:cNvPr id="3" name="splitting formula"/>
          <p:cNvSpPr/>
          <p:nvPr/>
        </p:nvSpPr>
        <p:spPr>
          <a:xfrm>
            <a:off x="566928" y="1335024"/>
            <a:ext cx="11055096" cy="67665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111827"/>
                </a:solidFill>
                <a:latin typeface="Courier New"/>
              </a:rPr>
              <a:t>A = D − L − U</a:t>
            </a:r>
          </a:p>
        </p:txBody>
      </p:sp>
      <p:sp>
        <p:nvSpPr>
          <p:cNvPr id="4" name="D: the diagonal"/>
          <p:cNvSpPr/>
          <p:nvPr/>
        </p:nvSpPr>
        <p:spPr>
          <a:xfrm>
            <a:off x="566928" y="2157984"/>
            <a:ext cx="3459480" cy="223113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D: the diagonal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a11   0   …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0   a22  …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⋮        ⋱    ⋮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0    0   …   ann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Must be invertible: every a_ii ≠ 0.</a:t>
            </a:r>
          </a:p>
        </p:txBody>
      </p:sp>
      <p:sp>
        <p:nvSpPr>
          <p:cNvPr id="5" name="L: minus the strict lower part"/>
          <p:cNvSpPr/>
          <p:nvPr/>
        </p:nvSpPr>
        <p:spPr>
          <a:xfrm>
            <a:off x="4364736" y="2157984"/>
            <a:ext cx="3459480" cy="2231136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L: minus the strict lower part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 0    0   … 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− [ a21   0   … 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 ⋮    ⋱   ⋱   ⋮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an1   …  an,n-1  0 ]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Strictly lower triangular, zero diagonal.</a:t>
            </a:r>
          </a:p>
        </p:txBody>
      </p:sp>
      <p:sp>
        <p:nvSpPr>
          <p:cNvPr id="6" name="U: minus the strict upper part"/>
          <p:cNvSpPr/>
          <p:nvPr/>
        </p:nvSpPr>
        <p:spPr>
          <a:xfrm>
            <a:off x="8162543" y="2157984"/>
            <a:ext cx="3459480" cy="223113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U: minus the strict upper part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[ 0  a12  …    a1n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− [ 0   0   ⋱     ⋮ 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⋮       ⋱  an-1,n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[ 0   …   …     0   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Strictly upper triangular, zero diagonal.</a:t>
            </a:r>
          </a:p>
        </p:txBody>
      </p:sp>
      <p:sp>
        <p:nvSpPr>
          <p:cNvPr id="7" name="Mind the signs: L and U are the negatives of the strict tria"/>
          <p:cNvSpPr/>
          <p:nvPr/>
        </p:nvSpPr>
        <p:spPr>
          <a:xfrm>
            <a:off x="566928" y="4626864"/>
            <a:ext cx="11055096" cy="1042415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Mind the signs: L and U are the negatives of the strict triangles of A, so that A = D − L − U holds exactly. Each method picks its Q from these three pieces.</a:t>
            </a:r>
          </a:p>
        </p:txBody>
      </p:sp>
      <p:sp>
        <p:nvSpPr>
          <p:cNvPr id="8" name="MATH 616 · Computational Linear Algebra  ·  Iterative Methods  ·  Slide 19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19 of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Jacobi and Gauss–Seidel as matrix iterations" descr="Jacobi and Gauss–Seidel as matrix iteration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Jacobi and Gauss–Seidel as matrix iterations</a:t>
            </a:r>
          </a:p>
        </p:txBody>
      </p:sp>
      <p:sp>
        <p:nvSpPr>
          <p:cNvPr id="3" name="Jacobi: Q = D"/>
          <p:cNvSpPr/>
          <p:nvPr/>
        </p:nvSpPr>
        <p:spPr>
          <a:xfrm>
            <a:off x="566928" y="1335024"/>
            <a:ext cx="5504688" cy="29260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Jacobi: Q = 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 x = b  ⇔  D x = (L + U) x +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 x^(k+1) = (L + U) x^(k) +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x^(k+1) = D⁻¹(L + U) x^(k) + D⁻¹b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M_J = D⁻¹(L + U),    d = D⁻¹b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Row i of this is exactly the componentwise Jacobi formula: divide by a_ii, use old values everywhere.</a:t>
            </a:r>
          </a:p>
        </p:txBody>
      </p:sp>
      <p:sp>
        <p:nvSpPr>
          <p:cNvPr id="4" name="Gauss–Seidel: Q = D − L"/>
          <p:cNvSpPr/>
          <p:nvPr/>
        </p:nvSpPr>
        <p:spPr>
          <a:xfrm>
            <a:off x="6400800" y="1335024"/>
            <a:ext cx="5221224" cy="292608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Gauss–Seidel: Q = D − 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 x = b  ⇔  (D − L) x = U x +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(D − L) x^(k+1) = U x^(k) +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x^(k+1) = (D − L)⁻¹U x^(k) + (D − L)⁻¹b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M_GS = (D − L)⁻¹U,    d = (D − L)⁻¹b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D − L is lower triangular, so solving with it is forward substitution: that is the “use new values at once” sweep.</a:t>
            </a:r>
          </a:p>
        </p:txBody>
      </p:sp>
      <p:sp>
        <p:nvSpPr>
          <p:cNvPr id="5" name="Check against the general form"/>
          <p:cNvSpPr/>
          <p:nvPr/>
        </p:nvSpPr>
        <p:spPr>
          <a:xfrm>
            <a:off x="566928" y="4443984"/>
            <a:ext cx="11055096" cy="9144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Check against the general 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Both are M = I − Q⁻¹A: for Jacobi, I − D⁻¹(D − L − U) = D⁻¹(L + U); for Gauss–Seidel, I − (D − L)⁻¹(D − L − U) = (D − L)⁻¹U.</a:t>
            </a:r>
          </a:p>
        </p:txBody>
      </p:sp>
      <p:sp>
        <p:nvSpPr>
          <p:cNvPr id="6" name="In code you never form M_J or M_GS. They are the objects the"/>
          <p:cNvSpPr/>
          <p:nvPr/>
        </p:nvSpPr>
        <p:spPr>
          <a:xfrm>
            <a:off x="566928" y="5522976"/>
            <a:ext cx="11055096" cy="65836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In code you never form M_J or M_GS. They are the objects the convergence theory talks about.</a:t>
            </a:r>
          </a:p>
        </p:txBody>
      </p:sp>
      <p:sp>
        <p:nvSpPr>
          <p:cNvPr id="7" name="MATH 616 · Computational Linear Algebra  ·  Iterative Methods  ·  Slide 20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20 of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R in matrix form" descr="SOR in matrix form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SOR in matrix form</a:t>
            </a:r>
          </a:p>
        </p:txBody>
      </p:sp>
      <p:sp>
        <p:nvSpPr>
          <p:cNvPr id="3" name="Derivation"/>
          <p:cNvSpPr/>
          <p:nvPr/>
        </p:nvSpPr>
        <p:spPr>
          <a:xfrm>
            <a:off x="566928" y="1335024"/>
            <a:ext cx="5504688" cy="316382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Derivation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Scale the system by ω and add (D − ωL) x to both sides: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ω b − ω A x = 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(D − ωL) x = ω b − ω A x + (D − ωL) 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Insert A = D − L − U and collect: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(D − ωL) x = [(1 − ω) D + ω U] x + ω 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Solve for x, then iterate: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x^(k+1) = (D − ωL)⁻¹[(1 − ω)D + ωU] x^(k)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        + ω (D − ωL)⁻¹ b</a:t>
            </a:r>
          </a:p>
        </p:txBody>
      </p:sp>
      <p:sp>
        <p:nvSpPr>
          <p:cNvPr id="4" name="Iteration matrix and splitting"/>
          <p:cNvSpPr/>
          <p:nvPr/>
        </p:nvSpPr>
        <p:spPr>
          <a:xfrm>
            <a:off x="6400800" y="1335024"/>
            <a:ext cx="5221224" cy="316382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Iteration matrix and splitting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M_SOR = (D − ωL)⁻¹((1 − ω)D + ωU)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d = ω (D − ωL)⁻¹ 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In the language of Topic 1 this is Q = (1/ω)(D − ωL) = D/ω − L: a lower-triangular matrix again, so each sweep is a forward substitution.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ω = 1 gives Q = D − L and M_SOR = M_GS, as it must.</a:t>
            </a:r>
          </a:p>
        </p:txBody>
      </p:sp>
      <p:sp>
        <p:nvSpPr>
          <p:cNvPr id="5" name="Three methods, one template: Q = D, Q = D − L, Q = D/ω − L. "/>
          <p:cNvSpPr/>
          <p:nvPr/>
        </p:nvSpPr>
        <p:spPr>
          <a:xfrm>
            <a:off x="566928" y="4681728"/>
            <a:ext cx="11055096" cy="98755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Three methods, one template: Q = D, Q = D − L, Q = D/ω − L. The next slides compute all three M for one concrete matrix.</a:t>
            </a:r>
          </a:p>
        </p:txBody>
      </p:sp>
      <p:sp>
        <p:nvSpPr>
          <p:cNvPr id="6" name="MATH 616 · Computational Linear Algebra  ·  Iterative Methods  ·  Slide 21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21 of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teration matrices for a 4 × 4 tridiagonal system" descr="Iteration matrices for a 4 × 4 tridiagonal system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Iteration matrices for a 4 × 4 tridiagonal system</a:t>
            </a:r>
          </a:p>
        </p:txBody>
      </p:sp>
      <p:sp>
        <p:nvSpPr>
          <p:cNvPr id="3" name="A"/>
          <p:cNvSpPr/>
          <p:nvPr/>
        </p:nvSpPr>
        <p:spPr>
          <a:xfrm>
            <a:off x="566928" y="1335024"/>
            <a:ext cx="3291840" cy="24688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[ 4  1  0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[ 1  4  1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1  4  1 ]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0  1  4 ]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D = 4I, L and U carry the −1 entries.</a:t>
            </a:r>
          </a:p>
        </p:txBody>
      </p:sp>
      <p:sp>
        <p:nvSpPr>
          <p:cNvPr id="4" name="M_J = D⁻¹(L + U)"/>
          <p:cNvSpPr/>
          <p:nvPr/>
        </p:nvSpPr>
        <p:spPr>
          <a:xfrm>
            <a:off x="4133087" y="1335024"/>
            <a:ext cx="3657600" cy="246888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M_J = D⁻¹(L + U)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-1/4    0 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-1/4    0   -1/4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-1/4    0   -1/4 ]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  0   -1/4    0 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Off-diagonal of A divided by 4, sign flipped.</a:t>
            </a:r>
          </a:p>
        </p:txBody>
      </p:sp>
      <p:sp>
        <p:nvSpPr>
          <p:cNvPr id="5" name="M_GS = (D − L)⁻¹U"/>
          <p:cNvSpPr/>
          <p:nvPr/>
        </p:nvSpPr>
        <p:spPr>
          <a:xfrm>
            <a:off x="8065008" y="1335024"/>
            <a:ext cx="3557016" cy="24688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M_GS = (D − L)⁻¹U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 -1/4     0  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 1/16   -1/4     0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-1/64   1/16   -1/4 ]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1/256  -1/64   1/16 ]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Forward substitution fills in below the first superdiagonal.</a:t>
            </a:r>
          </a:p>
        </p:txBody>
      </p:sp>
      <p:sp>
        <p:nvSpPr>
          <p:cNvPr id="6" name="How M_GS was obtained"/>
          <p:cNvSpPr/>
          <p:nvPr/>
        </p:nvSpPr>
        <p:spPr>
          <a:xfrm>
            <a:off x="566928" y="3986784"/>
            <a:ext cx="5504688" cy="14813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How M_GS was obtained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Column j of M_GS solves (D − L) m = U e_j: a forward substitution with the lower-triangular matrix of 4's and 1's. The first column is zero because U e_1 = 0.</a:t>
            </a:r>
          </a:p>
        </p:txBody>
      </p:sp>
      <p:sp>
        <p:nvSpPr>
          <p:cNvPr id="7" name="What to notice"/>
          <p:cNvSpPr/>
          <p:nvPr/>
        </p:nvSpPr>
        <p:spPr>
          <a:xfrm>
            <a:off x="6400800" y="3986784"/>
            <a:ext cx="5221224" cy="1481328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What to notice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M_J is symmetric with a zero diagonal; M_GS is not symmetric and has entries that shrink by 1/4 down each column.</a:t>
            </a:r>
          </a:p>
        </p:txBody>
      </p:sp>
      <p:sp>
        <p:nvSpPr>
          <p:cNvPr id="8" name="Row sums of absolute values: M_J gives 1/4, 1/2, 1/2, 1/4; M"/>
          <p:cNvSpPr/>
          <p:nvPr/>
        </p:nvSpPr>
        <p:spPr>
          <a:xfrm>
            <a:off x="566928" y="5650992"/>
            <a:ext cx="11055096" cy="53035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Row sums of absolute values: M_J gives 1/4, 1/2, 1/2, 1/4; M_GS gives 1/4, 5/16, 21/64, 21/256. Keep these for Topic 4.</a:t>
            </a:r>
          </a:p>
        </p:txBody>
      </p:sp>
      <p:sp>
        <p:nvSpPr>
          <p:cNvPr id="9" name="MATH 616 · Computational Linear Algebra  ·  Iterative Methods  ·  Slide 22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22 of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SOR iteration matrix of the example, ω = 1/2" descr="The SOR iteration matrix of the example, ω = 1/2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SOR iteration matrix of the example, ω = 1/2</a:t>
            </a:r>
          </a:p>
        </p:txBody>
      </p:sp>
      <p:sp>
        <p:nvSpPr>
          <p:cNvPr id="3" name="First factor: D − ωL"/>
          <p:cNvSpPr/>
          <p:nvPr/>
        </p:nvSpPr>
        <p:spPr>
          <a:xfrm>
            <a:off x="566928" y="1335024"/>
            <a:ext cx="5504688" cy="159105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First factor: D − ωL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[ 4  0  0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ω  4  0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ω  4  0 ]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[ 0  0  ω  4 ]</a:t>
            </a:r>
          </a:p>
        </p:txBody>
      </p:sp>
      <p:sp>
        <p:nvSpPr>
          <p:cNvPr id="4" name="Second factor: (1 − ω)D + ωU"/>
          <p:cNvSpPr/>
          <p:nvPr/>
        </p:nvSpPr>
        <p:spPr>
          <a:xfrm>
            <a:off x="6400800" y="1335024"/>
            <a:ext cx="5221224" cy="159105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Second factor: (1 − ω)D + ωU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[ 4(1−ω)    −ω       0       0 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  4(1−ω)    −ω       0 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    0     4(1−ω)    −ω 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0       0       0     4(1−ω)  ]</a:t>
            </a:r>
          </a:p>
        </p:txBody>
      </p:sp>
      <p:sp>
        <p:nvSpPr>
          <p:cNvPr id="5" name="M_SOR = (D − ωL)⁻¹((1 − ω)D + ωU) at ω = 1/2"/>
          <p:cNvSpPr/>
          <p:nvPr/>
        </p:nvSpPr>
        <p:spPr>
          <a:xfrm>
            <a:off x="566928" y="3072384"/>
            <a:ext cx="5504688" cy="210312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M_SOR = (D − ωL)⁻¹((1 − ω)D + ωU) at ω = 1/2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 1/2     -1/8       0       0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-1/16    33/64    -1/8      0 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 1/128   -33/512   33/64   -1/8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[ -1/1024  33/4096  -33/512  33/64 ]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 forward substitution with the first factor, column by column, as for M_GS.</a:t>
            </a:r>
          </a:p>
        </p:txBody>
      </p:sp>
      <p:sp>
        <p:nvSpPr>
          <p:cNvPr id="6" name="Why under-relaxation is slow here"/>
          <p:cNvSpPr/>
          <p:nvPr/>
        </p:nvSpPr>
        <p:spPr>
          <a:xfrm>
            <a:off x="6400800" y="3072384"/>
            <a:ext cx="5221224" cy="21031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Why under-relaxation is slow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diagonal of (1 − ω)D + ωU is (1 − ω)·4, so M_SOR keeps a factor 1 − ω of the old iterate on its diagonal. At ω = 1/2 that alone pushes the spectral radius toward 1/2, far above Gauss–Seidel's 0.16 for this matrix.</a:t>
            </a:r>
          </a:p>
        </p:txBody>
      </p:sp>
      <p:sp>
        <p:nvSpPr>
          <p:cNvPr id="7" name="Numerically ρ(M_SOR(1/2)) ≈ 0.66. Over-relaxation, not under"/>
          <p:cNvSpPr/>
          <p:nvPr/>
        </p:nvSpPr>
        <p:spPr>
          <a:xfrm>
            <a:off x="566928" y="5358384"/>
            <a:ext cx="11055096" cy="80467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Numerically ρ(M_SOR(1/2)) ≈ 0.66. Over-relaxation, not under-relaxation, is what helps on this matrix.</a:t>
            </a:r>
          </a:p>
        </p:txBody>
      </p:sp>
      <p:sp>
        <p:nvSpPr>
          <p:cNvPr id="8" name="MATH 616 · Computational Linear Algebra  ·  Iterative Methods  ·  Slide 23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23 of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ilding the iteration matrices in Python" descr="Building the iteration matrices in Pyth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Building the iteration matrices in Python</a:t>
            </a:r>
          </a:p>
        </p:txBody>
      </p:sp>
      <p:sp>
        <p:nvSpPr>
          <p:cNvPr id="3" name="Python code: Building the iteration matrices in Python"/>
          <p:cNvSpPr/>
          <p:nvPr/>
        </p:nvSpPr>
        <p:spPr>
          <a:xfrm>
            <a:off x="566928" y="1335024"/>
            <a:ext cx="11055096" cy="3611879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def splitting(A):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"""Return D, L, U with A = D - L - U (L, U strictly triangular)."""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D = np.diag(np.diag(A))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L = -np.tril(A, -1)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U = -np.triu(A, 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return D, L, 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def iteration_matrices(A, omega=1.0):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D, L, U = splitting(A)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M_J   = np.linalg.solve(D, L + U)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M_GS  = np.linalg.solve(D - L, U)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M_SOR = np.linalg.solve(D - omega * L, (1 - omega) * D + omega * U)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return M_J, M_GS, M_SOR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rho = lambda M: np.max(np.abs(np.linalg.eigvals(M)))      # spectral radius</a:t>
            </a:r>
          </a:p>
        </p:txBody>
      </p:sp>
      <p:sp>
        <p:nvSpPr>
          <p:cNvPr id="4" name="np.linalg.solve(Q, B) computes Q⁻¹B without forming the inve"/>
          <p:cNvSpPr/>
          <p:nvPr/>
        </p:nvSpPr>
        <p:spPr>
          <a:xfrm>
            <a:off x="566928" y="5111496"/>
            <a:ext cx="11055096" cy="106070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np.linalg.solve(Q, B) computes Q⁻¹B without forming the inverse. These matrices are for analysis and small experiments only: for a large sparse A you iterate with the functions from Topic 2 and never build M. For the 4 × 4 example, rho gives ρ(M_J) ≈ 0.405, ρ(M_GS) ≈ 0.164, ρ(M_SOR(1/2)) ≈ 0.665.</a:t>
            </a:r>
          </a:p>
        </p:txBody>
      </p:sp>
      <p:sp>
        <p:nvSpPr>
          <p:cNvPr id="5" name="MATH 616 · Computational Linear Algebra  ·  Iterative Methods  ·  Slide 24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24 of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vergence of iterative methods" descr="Convergence of iterative methods"/>
          <p:cNvSpPr>
            <a:spLocks noGrp="1"/>
          </p:cNvSpPr>
          <p:nvPr>
            <p:ph type="title"/>
          </p:nvPr>
        </p:nvSpPr>
        <p:spPr>
          <a:xfrm>
            <a:off x="566928" y="2212848"/>
            <a:ext cx="11055096" cy="1133856"/>
          </a:xfrm>
        </p:spPr>
        <p:txBody>
          <a:bodyPr wrap="square" lIns="0" rIns="0" tIns="0" bIns="0" anchor="ctr"/>
          <a:lstStyle/>
          <a:p>
            <a:pPr algn="l"/>
            <a:r>
              <a:rPr sz="3200" b="1" i="0" lang="en-US">
                <a:solidFill>
                  <a:srgbClr val="FFFFFF"/>
                </a:solidFill>
                <a:latin typeface="Calibri"/>
              </a:rPr>
              <a:t>Convergence of iterative methods</a:t>
            </a:r>
          </a:p>
        </p:txBody>
      </p:sp>
      <p:sp>
        <p:nvSpPr>
          <p:cNvPr id="3" name="Topic 4"/>
          <p:cNvSpPr txBox="1"/>
          <p:nvPr/>
        </p:nvSpPr>
        <p:spPr>
          <a:xfrm>
            <a:off x="566928" y="179222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Topic 4</a:t>
            </a:r>
          </a:p>
        </p:txBody>
      </p:sp>
      <p:sp>
        <p:nvSpPr>
          <p:cNvPr id="4" name="Topic 4 contents"/>
          <p:cNvSpPr/>
          <p:nvPr/>
        </p:nvSpPr>
        <p:spPr>
          <a:xfrm>
            <a:off x="566928" y="3730752"/>
            <a:ext cx="11055096" cy="1682496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error recursion e^(k) = M^k e^(0) and what a subordinate norm does with it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▸ A sufficient condition, ‖M‖ &lt; 1, with an a priori error bound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spectral radius ρ(M) and the theorem: convergence for every start ⇔ ρ(M) &lt; 1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▸ Reading the rate of convergence off ρ(M)</a:t>
            </a:r>
          </a:p>
        </p:txBody>
      </p:sp>
      <p:sp>
        <p:nvSpPr>
          <p:cNvPr id="5" name="MATH 616 · Computational Linear Algebra  ·  Iterative Methods  ·  Slide 25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25 of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error obeys a clean recursion" descr="The error obeys a clean recursi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error obeys a clean recursion</a:t>
            </a:r>
          </a:p>
        </p:txBody>
      </p:sp>
      <p:sp>
        <p:nvSpPr>
          <p:cNvPr id="3" name="Subtract the fixed point"/>
          <p:cNvSpPr/>
          <p:nvPr/>
        </p:nvSpPr>
        <p:spPr>
          <a:xfrm>
            <a:off x="566928" y="1335024"/>
            <a:ext cx="5504688" cy="261518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Subtract the fixed point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x^(k) = M x^(k−1) + 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x*    = M x*      + 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e^(k) := x^(k) − x*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= M e^(k−1) = … = M^k e^(0)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constant d cancels. Convergence from every start is the statement that M^k v → 0 for every vector v.</a:t>
            </a:r>
          </a:p>
        </p:txBody>
      </p:sp>
      <p:sp>
        <p:nvSpPr>
          <p:cNvPr id="4" name="Recall: subordinate matrix norms"/>
          <p:cNvSpPr/>
          <p:nvPr/>
        </p:nvSpPr>
        <p:spPr>
          <a:xfrm>
            <a:off x="6400800" y="1335024"/>
            <a:ext cx="5221224" cy="261518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Recall: subordinate matrix norms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‖A‖ = sup_(x ≠ 0) ‖A x‖ / ‖x‖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‖A x‖ ≤ ‖A‖ ‖x‖      ‖A B‖ ≤ ‖A‖ ‖B‖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Every vector norm induces one. The ∞-norm is the maximum absolute row sum, the 1-norm the maximum column sum. The Frobenius norm is not subordinate.</a:t>
            </a:r>
          </a:p>
        </p:txBody>
      </p:sp>
      <p:sp>
        <p:nvSpPr>
          <p:cNvPr id="5" name="Take norms"/>
          <p:cNvSpPr/>
          <p:nvPr/>
        </p:nvSpPr>
        <p:spPr>
          <a:xfrm>
            <a:off x="566928" y="4114800"/>
            <a:ext cx="11055096" cy="9692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Take norms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‖e^(k)‖ = ‖M^k e^(0)‖ ≤ ‖M^k‖ ‖e^(0)‖ ≤ ‖M‖^k ‖e^(0)‖, using the submultiplicative property k times.</a:t>
            </a:r>
          </a:p>
        </p:txBody>
      </p:sp>
      <p:sp>
        <p:nvSpPr>
          <p:cNvPr id="6" name="1"/>
          <p:cNvSpPr/>
          <p:nvPr/>
        </p:nvSpPr>
        <p:spPr>
          <a:xfrm>
            <a:off x="786384" y="4389120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So the whole question is M^k"/>
          <p:cNvSpPr/>
          <p:nvPr/>
        </p:nvSpPr>
        <p:spPr>
          <a:xfrm>
            <a:off x="566928" y="5193792"/>
            <a:ext cx="11055096" cy="96926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So the whole question is M^k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If ‖M‖ &lt; 1 in any subordinate norm the error dies geometrically. Whether that is also necessary is the subject of the spectral radius.</a:t>
            </a:r>
          </a:p>
        </p:txBody>
      </p:sp>
      <p:sp>
        <p:nvSpPr>
          <p:cNvPr id="8" name="2"/>
          <p:cNvSpPr/>
          <p:nvPr/>
        </p:nvSpPr>
        <p:spPr>
          <a:xfrm>
            <a:off x="786384" y="5468112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MATH 616 · Computational Linear Algebra  ·  Iterative Methods  ·  Slide 26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26 of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 sufficient condition: a norm of M below one" descr="A sufficient condition: a norm of M below on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A sufficient condition: a norm of M below one</a:t>
            </a:r>
          </a:p>
        </p:txBody>
      </p:sp>
      <p:sp>
        <p:nvSpPr>
          <p:cNvPr id="3" name="Theorem"/>
          <p:cNvSpPr/>
          <p:nvPr/>
        </p:nvSpPr>
        <p:spPr>
          <a:xfrm>
            <a:off x="566928" y="1335024"/>
            <a:ext cx="11055096" cy="2066543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 lang="en-US">
                <a:solidFill>
                  <a:srgbClr val="083D62"/>
                </a:solidFill>
                <a:latin typeface="Calibri"/>
              </a:rPr>
              <a:t>Theorem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Let M = I − Q⁻¹A with Q invertible, and suppose ‖M‖ &lt; 1 for some subordinate norm. Then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1.  x^(k+1) = M x^(k) + d converges to x* for every starting vector x^(0), and x* is the unique solution of x = M x + 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2.  ‖x^(k) − x*‖ ≤ ‖M‖^k / (1 − ‖M‖) · ‖x^(1) − x^(0)‖.</a:t>
            </a:r>
          </a:p>
        </p:txBody>
      </p:sp>
      <p:sp>
        <p:nvSpPr>
          <p:cNvPr id="4" name="What the bound buys you"/>
          <p:cNvSpPr/>
          <p:nvPr/>
        </p:nvSpPr>
        <p:spPr>
          <a:xfrm>
            <a:off x="566928" y="3584448"/>
            <a:ext cx="5504688" cy="186537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What the bound buys you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It is a priori: after one sweep you know ‖x^(1) − x^(0)‖ and can predict how many sweeps reach a tolerance ε, namely k ≥ log(ε(1 − ‖M‖)/‖x^(1) − x^(0)‖) / log ‖M‖.</a:t>
            </a:r>
          </a:p>
        </p:txBody>
      </p:sp>
      <p:sp>
        <p:nvSpPr>
          <p:cNvPr id="5" name="What it does not say"/>
          <p:cNvSpPr/>
          <p:nvPr/>
        </p:nvSpPr>
        <p:spPr>
          <a:xfrm>
            <a:off x="6400800" y="3584448"/>
            <a:ext cx="5221224" cy="186537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What it does not say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Nothing about the case ‖M‖ ≥ 1. A method can converge with ‖M‖∞ = 3 if some other norm is small. That gap is closed by the spectral radius.</a:t>
            </a:r>
          </a:p>
        </p:txBody>
      </p:sp>
      <p:sp>
        <p:nvSpPr>
          <p:cNvPr id="6" name="The proof is a contraction argument: one line for convergenc"/>
          <p:cNvSpPr/>
          <p:nvPr/>
        </p:nvSpPr>
        <p:spPr>
          <a:xfrm>
            <a:off x="566928" y="5614416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The proof is a contraction argument: one line for convergence, a geometric series for the bound.</a:t>
            </a:r>
          </a:p>
        </p:txBody>
      </p:sp>
      <p:sp>
        <p:nvSpPr>
          <p:cNvPr id="7" name="MATH 616 · Computational Linear Algebra  ·  Iterative Methods  ·  Slide 27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27 of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of of the sufficient condition" descr="Proof of the sufficient conditi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Proof of the sufficient condition</a:t>
            </a:r>
          </a:p>
        </p:txBody>
      </p:sp>
      <p:sp>
        <p:nvSpPr>
          <p:cNvPr id="3" name="Convergence and uniqueness"/>
          <p:cNvSpPr/>
          <p:nvPr/>
        </p:nvSpPr>
        <p:spPr>
          <a:xfrm>
            <a:off x="566928" y="1335024"/>
            <a:ext cx="5504688" cy="21031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Convergence and uniqueness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From the recursion, ‖x^(k) − x*‖ ≤ ‖M‖^k ‖x^(0) − x*‖ → 0 because ‖M‖ &lt; 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Here x* solves x = M x + d; it exists since I − M = Q⁻¹A is invertible. If y* were another fixed point, ‖x* − y*‖ = ‖M(x* − y*)‖ ≤ ‖M‖ ‖x* − y*‖ forces x* = y*.</a:t>
            </a:r>
          </a:p>
        </p:txBody>
      </p:sp>
      <p:sp>
        <p:nvSpPr>
          <p:cNvPr id="4" name="Consecutive iterates get closer geometrically"/>
          <p:cNvSpPr/>
          <p:nvPr/>
        </p:nvSpPr>
        <p:spPr>
          <a:xfrm>
            <a:off x="6400800" y="1335024"/>
            <a:ext cx="5221224" cy="210312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Consecutive iterates get closer geometrically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Subtracting two consecutive copies of the iteration, x^(l+1) − x^(l) = M (x^(l) − x^(l−1)), hence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‖x^(l+1) − x^(l)‖ ≤ ‖M‖^l ‖x^(1) − x^(0)‖</a:t>
            </a:r>
          </a:p>
        </p:txBody>
      </p:sp>
      <p:sp>
        <p:nvSpPr>
          <p:cNvPr id="5" name="Telescope, then sum the geometric series (m &gt; k)"/>
          <p:cNvSpPr/>
          <p:nvPr/>
        </p:nvSpPr>
        <p:spPr>
          <a:xfrm>
            <a:off x="566928" y="3584448"/>
            <a:ext cx="11055096" cy="184708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Telescope, then sum the geometric series (m &gt; k)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‖x^(m) − x^(k)‖ ≤ Σ_(l=k)^(m−1) ‖x^(l+1) − x^(l)‖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            ≤ ‖M‖^k (1 + ‖M‖ + … + ‖M‖^(m−1−k)) ‖x^(1) − x^(0)‖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            ≤ ‖M‖^k (1 − ‖M‖^(m−k)) / (1 − ‖M‖) · ‖x^(1) − x^(0)‖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Let m → ∞: x^(m) → x*, ‖M‖^(m−k) → 0, and the bound ‖x^(k) − x*‖ ≤ ‖M‖^k / (1 − ‖M‖) · ‖x^(1) − x^(0)‖ follows.</a:t>
            </a:r>
          </a:p>
        </p:txBody>
      </p:sp>
      <p:sp>
        <p:nvSpPr>
          <p:cNvPr id="6" name="The same telescoping sum shows the iterates form a Cauchy se"/>
          <p:cNvSpPr/>
          <p:nvPr/>
        </p:nvSpPr>
        <p:spPr>
          <a:xfrm>
            <a:off x="566928" y="5577840"/>
            <a:ext cx="11055096" cy="60350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The same telescoping sum shows the iterates form a Cauchy sequence, so convergence need not be assumed in advance.</a:t>
            </a:r>
          </a:p>
        </p:txBody>
      </p:sp>
      <p:sp>
        <p:nvSpPr>
          <p:cNvPr id="7" name="MATH 616 · Computational Linear Algebra  ·  Iterative Methods  ·  Slide 28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28 of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cking the condition on the 4 × 4 example" descr="Checking the condition on the 4 × 4 exampl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Checking the condition on the 4 × 4 example</a:t>
            </a:r>
          </a:p>
        </p:txBody>
      </p:sp>
      <p:graphicFrame>
        <p:nvGraphicFramePr>
          <p:cNvPr id="3" name="Infinity norms of the example iteration matrices" descr="Table of the row sums and infinity norms of the Jacobi and Gauss-Seidel iteration matrices for the 4 by 4 example, both below one"/>
          <p:cNvGraphicFramePr>
            <a:graphicFrameLocks noGrp="1"/>
          </p:cNvGraphicFramePr>
          <p:nvPr/>
        </p:nvGraphicFramePr>
        <p:xfrm>
          <a:off x="566928" y="1335024"/>
          <a:ext cx="11055096" cy="1426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4105656"/>
                <a:gridCol w="2286000"/>
                <a:gridCol w="228600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Row sums of |M|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‖M‖∞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Converges?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Jacobi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1/4, 1/2, 1/2, 1/4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1/2 = 0.50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Gauss–Seidel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1/4, 5/16, 21/64, 21/256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21/64 ≈ 0.33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 priori prediction"/>
          <p:cNvSpPr/>
          <p:nvPr/>
        </p:nvSpPr>
        <p:spPr>
          <a:xfrm>
            <a:off x="566928" y="2980944"/>
            <a:ext cx="5504688" cy="22860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A priori prediction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From x^(0) = 0 and b = A·(1,1,1,1) the first Jacobi sweep moves by ‖x^(1) − x^(0)‖∞ = 1.5. To reach ε = 10⁻¹⁰ the bound asks for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(1/2)^k · 1.5 / (1 − 1/2) ≤ 10⁻¹⁰   ⇒   k ≥ 35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actual run needs fewer, because 1/2 is only an upper bound on the true rate.</a:t>
            </a:r>
          </a:p>
        </p:txBody>
      </p:sp>
      <p:sp>
        <p:nvSpPr>
          <p:cNvPr id="5" name="The strictly dominant pattern"/>
          <p:cNvSpPr/>
          <p:nvPr/>
        </p:nvSpPr>
        <p:spPr>
          <a:xfrm>
            <a:off x="6400800" y="2980944"/>
            <a:ext cx="5221224" cy="228600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 strictly dominant pattern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Each row of A has |a_ii| = 4 against off-diagonal sum at most 2, so every row sum of |M_J| is at most 2/4 = 1/2. This is the general argument for diagonally dominant matrices in Topic 5.</a:t>
            </a:r>
          </a:p>
        </p:txBody>
      </p:sp>
      <p:sp>
        <p:nvSpPr>
          <p:cNvPr id="6" name="Both norms are below one, so both methods converge from ever"/>
          <p:cNvSpPr/>
          <p:nvPr/>
        </p:nvSpPr>
        <p:spPr>
          <a:xfrm>
            <a:off x="566928" y="5449824"/>
            <a:ext cx="11055096" cy="73152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Both norms are below one, so both methods converge from every start, and Gauss–Seidel at least as fast.</a:t>
            </a:r>
          </a:p>
        </p:txBody>
      </p:sp>
      <p:sp>
        <p:nvSpPr>
          <p:cNvPr id="7" name="MATH 616 · Computational Linear Algebra  ·  Iterative Methods  ·  Slide 29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29 of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ectral radius, adjoint, and unitary matrices" descr="Spectral radius, adjoint, and unitary matrice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Spectral radius, adjoint, and unitary matrices</a:t>
            </a:r>
          </a:p>
        </p:txBody>
      </p:sp>
      <p:sp>
        <p:nvSpPr>
          <p:cNvPr id="3" name="Adjoint"/>
          <p:cNvSpPr/>
          <p:nvPr/>
        </p:nvSpPr>
        <p:spPr>
          <a:xfrm>
            <a:off x="566928" y="1335024"/>
            <a:ext cx="3459480" cy="18836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Adjoint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Aᴴ has entries (Aᴴ)_ij = conj(a_ji): the conjugate transpose. For real A it is simply Aᵀ.</a:t>
            </a:r>
          </a:p>
        </p:txBody>
      </p:sp>
      <p:sp>
        <p:nvSpPr>
          <p:cNvPr id="4" name="Unitary"/>
          <p:cNvSpPr/>
          <p:nvPr/>
        </p:nvSpPr>
        <p:spPr>
          <a:xfrm>
            <a:off x="4364736" y="1335024"/>
            <a:ext cx="3459480" cy="18836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Unitary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U is unitary when UᴴU = UUᴴ = I. Its columns are an orthonormal basis and Uᴴ = U⁻¹.</a:t>
            </a:r>
          </a:p>
        </p:txBody>
      </p:sp>
      <p:sp>
        <p:nvSpPr>
          <p:cNvPr id="5" name="Spectral radius"/>
          <p:cNvSpPr/>
          <p:nvPr/>
        </p:nvSpPr>
        <p:spPr>
          <a:xfrm>
            <a:off x="8162543" y="1335024"/>
            <a:ext cx="3459480" cy="188366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Spectral radius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ρ(A) = max_i |λ_i| over the eigenvalues λ_1, …, λ_n of A: the radius of the smallest disk about 0 that contains the spectrum.</a:t>
            </a:r>
          </a:p>
        </p:txBody>
      </p:sp>
      <p:sp>
        <p:nvSpPr>
          <p:cNvPr id="6" name="Schur's theorem, from earlier in the course"/>
          <p:cNvSpPr/>
          <p:nvPr/>
        </p:nvSpPr>
        <p:spPr>
          <a:xfrm>
            <a:off x="566928" y="3401568"/>
            <a:ext cx="11055096" cy="175564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Schur's theorem, from earlier in the course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Every square matrix factors as A = U T Uᴴ with U unitary and T upper triangular.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Proof idea: take a unit eigenvector x_1, complete it to a unitary [x_1, W], observe that [x_1, W]ᴴ A [x_1, W] has first column (λ_1, 0, …, 0)ᵀ, and apply induction to the trailing (n − 1) × (n − 1) block.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 and T are similar, so the diagonal of T lists the eigenvalues of A.</a:t>
            </a:r>
          </a:p>
        </p:txBody>
      </p:sp>
      <p:sp>
        <p:nvSpPr>
          <p:cNvPr id="7" name="ρ(M) is not a norm: ρ of a nonzero nilpotent matrix is 0. Th"/>
          <p:cNvSpPr/>
          <p:nvPr/>
        </p:nvSpPr>
        <p:spPr>
          <a:xfrm>
            <a:off x="566928" y="5340096"/>
            <a:ext cx="11055096" cy="84124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ρ(M) is not a norm: ρ of a nonzero nilpotent matrix is 0. The next theorem says how close to a norm it is.</a:t>
            </a:r>
          </a:p>
        </p:txBody>
      </p:sp>
      <p:sp>
        <p:nvSpPr>
          <p:cNvPr id="8" name="MATH 616 · Computational Linear Algebra  ·  Iterative Methods  ·  Slide 30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30 of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spectral radius is the infimum of the subordinate norms" descr="The spectral radius is the infimum of the subordinate norm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spectral radius is the infimum of the subordinate norms</a:t>
            </a:r>
          </a:p>
        </p:txBody>
      </p:sp>
      <p:sp>
        <p:nvSpPr>
          <p:cNvPr id="3" name="Theorem"/>
          <p:cNvSpPr/>
          <p:nvPr/>
        </p:nvSpPr>
        <p:spPr>
          <a:xfrm>
            <a:off x="566928" y="1335024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For every square matrix A,   ρ(A) = inf ‖A‖,   the infimum taken over all subordinate matrix norms.</a:t>
            </a:r>
          </a:p>
        </p:txBody>
      </p:sp>
      <p:sp>
        <p:nvSpPr>
          <p:cNvPr id="4" name="ρ(A) ≤ ‖A‖ for every subordinate norm"/>
          <p:cNvSpPr/>
          <p:nvPr/>
        </p:nvSpPr>
        <p:spPr>
          <a:xfrm>
            <a:off x="566928" y="2377440"/>
            <a:ext cx="5504688" cy="28346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ρ(A) ≤ ‖A‖ for every subordinate norm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If A v = λ v with v ≠ 0 then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|λ| ‖v‖ = ‖A v‖ ≤ ‖A‖ ‖v‖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so |λ| ≤ ‖A‖ for every eigenvalue, hence ρ(A) ≤ ‖A‖. (For a complex eigenvector use the complex version of the norm.)</a:t>
            </a:r>
          </a:p>
        </p:txBody>
      </p:sp>
      <p:sp>
        <p:nvSpPr>
          <p:cNvPr id="5" name="A norm within ε of ρ(A)"/>
          <p:cNvSpPr/>
          <p:nvPr/>
        </p:nvSpPr>
        <p:spPr>
          <a:xfrm>
            <a:off x="6400800" y="2377440"/>
            <a:ext cx="5221224" cy="28346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A norm within ε of ρ(A)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Schur: A = U T Uᴴ. With D_ε = diag(ε, ε², …, εⁿ) and S = U D_ε,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S⁻¹ A S = D_ε⁻¹ T D_ε,  entries t_ij ε^(j−i)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off-diagonal entries are at most ε|t_ij| when ε &lt; 1. The vector norm ‖x‖_S = ‖S⁻¹x‖∞ induces ‖A‖_S = ‖S⁻¹AS‖∞ ≤ ρ(A) + cε.</a:t>
            </a:r>
          </a:p>
        </p:txBody>
      </p:sp>
      <p:sp>
        <p:nvSpPr>
          <p:cNvPr id="6" name="Remarks: ‖A‖₂ = σ_max(A), the largest singular value; the Fr"/>
          <p:cNvSpPr/>
          <p:nvPr/>
        </p:nvSpPr>
        <p:spPr>
          <a:xfrm>
            <a:off x="566928" y="5394960"/>
            <a:ext cx="11055096" cy="78638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Remarks: ‖A‖₂ = σ_max(A), the largest singular value; the Frobenius norm ‖A‖_F² = Σ σ_j² is not subordinate, since ‖I‖_F = √n.</a:t>
            </a:r>
          </a:p>
        </p:txBody>
      </p:sp>
      <p:sp>
        <p:nvSpPr>
          <p:cNvPr id="7" name="MATH 616 · Computational Linear Algebra  ·  Iterative Methods  ·  Slide 31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31 of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convergence theorem" descr="The convergence theorem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convergence theorem</a:t>
            </a:r>
          </a:p>
        </p:txBody>
      </p:sp>
      <p:sp>
        <p:nvSpPr>
          <p:cNvPr id="3" name="theorem statement"/>
          <p:cNvSpPr/>
          <p:nvPr/>
        </p:nvSpPr>
        <p:spPr>
          <a:xfrm>
            <a:off x="566928" y="1335024"/>
            <a:ext cx="11055096" cy="73152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Theorem. For an n × n matrix M and any d, the following are equivalent:</a:t>
            </a:r>
          </a:p>
        </p:txBody>
      </p:sp>
      <p:sp>
        <p:nvSpPr>
          <p:cNvPr id="4" name="Convergence"/>
          <p:cNvSpPr/>
          <p:nvPr/>
        </p:nvSpPr>
        <p:spPr>
          <a:xfrm>
            <a:off x="566928" y="2249424"/>
            <a:ext cx="3459480" cy="16459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Convergence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x^(k+1) = M x^(k) + d converges for every starting vector x^(0).</a:t>
            </a:r>
          </a:p>
        </p:txBody>
      </p:sp>
      <p:sp>
        <p:nvSpPr>
          <p:cNvPr id="5" name="1"/>
          <p:cNvSpPr/>
          <p:nvPr/>
        </p:nvSpPr>
        <p:spPr>
          <a:xfrm>
            <a:off x="804672" y="24871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Spectral radius"/>
          <p:cNvSpPr/>
          <p:nvPr/>
        </p:nvSpPr>
        <p:spPr>
          <a:xfrm>
            <a:off x="4364736" y="2249424"/>
            <a:ext cx="3459480" cy="16459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Spectral radius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ρ(M) &lt; 1.</a:t>
            </a:r>
          </a:p>
        </p:txBody>
      </p:sp>
      <p:sp>
        <p:nvSpPr>
          <p:cNvPr id="7" name="2"/>
          <p:cNvSpPr/>
          <p:nvPr/>
        </p:nvSpPr>
        <p:spPr>
          <a:xfrm>
            <a:off x="4602480" y="24871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Powers vanish"/>
          <p:cNvSpPr/>
          <p:nvPr/>
        </p:nvSpPr>
        <p:spPr>
          <a:xfrm>
            <a:off x="8162543" y="2249424"/>
            <a:ext cx="3459480" cy="16459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Powers vanish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lim_(k→∞) ‖M^k‖ = 0, in any (equivalently every) matrix norm.</a:t>
            </a:r>
          </a:p>
        </p:txBody>
      </p:sp>
      <p:sp>
        <p:nvSpPr>
          <p:cNvPr id="9" name="3"/>
          <p:cNvSpPr/>
          <p:nvPr/>
        </p:nvSpPr>
        <p:spPr>
          <a:xfrm>
            <a:off x="8400288" y="2487168"/>
            <a:ext cx="457200" cy="457200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Why it matters"/>
          <p:cNvSpPr/>
          <p:nvPr/>
        </p:nvSpPr>
        <p:spPr>
          <a:xfrm>
            <a:off x="566928" y="4114800"/>
            <a:ext cx="11055096" cy="118872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sufficient condition ‖M‖ &lt; 1 is replaced by a condition that is also necessary. To decide whether Jacobi, Gauss–Seidel, or SOR converges on a given A, compute (or bound) one number: the spectral radius of its iteration matrix.</a:t>
            </a:r>
          </a:p>
        </p:txBody>
      </p:sp>
      <p:sp>
        <p:nvSpPr>
          <p:cNvPr id="11" name="Proof plan: 1 ⇒ 2 by choosing an eigenvector as the starting"/>
          <p:cNvSpPr/>
          <p:nvPr/>
        </p:nvSpPr>
        <p:spPr>
          <a:xfrm>
            <a:off x="566928" y="5486400"/>
            <a:ext cx="11055096" cy="69494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Proof plan: 1 ⇒ 2 by choosing an eigenvector as the starting error; 2 ⇒ 1 and 2 ⇔ 3 through the infimum theorem.</a:t>
            </a:r>
          </a:p>
        </p:txBody>
      </p:sp>
      <p:sp>
        <p:nvSpPr>
          <p:cNvPr id="12" name="MATH 616 · Computational Linear Algebra  ·  Iterative Methods  ·  Slide 32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32 of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of: convergence for every start ⇔ ρ(M) &lt; 1" descr="Proof: convergence for every start ⇔ ρ(M) &lt;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Proof: convergence for every start ⇔ ρ(M) &lt; 1</a:t>
            </a:r>
          </a:p>
        </p:txBody>
      </p:sp>
      <p:sp>
        <p:nvSpPr>
          <p:cNvPr id="3" name="1 ⇒ 2"/>
          <p:cNvSpPr/>
          <p:nvPr/>
        </p:nvSpPr>
        <p:spPr>
          <a:xfrm>
            <a:off x="566928" y="1335024"/>
            <a:ext cx="5504688" cy="33832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1 ⇒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Suppose the iteration converges for every x^(0). Its limit x* satisfies x* = M x* + d, so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x^(k) − x* = M^k (x^(0) − x*) → 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Choose x^(0) = x* + v_i with v_i an eigenvector for λ_i. Then M^k v_i = λ_i^k v_i → 0, which forces |λ_i| &lt; 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This holds for every eigenvalue, so ρ(M) &lt; 1.</a:t>
            </a:r>
          </a:p>
        </p:txBody>
      </p:sp>
      <p:sp>
        <p:nvSpPr>
          <p:cNvPr id="4" name="2 ⇒ 1"/>
          <p:cNvSpPr/>
          <p:nvPr/>
        </p:nvSpPr>
        <p:spPr>
          <a:xfrm>
            <a:off x="6400800" y="1335024"/>
            <a:ext cx="5221224" cy="338328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2 ⇒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Suppose ρ(M) &lt; 1. By the infimum theorem there is a subordinate norm with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ρ(M) ≤ ‖M‖ &lt; 1,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instance ‖·‖_S with ε = (1 − ρ(M))/(2c).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Now the sufficient-condition theorem applies in that norm: the iteration converges from every x^(0).</a:t>
            </a:r>
          </a:p>
        </p:txBody>
      </p:sp>
      <p:sp>
        <p:nvSpPr>
          <p:cNvPr id="5" name="The eigenvector trick is the whole content of necessity: one"/>
          <p:cNvSpPr/>
          <p:nvPr/>
        </p:nvSpPr>
        <p:spPr>
          <a:xfrm>
            <a:off x="566928" y="4901184"/>
            <a:ext cx="11055096" cy="82296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eigenvector trick is the whole content of necessity: one bad direction, |λ| ≥ 1, is enough to defeat convergence from some start.</a:t>
            </a:r>
          </a:p>
        </p:txBody>
      </p:sp>
      <p:sp>
        <p:nvSpPr>
          <p:cNvPr id="6" name="MATH 616 · Computational Linear Algebra  ·  Iterative Methods  ·  Slide 33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33 of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of: ρ(M) &lt; 1 ⇔ the powers of M tend to zero" descr="Proof: ρ(M) &lt; 1 ⇔ the powers of M tend to zero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Proof: ρ(M) &lt; 1 ⇔ the powers of M tend to zero</a:t>
            </a:r>
          </a:p>
        </p:txBody>
      </p:sp>
      <p:sp>
        <p:nvSpPr>
          <p:cNvPr id="3" name="2 ⇒ 3"/>
          <p:cNvSpPr/>
          <p:nvPr/>
        </p:nvSpPr>
        <p:spPr>
          <a:xfrm>
            <a:off x="566928" y="1335024"/>
            <a:ext cx="5504688" cy="31089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2 ⇒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Pick a subordinate norm with ‖M‖ &lt; 1, as before. Submultiplicativity gives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‖M^k‖ ≤ ‖M‖^k → 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All norms on the finite-dimensional space of n × n matrices are equivalent, so M^k → 0 in every norm.</a:t>
            </a:r>
          </a:p>
        </p:txBody>
      </p:sp>
      <p:sp>
        <p:nvSpPr>
          <p:cNvPr id="4" name="3 ⇒ 2, by contradiction"/>
          <p:cNvSpPr/>
          <p:nvPr/>
        </p:nvSpPr>
        <p:spPr>
          <a:xfrm>
            <a:off x="6400800" y="1335024"/>
            <a:ext cx="5221224" cy="31089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3 ⇒ 2, by contradiction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Suppose ‖M^k‖ → 0 but some eigenvalue has |λ| ≥ 1, with eigenvector v. Then M^k v = λ^k v and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‖M^k‖ ≥ ‖M^k v‖ / ‖v‖ = |λ|^k ≥ 1,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which does not tend to zero. Contradiction.</a:t>
            </a:r>
          </a:p>
        </p:txBody>
      </p:sp>
      <p:sp>
        <p:nvSpPr>
          <p:cNvPr id="5" name="Together with the previous slide the three statements are eq"/>
          <p:cNvSpPr/>
          <p:nvPr/>
        </p:nvSpPr>
        <p:spPr>
          <a:xfrm>
            <a:off x="566928" y="4626864"/>
            <a:ext cx="11055096" cy="64008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FFFFF"/>
                </a:solidFill>
                <a:latin typeface="Calibri"/>
              </a:rPr>
              <a:t>Together with the previous slide the three statements are equivalent, and ρ(M) &lt; 1 is the one you can compute.</a:t>
            </a:r>
          </a:p>
        </p:txBody>
      </p:sp>
      <p:sp>
        <p:nvSpPr>
          <p:cNvPr id="6" name="MATH 616 · Computational Linear Algebra  ·  Iterative Methods  ·  Slide 34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34 of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at the spectral radius tells you in practice" descr="What the spectral radius tells you in practic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What the spectral radius tells you in practice</a:t>
            </a:r>
          </a:p>
        </p:txBody>
      </p:sp>
      <p:sp>
        <p:nvSpPr>
          <p:cNvPr id="3" name="Asymptotic rate"/>
          <p:cNvSpPr/>
          <p:nvPr/>
        </p:nvSpPr>
        <p:spPr>
          <a:xfrm>
            <a:off x="566928" y="1335024"/>
            <a:ext cx="5504688" cy="23408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Asymptotic rate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large k the error behaves like ‖e^(k)‖ ≈ C ρ(M)^k: every sweep multiplies the error by about ρ(M).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Sweeps needed to gain p decimal digits: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k ≈ p / (−log10 ρ(M))</a:t>
            </a:r>
          </a:p>
        </p:txBody>
      </p:sp>
      <p:graphicFrame>
        <p:nvGraphicFramePr>
          <p:cNvPr id="4" name="Spectral radii of the example" descr="Spectral radius and number of sweeps for ten digits: Jacobi 0.4045 needs about 25 sweeps, Gauss-Seidel 0.1636 needs about 13"/>
          <p:cNvGraphicFramePr>
            <a:graphicFrameLocks noGrp="1"/>
          </p:cNvGraphicFramePr>
          <p:nvPr/>
        </p:nvGraphicFramePr>
        <p:xfrm>
          <a:off x="6400800" y="1335024"/>
          <a:ext cx="5221224" cy="1426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384"/>
                <a:gridCol w="1463040"/>
                <a:gridCol w="182880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ρ(M)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Sweeps for 10 digits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Jacobi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0.4045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25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Gauss–Seidel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0.1636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ate remark"/>
          <p:cNvSpPr txBox="1"/>
          <p:nvPr/>
        </p:nvSpPr>
        <p:spPr>
          <a:xfrm>
            <a:off x="6400800" y="2907792"/>
            <a:ext cx="5221224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this 4 × 4 matrix ρ(M_GS) = ρ(M_J)² exactly, so Gauss–Seidel does two Jacobi sweeps' worth of work per sweep.</a:t>
            </a:r>
          </a:p>
        </p:txBody>
      </p:sp>
      <p:sp>
        <p:nvSpPr>
          <p:cNvPr id="6" name="Measuring ρ in Python"/>
          <p:cNvSpPr/>
          <p:nvPr/>
        </p:nvSpPr>
        <p:spPr>
          <a:xfrm>
            <a:off x="566928" y="3858768"/>
            <a:ext cx="11055096" cy="129844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Measuring ρ in Python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M_J, M_GS, M_SOR = iteration_matrices(A, omega)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print(rho(M_J), rho(M_GS), rho(M_SOR))        # all three must be &lt; 1</a:t>
            </a:r>
          </a:p>
        </p:txBody>
      </p:sp>
      <p:sp>
        <p:nvSpPr>
          <p:cNvPr id="7" name="Jacobi here needs twice the sweeps of Gauss–Seidel. Topic 5 "/>
          <p:cNvSpPr/>
          <p:nvPr/>
        </p:nvSpPr>
        <p:spPr>
          <a:xfrm>
            <a:off x="566928" y="5340096"/>
            <a:ext cx="11055096" cy="84124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Jacobi here needs twice the sweeps of Gauss–Seidel. Topic 5 shows a tuned SOR needs half as many again.</a:t>
            </a:r>
          </a:p>
        </p:txBody>
      </p:sp>
      <p:sp>
        <p:nvSpPr>
          <p:cNvPr id="8" name="MATH 616 · Computational Linear Algebra  ·  Iterative Methods  ·  Slide 35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35 of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terative methods for special matrices" descr="Iterative methods for special matrices"/>
          <p:cNvSpPr>
            <a:spLocks noGrp="1"/>
          </p:cNvSpPr>
          <p:nvPr>
            <p:ph type="title"/>
          </p:nvPr>
        </p:nvSpPr>
        <p:spPr>
          <a:xfrm>
            <a:off x="566928" y="2212848"/>
            <a:ext cx="11055096" cy="1133856"/>
          </a:xfrm>
        </p:spPr>
        <p:txBody>
          <a:bodyPr wrap="square" lIns="0" rIns="0" tIns="0" bIns="0" anchor="ctr"/>
          <a:lstStyle/>
          <a:p>
            <a:pPr algn="l"/>
            <a:r>
              <a:rPr sz="3200" b="1" i="0" lang="en-US">
                <a:solidFill>
                  <a:srgbClr val="FFFFFF"/>
                </a:solidFill>
                <a:latin typeface="Calibri"/>
              </a:rPr>
              <a:t>Iterative methods for special matrices</a:t>
            </a:r>
          </a:p>
        </p:txBody>
      </p:sp>
      <p:sp>
        <p:nvSpPr>
          <p:cNvPr id="3" name="Topic 5"/>
          <p:cNvSpPr txBox="1"/>
          <p:nvPr/>
        </p:nvSpPr>
        <p:spPr>
          <a:xfrm>
            <a:off x="566928" y="179222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7E4EE"/>
                </a:solidFill>
                <a:latin typeface="Calibri"/>
              </a:rPr>
              <a:t>Topic 5</a:t>
            </a:r>
          </a:p>
        </p:txBody>
      </p:sp>
      <p:sp>
        <p:nvSpPr>
          <p:cNvPr id="4" name="Topic 5 contents"/>
          <p:cNvSpPr/>
          <p:nvPr/>
        </p:nvSpPr>
        <p:spPr>
          <a:xfrm>
            <a:off x="566928" y="3730752"/>
            <a:ext cx="11055096" cy="1682496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▸ Strictly diagonally dominant A: Jacobi and Gauss–Seidel always converge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▸ Nonpositive off-diagonals: Jacobi and Gauss–Seidel converge or diverge together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▸ Kahan's bound ρ(M_SOR) ≥ |ω − 1|, and the Ostrowski–Reich theorem for SPD matrices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▸ The optimal ω for SPD tridiagonal matrices, and a general relaxation theorem</a:t>
            </a:r>
          </a:p>
        </p:txBody>
      </p:sp>
      <p:sp>
        <p:nvSpPr>
          <p:cNvPr id="5" name="MATH 616 · Computational Linear Algebra  ·  Iterative Methods  ·  Slide 36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36 of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rictly diagonally dominant matrices" descr="Strictly diagonally dominant matrice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Strictly diagonally dominant matrices</a:t>
            </a:r>
          </a:p>
        </p:txBody>
      </p:sp>
      <p:sp>
        <p:nvSpPr>
          <p:cNvPr id="3" name="Definition, recalled"/>
          <p:cNvSpPr/>
          <p:nvPr/>
        </p:nvSpPr>
        <p:spPr>
          <a:xfrm>
            <a:off x="566928" y="1335024"/>
            <a:ext cx="5504688" cy="12801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Definition, recalled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|a_ii|  &gt;  Σ_(j≠i) |a_ij|,     i = 1, …, n</a:t>
            </a:r>
          </a:p>
        </p:txBody>
      </p:sp>
      <p:sp>
        <p:nvSpPr>
          <p:cNvPr id="4" name="Theorem"/>
          <p:cNvSpPr/>
          <p:nvPr/>
        </p:nvSpPr>
        <p:spPr>
          <a:xfrm>
            <a:off x="6400800" y="1335024"/>
            <a:ext cx="5221224" cy="12801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If A is strictly diagonally dominant, Jacobi and Gauss–Seidel converge for every starting vector.</a:t>
            </a:r>
          </a:p>
        </p:txBody>
      </p:sp>
      <p:sp>
        <p:nvSpPr>
          <p:cNvPr id="5" name="Proof for Jacobi: one norm computation"/>
          <p:cNvSpPr/>
          <p:nvPr/>
        </p:nvSpPr>
        <p:spPr>
          <a:xfrm>
            <a:off x="566928" y="2779776"/>
            <a:ext cx="11055096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Proof for Jacobi: one norm computation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Row i of M_J = D⁻¹(L + U) has entries −a_ij / a_ii for j ≠ i and 0 on the diagonal, so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‖M_J‖∞ = max_i Σ_(j≠i) |a_ij| / |a_ii| &lt;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by strict dominance. The sufficient-condition theorem finishes it, with an explicit rate ‖M_J‖∞.</a:t>
            </a:r>
          </a:p>
        </p:txBody>
      </p:sp>
      <p:sp>
        <p:nvSpPr>
          <p:cNvPr id="6" name="Gauss–Seidel needs a different argument: ‖M_GS‖∞ is not as e"/>
          <p:cNvSpPr/>
          <p:nvPr/>
        </p:nvSpPr>
        <p:spPr>
          <a:xfrm>
            <a:off x="566928" y="4791456"/>
            <a:ext cx="11055096" cy="749808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Gauss–Seidel needs a different argument: ‖M_GS‖∞ is not as easy to read off, so we bound the spectral radius directly.</a:t>
            </a:r>
          </a:p>
        </p:txBody>
      </p:sp>
      <p:sp>
        <p:nvSpPr>
          <p:cNvPr id="7" name="MATH 616 · Computational Linear Algebra  ·  Iterative Methods  ·  Slide 37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37 of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of for Gauss–Seidel: bound every eigenvalue" descr="Proof for Gauss–Seidel: bound every eigenvalu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Proof for Gauss–Seidel: bound every eigenvalue</a:t>
            </a:r>
          </a:p>
        </p:txBody>
      </p:sp>
      <p:sp>
        <p:nvSpPr>
          <p:cNvPr id="3" name="Set-up"/>
          <p:cNvSpPr/>
          <p:nvPr/>
        </p:nvSpPr>
        <p:spPr>
          <a:xfrm>
            <a:off x="566928" y="1335024"/>
            <a:ext cx="11055096" cy="184708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Set-up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Let λ be an eigenvalue of M_GS = (D − L)⁻¹U with eigenvector x, scaled so ‖x‖∞ = 1. Then U x = λ (D − L) x. Row i of that, with the index i chosen so that |x_i| = 1, rearranged: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−Σ_(j&gt;i) a_ij x_j = λ ( a_ii x_i + Σ_(j&lt;i) a_ij x_j 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⇒   λ a_ii x_i = −λ Σ_(j&lt;i) a_ij x_j − Σ_(j&gt;i) a_ij x_j</a:t>
            </a:r>
          </a:p>
        </p:txBody>
      </p:sp>
      <p:sp>
        <p:nvSpPr>
          <p:cNvPr id="4" name="Triangle inequality, using |x_j| ≤ 1 = |x_i|"/>
          <p:cNvSpPr/>
          <p:nvPr/>
        </p:nvSpPr>
        <p:spPr>
          <a:xfrm>
            <a:off x="566928" y="3328416"/>
            <a:ext cx="11055096" cy="1847088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Triangle inequality, using |x_j| ≤ 1 = |x_i|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|λ| |a_ii| ≤ |λ| Σ_(j&lt;i) |a_ij| + Σ_(j&gt;i) |a_ij|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⇒   |λ| ≤ Σ_(j&gt;i) |a_ij| / ( |a_ii| − Σ_(j&lt;i) |a_ij| ) &lt;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last inequality is strict dominance: the denominator is positive and exceeds the numerator. Every eigenvalue has modulus below one, so ρ(M_GS) &lt; 1 and Gauss–Seidel converges from every start.</a:t>
            </a:r>
          </a:p>
        </p:txBody>
      </p:sp>
      <p:sp>
        <p:nvSpPr>
          <p:cNvPr id="5" name="The same proof shows more: ρ(M_GS) ≤ max_i Σ_(j&gt;i)|a_ij| / ("/>
          <p:cNvSpPr/>
          <p:nvPr/>
        </p:nvSpPr>
        <p:spPr>
          <a:xfrm>
            <a:off x="566928" y="5358384"/>
            <a:ext cx="11055096" cy="80467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same proof shows more: ρ(M_GS) ≤ max_i Σ_(j&gt;i)|a_ij| / (|a_ii| − Σ_(j&lt;i)|a_ij|), a computable bound on the rate.</a:t>
            </a:r>
          </a:p>
        </p:txBody>
      </p:sp>
      <p:sp>
        <p:nvSpPr>
          <p:cNvPr id="6" name="MATH 616 · Computational Linear Algebra  ·  Iterative Methods  ·  Slide 38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38 of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en the off-diagonal entries are nonpositive" descr="When the off-diagonal entries are nonpositiv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When the off-diagonal entries are nonpositive</a:t>
            </a:r>
          </a:p>
        </p:txBody>
      </p:sp>
      <p:sp>
        <p:nvSpPr>
          <p:cNvPr id="3" name="Theorem (Stein–Rosenberg)"/>
          <p:cNvSpPr/>
          <p:nvPr/>
        </p:nvSpPr>
        <p:spPr>
          <a:xfrm>
            <a:off x="566928" y="1335024"/>
            <a:ext cx="11055096" cy="106070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 (Stein–Rosenberg)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If a_ij ≤ 0 for i ≠ j and a_ii &gt; 0 for all i, then exactly one of the following four statements holds.</a:t>
            </a:r>
          </a:p>
        </p:txBody>
      </p:sp>
      <p:sp>
        <p:nvSpPr>
          <p:cNvPr id="4" name="ρ(M_J) = ρ(M_GS) = 0"/>
          <p:cNvSpPr/>
          <p:nvPr/>
        </p:nvSpPr>
        <p:spPr>
          <a:xfrm>
            <a:off x="566928" y="2578608"/>
            <a:ext cx="5504688" cy="10058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 lang="en-US">
                <a:solidFill>
                  <a:srgbClr val="083D62"/>
                </a:solidFill>
                <a:latin typeface="Calibri"/>
              </a:rPr>
              <a:t>ρ(M_J) = ρ(M_GS)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Both methods converge in finitely many steps.</a:t>
            </a:r>
          </a:p>
        </p:txBody>
      </p:sp>
      <p:sp>
        <p:nvSpPr>
          <p:cNvPr id="5" name="1"/>
          <p:cNvSpPr/>
          <p:nvPr/>
        </p:nvSpPr>
        <p:spPr>
          <a:xfrm>
            <a:off x="786384" y="2852927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ρ(M_J) = ρ(M_GS) = 1"/>
          <p:cNvSpPr/>
          <p:nvPr/>
        </p:nvSpPr>
        <p:spPr>
          <a:xfrm>
            <a:off x="6400800" y="2578608"/>
            <a:ext cx="5221224" cy="10058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 lang="en-US">
                <a:solidFill>
                  <a:srgbClr val="083D62"/>
                </a:solidFill>
                <a:latin typeface="Calibri"/>
              </a:rPr>
              <a:t>ρ(M_J) = ρ(M_GS) 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Neither method converges.</a:t>
            </a:r>
          </a:p>
        </p:txBody>
      </p:sp>
      <p:sp>
        <p:nvSpPr>
          <p:cNvPr id="7" name="2"/>
          <p:cNvSpPr/>
          <p:nvPr/>
        </p:nvSpPr>
        <p:spPr>
          <a:xfrm>
            <a:off x="6620256" y="2852927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ρ(M_GS) &lt; ρ(M_J) &lt; 1"/>
          <p:cNvSpPr/>
          <p:nvPr/>
        </p:nvSpPr>
        <p:spPr>
          <a:xfrm>
            <a:off x="566928" y="3730752"/>
            <a:ext cx="5504688" cy="10058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 lang="en-US">
                <a:solidFill>
                  <a:srgbClr val="083D62"/>
                </a:solidFill>
                <a:latin typeface="Calibri"/>
              </a:rPr>
              <a:t>ρ(M_GS) &lt; ρ(M_J) &lt;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Both converge, and Gauss–Seidel is strictly faster.</a:t>
            </a:r>
          </a:p>
        </p:txBody>
      </p:sp>
      <p:sp>
        <p:nvSpPr>
          <p:cNvPr id="9" name="3"/>
          <p:cNvSpPr/>
          <p:nvPr/>
        </p:nvSpPr>
        <p:spPr>
          <a:xfrm>
            <a:off x="786384" y="4005072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ρ(M_GS) &gt; ρ(M_J) &gt; 1"/>
          <p:cNvSpPr/>
          <p:nvPr/>
        </p:nvSpPr>
        <p:spPr>
          <a:xfrm>
            <a:off x="6400800" y="3730752"/>
            <a:ext cx="5221224" cy="10058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41248" rIns="201168" tIns="146304" b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 lang="en-US">
                <a:solidFill>
                  <a:srgbClr val="083D62"/>
                </a:solidFill>
                <a:latin typeface="Calibri"/>
              </a:rPr>
              <a:t>ρ(M_GS) &gt; ρ(M_J) &gt;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Both diverge, and Gauss–Seidel diverges faster.</a:t>
            </a:r>
          </a:p>
        </p:txBody>
      </p:sp>
      <p:sp>
        <p:nvSpPr>
          <p:cNvPr id="11" name="4"/>
          <p:cNvSpPr/>
          <p:nvPr/>
        </p:nvSpPr>
        <p:spPr>
          <a:xfrm>
            <a:off x="6620256" y="4005072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Under this sign pattern Jacobi and Gauss–Seidel stand or fal"/>
          <p:cNvSpPr/>
          <p:nvPr/>
        </p:nvSpPr>
        <p:spPr>
          <a:xfrm>
            <a:off x="566928" y="4992624"/>
            <a:ext cx="11055096" cy="96926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Under this sign pattern Jacobi and Gauss–Seidel stand or fall together, and when they stand, Gauss–Seidel wins. Proof: Stoer and Bulirsch, Introduction to Numerical Analysis.</a:t>
            </a:r>
          </a:p>
        </p:txBody>
      </p:sp>
      <p:sp>
        <p:nvSpPr>
          <p:cNvPr id="13" name="MATH 616 · Computational Linear Algebra  ·  Iterative Methods  ·  Slide 39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39 of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han's theorem: ω must lie in (0, 2)" descr="Kahan's theorem: ω must lie in (0, 2)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Kahan's theorem: ω must lie in (0, 2)</a:t>
            </a:r>
          </a:p>
        </p:txBody>
      </p:sp>
      <p:sp>
        <p:nvSpPr>
          <p:cNvPr id="3" name="Theorem (Kahan)"/>
          <p:cNvSpPr/>
          <p:nvPr/>
        </p:nvSpPr>
        <p:spPr>
          <a:xfrm>
            <a:off x="566928" y="1335024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 (Kahan)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For every matrix A with nonzero diagonal and every ω,   ρ(M_SOR(ω)) ≥ |ω − 1|.   So SOR can only converge when 0 &lt; ω &lt; 2.</a:t>
            </a:r>
          </a:p>
        </p:txBody>
      </p:sp>
      <p:sp>
        <p:nvSpPr>
          <p:cNvPr id="4" name="Proof through the determinant"/>
          <p:cNvSpPr/>
          <p:nvPr/>
        </p:nvSpPr>
        <p:spPr>
          <a:xfrm>
            <a:off x="566928" y="2377440"/>
            <a:ext cx="5504688" cy="26517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Proof through the determinant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M_SOR = (D − ωL)⁻¹((1 − ω)D + ωU). The first factor is the inverse of a lower-triangular matrix with diagonal D; the second is upper triangular with diagonal (1 − ω)D. Hence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det M_SOR = (1 − ω)ⁿ det D / det D = (1 − ω)ⁿ</a:t>
            </a:r>
          </a:p>
        </p:txBody>
      </p:sp>
      <p:sp>
        <p:nvSpPr>
          <p:cNvPr id="5" name="From determinant to spectral radius"/>
          <p:cNvSpPr/>
          <p:nvPr/>
        </p:nvSpPr>
        <p:spPr>
          <a:xfrm>
            <a:off x="6400800" y="2377440"/>
            <a:ext cx="5221224" cy="26517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From determinant to spectral radius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determinant is the product of the eigenvalues, so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ρ(M_SOR)ⁿ ≥ |λ_1 λ_2 ⋯ λ_n| = |1 − ω|ⁿ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and ρ(M_SOR) ≥ |1 − ω|. If ω ≤ 0 or ω ≥ 2 this is at least 1 and the convergence theorem rules convergence out.</a:t>
            </a:r>
          </a:p>
        </p:txBody>
      </p:sp>
      <p:sp>
        <p:nvSpPr>
          <p:cNvPr id="6" name="No assumption on A beyond a nonzero diagonal. The interval ("/>
          <p:cNvSpPr/>
          <p:nvPr/>
        </p:nvSpPr>
        <p:spPr>
          <a:xfrm>
            <a:off x="566928" y="5212080"/>
            <a:ext cx="11055096" cy="96926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No assumption on A beyond a nonzero diagonal. The interval (0, 2) is a hard limit for every SOR implementation.</a:t>
            </a:r>
          </a:p>
        </p:txBody>
      </p:sp>
      <p:sp>
        <p:nvSpPr>
          <p:cNvPr id="7" name="MATH 616 · Computational Linear Algebra  ·  Iterative Methods  ·  Slide 40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40 of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mmetric positive definite matrices" descr="Symmetric positive definite matrice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Symmetric positive definite matrices</a:t>
            </a:r>
          </a:p>
        </p:txBody>
      </p:sp>
      <p:sp>
        <p:nvSpPr>
          <p:cNvPr id="3" name="Theorem (Ostrowski–Reich)"/>
          <p:cNvSpPr/>
          <p:nvPr/>
        </p:nvSpPr>
        <p:spPr>
          <a:xfrm>
            <a:off x="566928" y="1335024"/>
            <a:ext cx="5504688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 (Ostrowski–Reich)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If A is symmetric positive definite, then ρ(M_SOR(ω)) &lt; 1 for every 0 &lt; ω &lt; 2.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In particular Gauss–Seidel, ω = 1, converges for every SPD matrix. Jacobi need not: SPD alone does not give ρ(M_J) &lt; 1.</a:t>
            </a:r>
          </a:p>
        </p:txBody>
      </p:sp>
      <p:sp>
        <p:nvSpPr>
          <p:cNvPr id="4" name="Theorem: SPD tridiagonal matrices"/>
          <p:cNvSpPr/>
          <p:nvPr/>
        </p:nvSpPr>
        <p:spPr>
          <a:xfrm>
            <a:off x="6400800" y="1335024"/>
            <a:ext cx="5221224" cy="21945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Theorem: SPD tridiagonal matrices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ρ(M_GS) = ρ(M_J)² &lt; 1,  and the best ω 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lang="en-US">
                <a:solidFill>
                  <a:srgbClr val="111827"/>
                </a:solidFill>
                <a:latin typeface="Courier New"/>
              </a:rPr>
              <a:t>ω_opt = 2 / ( 1 + √(1 − ρ(M_J)²)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with ρ(M_SOR(ω_opt)) = ω_opt − 1 &lt; ρ(M_GS).</a:t>
            </a:r>
          </a:p>
        </p:txBody>
      </p:sp>
      <p:sp>
        <p:nvSpPr>
          <p:cNvPr id="5" name="How to read the formula"/>
          <p:cNvSpPr/>
          <p:nvPr/>
        </p:nvSpPr>
        <p:spPr>
          <a:xfrm>
            <a:off x="566928" y="3694176"/>
            <a:ext cx="11055096" cy="138988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How to read the formula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ρ(M_J) close to 0 gives ω_opt ≈ 1: Gauss–Seidel is already nearly optimal. ρ(M_J) close to 1, the hard case from fine meshes, gives ω_opt close to 2 and ρ(M_SOR) ≈ 1 − 2√(1 − ρ(M_J)): an order-of-magnitude reduction in sweeps compared with Gauss–Seidel's ρ(M_J)².</a:t>
            </a:r>
          </a:p>
        </p:txBody>
      </p:sp>
      <p:sp>
        <p:nvSpPr>
          <p:cNvPr id="6" name="Both proofs are in Stoer and Bulirsch. The next slide checks"/>
          <p:cNvSpPr/>
          <p:nvPr/>
        </p:nvSpPr>
        <p:spPr>
          <a:xfrm>
            <a:off x="566928" y="5266944"/>
            <a:ext cx="11055096" cy="896112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Both proofs are in Stoer and Bulirsch. The next slide checks the formula on the 4 × 4 example, and the one after proves a general version.</a:t>
            </a:r>
          </a:p>
        </p:txBody>
      </p:sp>
      <p:sp>
        <p:nvSpPr>
          <p:cNvPr id="7" name="MATH 616 · Computational Linear Algebra  ·  Iterative Methods  ·  Slide 41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41 of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he optimal ω on the 4 × 4 example" descr="The optimal ω on the 4 × 4 example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The optimal ω on the 4 × 4 example</a:t>
            </a:r>
          </a:p>
        </p:txBody>
      </p:sp>
      <p:graphicFrame>
        <p:nvGraphicFramePr>
          <p:cNvPr id="3" name="Spectral radius of the SOR iteration matrix versus omega" descr="Line chart of the spectral radius of the SOR iteration matrix against omega from 0.5 to 1.95 for the 4 by 4 example. It decreases from 0.66 at omega 0.5 to a sharp minimum of 0.045 at omega 1.045, then rises linearly as omega minus 1 up to 0.95 at omega 1.95."/>
          <p:cNvGraphicFramePr>
            <a:graphicFrameLocks noGrp="1"/>
          </p:cNvGraphicFramePr>
          <p:nvPr/>
        </p:nvGraphicFramePr>
        <p:xfrm>
          <a:off x="566928" y="1335024"/>
          <a:ext cx="5504688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Rates of the three methods on the example" descr="Table: Jacobi spectral radius 0.4045 needs about 25 sweeps for ten digits; Gauss-Seidel 0.1636 needs 13; SOR with optimal omega 1.0446 has radius 0.0446 and needs 7"/>
          <p:cNvGraphicFramePr>
            <a:graphicFrameLocks noGrp="1"/>
          </p:cNvGraphicFramePr>
          <p:nvPr/>
        </p:nvGraphicFramePr>
        <p:xfrm>
          <a:off x="6400800" y="1335024"/>
          <a:ext cx="522122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3704"/>
                <a:gridCol w="11887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ρ(M)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en-US">
                          <a:solidFill>
                            <a:srgbClr val="FFFFFF"/>
                          </a:solidFill>
                          <a:latin typeface="Calibri"/>
                        </a:rPr>
                        <a:t>Sweeps for 10 digits</a:t>
                      </a:r>
                    </a:p>
                  </a:txBody>
                  <a:tcPr marL="91440" marR="91440" marT="36576" marB="36576" anchor="ctr">
                    <a:solidFill>
                      <a:srgbClr val="083D6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Jacobi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0.4045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25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Gauss–Seidel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0.1636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13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alibri"/>
                        </a:rPr>
                        <a:t>SOR, ω_opt = 1.0446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0.0446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lang="en-US">
                          <a:solidFill>
                            <a:srgbClr val="111827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Checking the formula"/>
          <p:cNvSpPr/>
          <p:nvPr/>
        </p:nvSpPr>
        <p:spPr>
          <a:xfrm>
            <a:off x="6400800" y="3346704"/>
            <a:ext cx="5221224" cy="1389888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Checking the formula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ρ(M_J) = cos(π/5)/2 ≈ 0.4045, so ω_opt = 2/(1 + √(1 − 0.1636)) ≈ 1.0446 and ω_opt − 1 ≈ 0.0446, which is exactly the minimum of the curve.</a:t>
            </a:r>
          </a:p>
        </p:txBody>
      </p:sp>
      <p:sp>
        <p:nvSpPr>
          <p:cNvPr id="6" name="To the right of ω_opt the curve is the straight line ω − 1: "/>
          <p:cNvSpPr/>
          <p:nvPr/>
        </p:nvSpPr>
        <p:spPr>
          <a:xfrm>
            <a:off x="566928" y="4937760"/>
            <a:ext cx="11055096" cy="1060704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To the right of ω_opt the curve is the straight line ω − 1: Kahan's bound is attained. To the left it climbs steeply, so err on the large side when guessing ω.</a:t>
            </a:r>
          </a:p>
        </p:txBody>
      </p:sp>
      <p:sp>
        <p:nvSpPr>
          <p:cNvPr id="7" name="MATH 616 · Computational Linear Algebra  ·  Iterative Methods  ·  Slide 42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42 of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 general relaxation theorem for SPD matrices" descr="A general relaxation theorem for SPD matrice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A general relaxation theorem for SPD matrices</a:t>
            </a:r>
          </a:p>
        </p:txBody>
      </p:sp>
      <p:sp>
        <p:nvSpPr>
          <p:cNvPr id="3" name="Theorem"/>
          <p:cNvSpPr/>
          <p:nvPr/>
        </p:nvSpPr>
        <p:spPr>
          <a:xfrm>
            <a:off x="566928" y="1335024"/>
            <a:ext cx="11055096" cy="219456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Theorem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Let A be Hermitian positive definite and write A = D − C − Cᴴ with D Hermitian positive definite. For α &gt; 1/2 set Q = αD − C and assume Q is invertible. Then the iteration with M = I − Q⁻¹A converges from every starting vector: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lang="en-US">
                <a:solidFill>
                  <a:srgbClr val="111827"/>
                </a:solidFill>
                <a:latin typeface="Courier New"/>
              </a:rPr>
              <a:t>ρ(I − (αD − C)⁻¹ A) &lt; 1      whenever α &gt; 1/2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A, D, C need not be real; the inner product is ⟨u, v⟩ = vᴴu.</a:t>
            </a:r>
          </a:p>
        </p:txBody>
      </p:sp>
      <p:sp>
        <p:nvSpPr>
          <p:cNvPr id="4" name="SOR is the special case"/>
          <p:cNvSpPr/>
          <p:nvPr/>
        </p:nvSpPr>
        <p:spPr>
          <a:xfrm>
            <a:off x="566928" y="3694176"/>
            <a:ext cx="5504688" cy="14264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SOR is the special case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Take D = diag(A), which is positive when A is SPD, and C = L. Then Q = αD − L is the SOR splitting with α = 1/ω, and α &gt; 1/2 is exactly 0 &lt; ω &lt; 2.</a:t>
            </a:r>
          </a:p>
        </p:txBody>
      </p:sp>
      <p:sp>
        <p:nvSpPr>
          <p:cNvPr id="5" name="So it reproves Ostrowski–Reich"/>
          <p:cNvSpPr/>
          <p:nvPr/>
        </p:nvSpPr>
        <p:spPr>
          <a:xfrm>
            <a:off x="6400800" y="3694176"/>
            <a:ext cx="5221224" cy="142646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So it reproves Ostrowski–Reich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And it allows block-diagonal D, or any Hermitian positive definite D at all, which covers block Jacobi and block SOR as well.</a:t>
            </a:r>
          </a:p>
        </p:txBody>
      </p:sp>
      <p:sp>
        <p:nvSpPr>
          <p:cNvPr id="6" name="The proof is an energy identity: pair the eigen-equation wit"/>
          <p:cNvSpPr/>
          <p:nvPr/>
        </p:nvSpPr>
        <p:spPr>
          <a:xfrm>
            <a:off x="566928" y="5303520"/>
            <a:ext cx="11055096" cy="768096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proof is an energy identity: pair the eigen-equation with the eigenvector and use positive definiteness twice.</a:t>
            </a:r>
          </a:p>
        </p:txBody>
      </p:sp>
      <p:sp>
        <p:nvSpPr>
          <p:cNvPr id="7" name="MATH 616 · Computational Linear Algebra  ·  Iterative Methods  ·  Slide 43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43 of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of: an energy identity for the eigenvalues" descr="Proof: an energy identity for the eigenvalue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Proof: an energy identity for the eigenvalues</a:t>
            </a:r>
          </a:p>
        </p:txBody>
      </p:sp>
      <p:sp>
        <p:nvSpPr>
          <p:cNvPr id="3" name="Two equations for y = (I − M)x"/>
          <p:cNvSpPr/>
          <p:nvPr/>
        </p:nvSpPr>
        <p:spPr>
          <a:xfrm>
            <a:off x="566928" y="1335024"/>
            <a:ext cx="5504688" cy="36576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Two equations for y = (I − M)x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Let M x = λ x with x ≠ 0 and put y = x − M x = (1 − λ) x = Q⁻¹ A x. Then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Q y = A x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(Q − A) y = A x − A y = A M x = λ A 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Here Q = αD − C and Q − A = (α − 1)D + Cᴴ. Pair both with y, take the conjugate of the second, and add; the C terms cancel because ⟨Cy, y⟩ + conj⟨Cᴴy, y⟩ = 0: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(2α − 1) ⟨D y, y⟩ = ⟨A x, y⟩ + conj(λ) ⟨A y, x⟩</a:t>
            </a:r>
          </a:p>
        </p:txBody>
      </p:sp>
      <p:sp>
        <p:nvSpPr>
          <p:cNvPr id="4" name="Substitute y = (1 − λ)x"/>
          <p:cNvSpPr/>
          <p:nvPr/>
        </p:nvSpPr>
        <p:spPr>
          <a:xfrm>
            <a:off x="6400800" y="1335024"/>
            <a:ext cx="5221224" cy="3657600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Substitute y = (1 − λ)x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(2α − 1) |1 − λ|² ⟨D x, x⟩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 lang="en-US">
                <a:solidFill>
                  <a:srgbClr val="111827"/>
                </a:solidFill>
                <a:latin typeface="Courier New"/>
              </a:rPr>
              <a:t>        = (1 − |λ|²) ⟨A x, x⟩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⟨D x, x⟩ &gt; 0, ⟨A x, x⟩ &gt; 0, and 2α − 1 &gt; 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If λ ≠ 1 the left side is positive, so 1 − |λ|² &gt; 0 and |λ| &lt; 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If λ = 1 then y = 0, so A x = Q y = 0, impossible for a positive definite A and x ≠ 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Every eigenvalue satisfies |λ| &lt; 1, hence ρ(M) &lt; 1.</a:t>
            </a:r>
          </a:p>
        </p:txBody>
      </p:sp>
      <p:sp>
        <p:nvSpPr>
          <p:cNvPr id="5" name="The identity even quantifies the rate: eigenvalues near 1 re"/>
          <p:cNvSpPr/>
          <p:nvPr/>
        </p:nvSpPr>
        <p:spPr>
          <a:xfrm>
            <a:off x="566928" y="5157216"/>
            <a:ext cx="11055096" cy="914400"/>
          </a:xfrm>
          <a:prstGeom prst="roundRect">
            <a:avLst>
              <a:gd name="adj" fmla="val 3500"/>
            </a:avLst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FFFFFF"/>
                </a:solidFill>
                <a:latin typeface="Calibri"/>
              </a:rPr>
              <a:t>The identity even quantifies the rate: eigenvalues near 1 require ⟨A x, x⟩ ≪ ⟨D x, x⟩, that is, directions where A is nearly singular.</a:t>
            </a:r>
          </a:p>
        </p:txBody>
      </p:sp>
      <p:sp>
        <p:nvSpPr>
          <p:cNvPr id="6" name="MATH 616 · Computational Linear Algebra  ·  Iterative Methods  ·  Slide 44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44 of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mparing the three methods in Python" descr="Comparing the three methods in Python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Comparing the three methods in Python</a:t>
            </a:r>
          </a:p>
        </p:txBody>
      </p:sp>
      <p:sp>
        <p:nvSpPr>
          <p:cNvPr id="3" name="Python code: Comparing the three methods in Python"/>
          <p:cNvSpPr/>
          <p:nvPr/>
        </p:nvSpPr>
        <p:spPr>
          <a:xfrm>
            <a:off x="566928" y="1335024"/>
            <a:ext cx="11055096" cy="2505456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A = np.diag(4.0 * np.ones(4)) + np.diag(np.ones(3), 1) + np.diag(np.ones(3), -1)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b = A @ np.ones(4)                                # exact solution is all ones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x0 = np.zeros(4)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M_J, M_GS, _ = iteration_matrices(A)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omega = 2 / (1 + np.sqrt(1 - rho(M_J)**2))        # optimal omega, SPD tridiagonal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for name, run in [("Jacobi",       lambda: jacobi(A, b, x0, 1e-10)),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      ("Gauss-Seidel", lambda: gauss_seidel(A, b, x0, 1e-10)),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              ("SOR",          lambda: sor(A, b, x0, omega, 1e-10))]: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x, its = run()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    print(f"{name:13s} {its:3d} iterations, error {np.abs(x - 1).max():.1e}")</a:t>
            </a:r>
          </a:p>
        </p:txBody>
      </p:sp>
      <p:sp>
        <p:nvSpPr>
          <p:cNvPr id="4" name="Output of the script, run with the three functions from this"/>
          <p:cNvSpPr/>
          <p:nvPr/>
        </p:nvSpPr>
        <p:spPr>
          <a:xfrm>
            <a:off x="566928" y="4005071"/>
            <a:ext cx="11055096" cy="2167128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Output of the script, run with the three functions from this lecture: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Jacobi         27 iterations, error 2.9e-11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Gauss-Seidel   14 iterations, error 2.9e-11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ourier New"/>
              </a:rPr>
              <a:t>SOR            11 iterations, error 8.8e-13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111827"/>
                </a:solidFill>
                <a:latin typeface="Calibri"/>
              </a:rPr>
              <a:t>The counts track the spectral radii: about 25, 13, and 8 sweeps were predicted for ten digits; the stopping test on consecutive iterates adds a sweep or two.</a:t>
            </a:r>
          </a:p>
        </p:txBody>
      </p:sp>
      <p:sp>
        <p:nvSpPr>
          <p:cNvPr id="5" name="MATH 616 · Computational Linear Algebra  ·  Iterative Methods  ·  Slide 45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45 of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ey takeaways" descr="Key takeaways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786384"/>
          </a:xfrm>
        </p:spPr>
        <p:txBody>
          <a:bodyPr wrap="square" lIns="0" rIns="0" tIns="0" bIns="0" anchor="ctr"/>
          <a:lstStyle/>
          <a:p>
            <a:pPr algn="l"/>
            <a:r>
              <a:rPr sz="3000" b="1" i="0" lang="en-US">
                <a:solidFill>
                  <a:srgbClr val="083D62"/>
                </a:solidFill>
                <a:latin typeface="Calibri"/>
              </a:rPr>
              <a:t>Key takeaways</a:t>
            </a:r>
          </a:p>
        </p:txBody>
      </p:sp>
      <p:sp>
        <p:nvSpPr>
          <p:cNvPr id="3" name="One template, three methods"/>
          <p:cNvSpPr/>
          <p:nvPr/>
        </p:nvSpPr>
        <p:spPr>
          <a:xfrm>
            <a:off x="566928" y="1335024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One template, three methods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x^(k+1) = x^(k) + Q⁻¹(b − A x^(k)) with Q = D (Jacobi), D − L (Gauss–Seidel), D/ω − L (SOR). Each sweep costs a product with A and an easy solve.</a:t>
            </a:r>
          </a:p>
        </p:txBody>
      </p:sp>
      <p:sp>
        <p:nvSpPr>
          <p:cNvPr id="4" name="1"/>
          <p:cNvSpPr/>
          <p:nvPr/>
        </p:nvSpPr>
        <p:spPr>
          <a:xfrm>
            <a:off x="786384" y="1609344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Convergence is a spectral question"/>
          <p:cNvSpPr/>
          <p:nvPr/>
        </p:nvSpPr>
        <p:spPr>
          <a:xfrm>
            <a:off x="566928" y="2286000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Convergence is a spectral question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The iteration converges from every start exactly when ρ(M) &lt; 1, M = I − Q⁻¹A. A norm ‖M‖ &lt; 1 is sufficient and gives an explicit a priori error bound.</a:t>
            </a:r>
          </a:p>
        </p:txBody>
      </p:sp>
      <p:sp>
        <p:nvSpPr>
          <p:cNvPr id="6" name="2"/>
          <p:cNvSpPr/>
          <p:nvPr/>
        </p:nvSpPr>
        <p:spPr>
          <a:xfrm>
            <a:off x="786384" y="2560320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ρ(M) is the rate"/>
          <p:cNvSpPr/>
          <p:nvPr/>
        </p:nvSpPr>
        <p:spPr>
          <a:xfrm>
            <a:off x="566928" y="3236976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ρ(M) is the 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Error shrinks by about ρ(M) per sweep; sweeps for p digits ≈ p / (−log10 ρ). Halving ρ is worth more than any constant-factor speed-up of a sweep.</a:t>
            </a:r>
          </a:p>
        </p:txBody>
      </p:sp>
      <p:sp>
        <p:nvSpPr>
          <p:cNvPr id="8" name="3"/>
          <p:cNvSpPr/>
          <p:nvPr/>
        </p:nvSpPr>
        <p:spPr>
          <a:xfrm>
            <a:off x="786384" y="3511296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Structure guarantees convergence"/>
          <p:cNvSpPr/>
          <p:nvPr/>
        </p:nvSpPr>
        <p:spPr>
          <a:xfrm>
            <a:off x="566928" y="4187952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Structure guarantees convergence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Strict diagonal dominance: Jacobi and Gauss–Seidel converge. SPD: SOR converges for all 0 &lt; ω &lt; 2, Gauss–Seidel included. Kahan: nothing converges outside (0, 2).</a:t>
            </a:r>
          </a:p>
        </p:txBody>
      </p:sp>
      <p:sp>
        <p:nvSpPr>
          <p:cNvPr id="10" name="4"/>
          <p:cNvSpPr/>
          <p:nvPr/>
        </p:nvSpPr>
        <p:spPr>
          <a:xfrm>
            <a:off x="786384" y="4462272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une ω when you can"/>
          <p:cNvSpPr/>
          <p:nvPr/>
        </p:nvSpPr>
        <p:spPr>
          <a:xfrm>
            <a:off x="566928" y="5138928"/>
            <a:ext cx="11055096" cy="877824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68680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 lang="en-US">
                <a:solidFill>
                  <a:srgbClr val="083D62"/>
                </a:solidFill>
                <a:latin typeface="Calibri"/>
              </a:rPr>
              <a:t>Tune ω when you can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111827"/>
                </a:solidFill>
                <a:latin typeface="Calibri"/>
              </a:rPr>
              <a:t>For SPD tridiagonal A, ω_opt = 2/(1 + √(1 − ρ(M_J)²)) and ρ(M_SOR) = ω_opt − 1. On the 4 × 4 example that cuts 25 Jacobi sweeps to 8.</a:t>
            </a:r>
          </a:p>
        </p:txBody>
      </p:sp>
      <p:sp>
        <p:nvSpPr>
          <p:cNvPr id="12" name="5"/>
          <p:cNvSpPr/>
          <p:nvPr/>
        </p:nvSpPr>
        <p:spPr>
          <a:xfrm>
            <a:off x="786384" y="5413248"/>
            <a:ext cx="438912" cy="438912"/>
          </a:xfrm>
          <a:prstGeom prst="ellipse">
            <a:avLst/>
          </a:prstGeom>
          <a:solidFill>
            <a:srgbClr val="08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MATH 616 · Computational Linear Algebra  ·  Iterative Methods  ·  Slide 46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3F4B5C"/>
                </a:solidFill>
                <a:latin typeface="Calibri"/>
              </a:rPr>
              <a:t>MATH 616 · Computational Linear Algebra  ·  Iterative Methods  ·  Slide 46 of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ext: eigenvalue problems" descr="Next: eigenvalue problems"/>
          <p:cNvSpPr>
            <a:spLocks noGrp="1"/>
          </p:cNvSpPr>
          <p:nvPr>
            <p:ph type="title"/>
          </p:nvPr>
        </p:nvSpPr>
        <p:spPr>
          <a:xfrm>
            <a:off x="566928" y="1737360"/>
            <a:ext cx="11055096" cy="822960"/>
          </a:xfrm>
        </p:spPr>
        <p:txBody>
          <a:bodyPr wrap="square" lIns="0" rIns="0" tIns="0" bIns="0" anchor="ctr"/>
          <a:lstStyle/>
          <a:p>
            <a:pPr algn="l"/>
            <a:r>
              <a:rPr sz="3400" b="1" i="0" lang="en-US">
                <a:solidFill>
                  <a:srgbClr val="FFFFFF"/>
                </a:solidFill>
                <a:latin typeface="Calibri"/>
              </a:rPr>
              <a:t>Next: eigenvalue problems</a:t>
            </a:r>
          </a:p>
        </p:txBody>
      </p:sp>
      <p:sp>
        <p:nvSpPr>
          <p:cNvPr id="3" name="Where this lecture points"/>
          <p:cNvSpPr/>
          <p:nvPr/>
        </p:nvSpPr>
        <p:spPr>
          <a:xfrm>
            <a:off x="566928" y="2743200"/>
            <a:ext cx="11055096" cy="1463040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 lang="en-US">
                <a:solidFill>
                  <a:srgbClr val="FFFFFF"/>
                </a:solidFill>
                <a:latin typeface="Calibri"/>
              </a:rPr>
              <a:t>Where this lecture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7E4EE"/>
                </a:solidFill>
                <a:latin typeface="Calibri"/>
              </a:rPr>
              <a:t>Everything today reduced to one number, the spectral radius of M. Computing eigenvalues is therefore the next skill: the power method, inverse iteration, Rayleigh quotients, and the QR algorithm, which builds the Schur form we used twice today.</a:t>
            </a:r>
          </a:p>
        </p:txBody>
      </p:sp>
      <p:sp>
        <p:nvSpPr>
          <p:cNvPr id="4" name="To prepare"/>
          <p:cNvSpPr/>
          <p:nvPr/>
        </p:nvSpPr>
        <p:spPr>
          <a:xfrm>
            <a:off x="566928" y="4407408"/>
            <a:ext cx="11055096" cy="1481328"/>
          </a:xfrm>
          <a:prstGeom prst="roundRect">
            <a:avLst>
              <a:gd name="adj" fmla="val 3500"/>
            </a:avLst>
          </a:prstGeom>
          <a:solidFill>
            <a:srgbClr val="10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 lang="en-US">
                <a:solidFill>
                  <a:srgbClr val="FFFFFF"/>
                </a:solidFill>
                <a:latin typeface="Calibri"/>
              </a:rPr>
              <a:t>To prepare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7E4EE"/>
                </a:solidFill>
                <a:latin typeface="Calibri"/>
              </a:rPr>
              <a:t>Run jacobi, gauss_seidel, and sor on the 3 × 3 system of this lecture and reproduce the error table. Then build the 4 × 4 iteration matrices with iteration_matrices, plot ρ(M_SOR(ω)) for ω in (0, 2), and check that the minimum sits at ω_opt.</a:t>
            </a:r>
          </a:p>
        </p:txBody>
      </p:sp>
      <p:sp>
        <p:nvSpPr>
          <p:cNvPr id="5" name="MATH 616 · Computational Linear Algebra  ·  Iterative Methods  ·  Slide 47 of 47"/>
          <p:cNvSpPr txBox="1"/>
          <p:nvPr/>
        </p:nvSpPr>
        <p:spPr>
          <a:xfrm>
            <a:off x="566928" y="634593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lang="en-US">
                <a:solidFill>
                  <a:srgbClr val="C7D6E2"/>
                </a:solidFill>
                <a:latin typeface="Calibri"/>
              </a:rPr>
              <a:t>MATH 616 · Computational Linear Algebra  ·  Iterative Methods  ·  Slide 47 of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Iterative Methods for Linear Systems (MATH 616)</dc:title>
  <dc:subject>MATH 616 Computational Linear Algebra</dc:subject>
  <dc:creator>Dr. Xuping Xie, Old Dominion University</dc:creator>
  <cp:keywords>Jacobi; Gauss-Seidel; SOR; spectral radius; convergence</cp:keywords>
  <dc:description>Lecture slides on iterative methods for linear systems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