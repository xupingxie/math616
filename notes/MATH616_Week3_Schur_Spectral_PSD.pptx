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71FCA2-2378-D7E9-4E8F-9AED623701D6}" v="4" dt="2026-09-15T20:25:15.8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e, Xuping" userId="S::xxie@odu.edu::cdbc18aa-4669-4bfb-9fef-59c022ea72c4" providerId="AD" clId="Web-{6371FCA2-2378-D7E9-4E8F-9AED623701D6}"/>
    <pc:docChg chg="modSld">
      <pc:chgData name="Xie, Xuping" userId="S::xxie@odu.edu::cdbc18aa-4669-4bfb-9fef-59c022ea72c4" providerId="AD" clId="Web-{6371FCA2-2378-D7E9-4E8F-9AED623701D6}" dt="2026-09-15T20:25:15.895" v="3" actId="14100"/>
      <pc:docMkLst>
        <pc:docMk/>
      </pc:docMkLst>
      <pc:sldChg chg="delSp">
        <pc:chgData name="Xie, Xuping" userId="S::xxie@odu.edu::cdbc18aa-4669-4bfb-9fef-59c022ea72c4" providerId="AD" clId="Web-{6371FCA2-2378-D7E9-4E8F-9AED623701D6}" dt="2026-09-15T20:23:04.249" v="0"/>
        <pc:sldMkLst>
          <pc:docMk/>
          <pc:sldMk cId="0" sldId="256"/>
        </pc:sldMkLst>
        <pc:spChg chg="del">
          <ac:chgData name="Xie, Xuping" userId="S::xxie@odu.edu::cdbc18aa-4669-4bfb-9fef-59c022ea72c4" providerId="AD" clId="Web-{6371FCA2-2378-D7E9-4E8F-9AED623701D6}" dt="2026-09-15T20:23:04.249" v="0"/>
          <ac:spMkLst>
            <pc:docMk/>
            <pc:sldMk cId="0" sldId="256"/>
            <ac:spMk id="7" creationId="{00000000-0000-0000-0000-000000000000}"/>
          </ac:spMkLst>
        </pc:spChg>
      </pc:sldChg>
      <pc:sldChg chg="modSp">
        <pc:chgData name="Xie, Xuping" userId="S::xxie@odu.edu::cdbc18aa-4669-4bfb-9fef-59c022ea72c4" providerId="AD" clId="Web-{6371FCA2-2378-D7E9-4E8F-9AED623701D6}" dt="2026-09-15T20:23:58.642" v="2" actId="1076"/>
        <pc:sldMkLst>
          <pc:docMk/>
          <pc:sldMk cId="0" sldId="271"/>
        </pc:sldMkLst>
        <pc:spChg chg="mod">
          <ac:chgData name="Xie, Xuping" userId="S::xxie@odu.edu::cdbc18aa-4669-4bfb-9fef-59c022ea72c4" providerId="AD" clId="Web-{6371FCA2-2378-D7E9-4E8F-9AED623701D6}" dt="2026-09-15T20:23:58.642" v="2" actId="1076"/>
          <ac:spMkLst>
            <pc:docMk/>
            <pc:sldMk cId="0" sldId="271"/>
            <ac:spMk id="15" creationId="{00000000-0000-0000-0000-000000000000}"/>
          </ac:spMkLst>
        </pc:spChg>
      </pc:sldChg>
      <pc:sldChg chg="modSp">
        <pc:chgData name="Xie, Xuping" userId="S::xxie@odu.edu::cdbc18aa-4669-4bfb-9fef-59c022ea72c4" providerId="AD" clId="Web-{6371FCA2-2378-D7E9-4E8F-9AED623701D6}" dt="2026-09-15T20:25:15.895" v="3" actId="14100"/>
        <pc:sldMkLst>
          <pc:docMk/>
          <pc:sldMk cId="0" sldId="280"/>
        </pc:sldMkLst>
        <pc:spChg chg="mod">
          <ac:chgData name="Xie, Xuping" userId="S::xxie@odu.edu::cdbc18aa-4669-4bfb-9fef-59c022ea72c4" providerId="AD" clId="Web-{6371FCA2-2378-D7E9-4E8F-9AED623701D6}" dt="2026-09-15T20:25:15.895" v="3" actId="14100"/>
          <ac:spMkLst>
            <pc:docMk/>
            <pc:sldMk cId="0" sldId="280"/>
            <ac:spMk id="2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6113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Week 3. The deck is designed with high contrast, unique slide titles, readable fonts, and text descriptions of diagrams and mathematical objects.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previous SVD module to the current module. SVD allows different input and output bases. Schur and the spectral theorem are about square matrices and coordinate changes within one space.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Eigenvalues are important, but diagonalization can fail, can be unstable, or can hide nonnormal behavior. The goal is a factorization that always exists and uses orthonormal bases.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Schur decomposition is used because it gives a universally available, stable, triangular representation. The diagonal entries of T are eigenvalues, and the off-diagonal entries carry coupling information.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Similarity transformations change coordinates while preserving eigenvalues. Schur uses a unitary or orthogonal similarity, which is safe because it preserves lengths and angles.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reviews why orthogonal and unitary transformations are central in numerical linear algebra. They preserve the two norm and avoid amplification from ill-conditioned coordinate systems.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Schur theorem states that every complex square matrix can be unitarily triangularized. For real matrices, real Schur form may contain two by two blocks for complex pairs.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Schur form is more than a triangular matrix. It provides a nested set of invariant subspaces. This is important for stability, because invariant subspaces can be more meaningful than individual eigenvectors.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shows why Schur is needed. The Jordan block has a repeated eigenvalue and only one eigenvector, so diagonalization fails. Schur decomposition still exists.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matrices can have complex eigenvalues. Real Schur form represents complex conjugate eigenpairs with real two by two blocks. The rotation matrix is the simplest example.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nonnormal example has eigenvalues equal to zero but a large off-diagonal entry. Schur form preserves that coupling, helping students see why eigenvalues alone do not always describe matrix behavior.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QR algorithm iteratively applies orthogonal similarities. In practice, shifted QR converges to Schur form. This gives an algorithmic motivation for studying Schur decomposition.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matrix commutes with its conjugate transpose. Normal matrices are exactly the matrices that can be unitarily diagonalized. In Schur form, this means the upper triangular matrix is diagonal.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spectral theorem states that every real symmetric matrix has an orthonormal eigenbasis. This is a special case where Schur form becomes diagonal.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symmetric matrix has orthogonal eigenvectors. In the eigenbasis, the matrix is diagonal with entries four and two.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describes the geometric action of a symmetric matrix. Orthogonal eigenvectors define the axes of action. Eigenvalues scale, flip, or collapse those axes.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PSD matrices arise as covariance matrices, Gram matrices, normal-equation matrices, energy matrices, and kernel matrices. The key idea is nonnegative quadratic form.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symmetric matrices, PSD can be characterized by the quadratic form, by nonnegative eigenvalues, or by a Gram factorization. Positive definite means strict positivity for nonzero vectors.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three examples. A matrix with positive eigenvalues is positive definite. A rank-deficient outer product is PSD but singular. A symmetric matrix with a negative eigenvalue is indefinite even if its entries are positive.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proves PSD directly from the quadratic form. The expression is a perfect square, but it can be zero for a nonzero vector, so the matrix is PSD but not positive definite.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 matrices and covariance matrices are PSD because their quadratic forms are squared norms. This connects PSD matrices to PCA and data analysis.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spectral theorem gives square roots and Gram factorizations for PSD matrices. If the matrix is positive definite, Cholesky factorization is available.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distinguishes roundoff-scale negative eigenvalues from meaningful negative eigenvalues. It also mentions symmetrization and thresholding as common repairs when theory guarantees PSD.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Schur, spectral theorem, and PSD matrices to prior topics such as SVD and PCA, and later topics such as algorithms, matrix functions, least squares, and kernels.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slide gives practice prompts and a concise summary of the week.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548640" y="1508760"/>
            <a:ext cx="11064240" cy="1325880"/>
          </a:xfrm>
          <a:prstGeom prst="roundRect">
            <a:avLst>
              <a:gd name="adj" fmla="val 8276"/>
            </a:avLst>
          </a:prstGeom>
          <a:solidFill>
            <a:srgbClr val="083D62"/>
          </a:solidFill>
          <a:ln w="12700">
            <a:solidFill>
              <a:srgbClr val="083D62"/>
            </a:solidFill>
            <a:prstDash val="solid"/>
          </a:ln>
        </p:spPr>
        <p:txBody>
          <a:bodyPr/>
          <a:lstStyle/>
          <a:p>
            <a:endParaRPr lang="en-US"/>
          </a:p>
        </p:txBody>
      </p:sp>
      <p:sp>
        <p:nvSpPr>
          <p:cNvPr id="4" name="Text 2"/>
          <p:cNvSpPr/>
          <p:nvPr/>
        </p:nvSpPr>
        <p:spPr>
          <a:xfrm>
            <a:off x="868680" y="1709928"/>
            <a:ext cx="10424160" cy="868680"/>
          </a:xfrm>
          <a:prstGeom prst="rect">
            <a:avLst/>
          </a:prstGeom>
          <a:noFill/>
          <a:ln/>
        </p:spPr>
        <p:txBody>
          <a:bodyPr wrap="square" lIns="0" tIns="0" rIns="0" bIns="0" rtlCol="0" anchor="ctr">
            <a:normAutofit/>
          </a:bodyPr>
          <a:lstStyle/>
          <a:p>
            <a:pPr marL="0" indent="0" algn="ctr">
              <a:buNone/>
            </a:pPr>
            <a:r>
              <a:rPr lang="en-US" sz="3200" b="1" dirty="0">
                <a:solidFill>
                  <a:srgbClr val="FFFFFF"/>
                </a:solidFill>
                <a:latin typeface="Aptos Display" pitchFamily="34" charset="0"/>
                <a:ea typeface="Aptos Display" pitchFamily="34" charset="-122"/>
                <a:cs typeface="Aptos Display" pitchFamily="34" charset="-120"/>
              </a:rPr>
              <a:t>Schur, the Spectral Theorem,</a:t>
            </a:r>
            <a:endParaRPr lang="en-US" sz="3200" dirty="0"/>
          </a:p>
          <a:p>
            <a:pPr marL="0" indent="0" algn="ctr">
              <a:buNone/>
            </a:pPr>
            <a:r>
              <a:rPr lang="en-US" sz="3200" b="1" dirty="0">
                <a:solidFill>
                  <a:srgbClr val="FFFFFF"/>
                </a:solidFill>
                <a:latin typeface="Aptos Display" pitchFamily="34" charset="0"/>
                <a:ea typeface="Aptos Display" pitchFamily="34" charset="-122"/>
                <a:cs typeface="Aptos Display" pitchFamily="34" charset="-120"/>
              </a:rPr>
              <a:t>and Positive Semidefinite Matrices</a:t>
            </a:r>
            <a:endParaRPr lang="en-US" sz="3200" dirty="0"/>
          </a:p>
        </p:txBody>
      </p:sp>
      <p:sp>
        <p:nvSpPr>
          <p:cNvPr id="5" name="Text 3"/>
          <p:cNvSpPr/>
          <p:nvPr/>
        </p:nvSpPr>
        <p:spPr>
          <a:xfrm>
            <a:off x="1280160" y="3246120"/>
            <a:ext cx="9601200" cy="347472"/>
          </a:xfrm>
          <a:prstGeom prst="rect">
            <a:avLst/>
          </a:prstGeom>
          <a:noFill/>
          <a:ln/>
        </p:spPr>
        <p:txBody>
          <a:bodyPr wrap="square" lIns="1016" tIns="1016" rIns="1016" bIns="1016" rtlCol="0" anchor="ctr">
            <a:normAutofit/>
          </a:bodyPr>
          <a:lstStyle/>
          <a:p>
            <a:pPr marL="0" indent="0" algn="ctr">
              <a:buNone/>
            </a:pPr>
            <a:r>
              <a:rPr lang="en-US" sz="2400" dirty="0">
                <a:solidFill>
                  <a:srgbClr val="111827"/>
                </a:solidFill>
                <a:latin typeface="Aptos" pitchFamily="34" charset="0"/>
                <a:ea typeface="Aptos" pitchFamily="34" charset="-122"/>
                <a:cs typeface="Aptos" pitchFamily="34" charset="-120"/>
              </a:rPr>
              <a:t>MATH 616: Computational Linear Algebra</a:t>
            </a:r>
            <a:endParaRPr lang="en-US" sz="2400" dirty="0"/>
          </a:p>
        </p:txBody>
      </p:sp>
      <p:sp>
        <p:nvSpPr>
          <p:cNvPr id="6" name="Text 4"/>
          <p:cNvSpPr/>
          <p:nvPr/>
        </p:nvSpPr>
        <p:spPr>
          <a:xfrm>
            <a:off x="1828800" y="3767328"/>
            <a:ext cx="8503920" cy="256032"/>
          </a:xfrm>
          <a:prstGeom prst="rect">
            <a:avLst/>
          </a:prstGeom>
          <a:noFill/>
          <a:ln/>
        </p:spPr>
        <p:txBody>
          <a:bodyPr wrap="square" lIns="1016" tIns="1016" rIns="1016" bIns="1016" rtlCol="0" anchor="ctr">
            <a:normAutofit/>
          </a:bodyPr>
          <a:lstStyle/>
          <a:p>
            <a:pPr marL="0" indent="0" algn="ctr">
              <a:buNone/>
            </a:pPr>
            <a:r>
              <a:rPr lang="en-US" sz="1600" dirty="0">
                <a:solidFill>
                  <a:srgbClr val="334155"/>
                </a:solidFill>
                <a:latin typeface="Aptos" pitchFamily="34" charset="0"/>
                <a:ea typeface="Aptos" pitchFamily="34" charset="-122"/>
                <a:cs typeface="Aptos" pitchFamily="34" charset="-120"/>
              </a:rPr>
              <a:t>Dr. Xuping Xie · Old Dominion University </a:t>
            </a:r>
            <a:endParaRPr lang="en-US" sz="1600" dirty="0"/>
          </a:p>
        </p:txBody>
      </p:sp>
      <p:sp>
        <p:nvSpPr>
          <p:cNvPr id="8" name="Shape 6"/>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9" name="Text 7"/>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10" name="Text 8"/>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11" name="Text 9"/>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1 / 25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Roadmap: from SVD to eigenvalue structure</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1 / 25</a:t>
            </a:r>
            <a:endParaRPr lang="en-US" sz="850" dirty="0"/>
          </a:p>
        </p:txBody>
      </p:sp>
      <p:sp>
        <p:nvSpPr>
          <p:cNvPr id="8" name="Shape 6"/>
          <p:cNvSpPr/>
          <p:nvPr/>
        </p:nvSpPr>
        <p:spPr>
          <a:xfrm>
            <a:off x="594360" y="1188720"/>
            <a:ext cx="3474720" cy="1051560"/>
          </a:xfrm>
          <a:prstGeom prst="roundRect">
            <a:avLst>
              <a:gd name="adj" fmla="val 8696"/>
            </a:avLst>
          </a:prstGeom>
          <a:solidFill>
            <a:srgbClr val="F3F6F8"/>
          </a:solidFill>
          <a:ln w="13970">
            <a:solidFill>
              <a:srgbClr val="E3EAF0"/>
            </a:solidFill>
            <a:prstDash val="solid"/>
          </a:ln>
        </p:spPr>
        <p:txBody>
          <a:bodyPr/>
          <a:lstStyle/>
          <a:p>
            <a:endParaRPr lang="en-US"/>
          </a:p>
        </p:txBody>
      </p:sp>
      <p:sp>
        <p:nvSpPr>
          <p:cNvPr id="9" name="Text 7"/>
          <p:cNvSpPr/>
          <p:nvPr/>
        </p:nvSpPr>
        <p:spPr>
          <a:xfrm>
            <a:off x="740664" y="1298448"/>
            <a:ext cx="318211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Last week</a:t>
            </a:r>
            <a:endParaRPr lang="en-US" sz="1500" dirty="0"/>
          </a:p>
        </p:txBody>
      </p:sp>
      <p:sp>
        <p:nvSpPr>
          <p:cNvPr id="10" name="Text 8"/>
          <p:cNvSpPr/>
          <p:nvPr/>
        </p:nvSpPr>
        <p:spPr>
          <a:xfrm>
            <a:off x="740664" y="1673352"/>
            <a:ext cx="3182112" cy="45720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SVD: every matrix is diagonal after changing both input and output bases.</a:t>
            </a:r>
            <a:endParaRPr lang="en-US" sz="1800" dirty="0"/>
          </a:p>
        </p:txBody>
      </p:sp>
      <p:sp>
        <p:nvSpPr>
          <p:cNvPr id="11" name="Shape 9"/>
          <p:cNvSpPr/>
          <p:nvPr/>
        </p:nvSpPr>
        <p:spPr>
          <a:xfrm>
            <a:off x="4224528" y="1719072"/>
            <a:ext cx="804672" cy="0"/>
          </a:xfrm>
          <a:prstGeom prst="line">
            <a:avLst/>
          </a:prstGeom>
          <a:noFill/>
          <a:ln w="27940">
            <a:solidFill>
              <a:srgbClr val="083D62"/>
            </a:solidFill>
            <a:prstDash val="solid"/>
            <a:headEnd type="none"/>
            <a:tailEnd type="triangle"/>
          </a:ln>
        </p:spPr>
        <p:txBody>
          <a:bodyPr/>
          <a:lstStyle/>
          <a:p>
            <a:endParaRPr lang="en-US"/>
          </a:p>
        </p:txBody>
      </p:sp>
      <p:sp>
        <p:nvSpPr>
          <p:cNvPr id="12" name="Shape 10"/>
          <p:cNvSpPr/>
          <p:nvPr/>
        </p:nvSpPr>
        <p:spPr>
          <a:xfrm>
            <a:off x="5193792" y="1188720"/>
            <a:ext cx="3474720" cy="1051560"/>
          </a:xfrm>
          <a:prstGeom prst="roundRect">
            <a:avLst>
              <a:gd name="adj" fmla="val 8696"/>
            </a:avLst>
          </a:prstGeom>
          <a:solidFill>
            <a:srgbClr val="F3F6F8"/>
          </a:solidFill>
          <a:ln w="13970">
            <a:solidFill>
              <a:srgbClr val="E3EAF0"/>
            </a:solidFill>
            <a:prstDash val="solid"/>
          </a:ln>
        </p:spPr>
        <p:txBody>
          <a:bodyPr/>
          <a:lstStyle/>
          <a:p>
            <a:endParaRPr lang="en-US"/>
          </a:p>
        </p:txBody>
      </p:sp>
      <p:sp>
        <p:nvSpPr>
          <p:cNvPr id="13" name="Text 11"/>
          <p:cNvSpPr/>
          <p:nvPr/>
        </p:nvSpPr>
        <p:spPr>
          <a:xfrm>
            <a:off x="5340096" y="1298448"/>
            <a:ext cx="318211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This week</a:t>
            </a:r>
            <a:endParaRPr lang="en-US" sz="1500" dirty="0"/>
          </a:p>
        </p:txBody>
      </p:sp>
      <p:sp>
        <p:nvSpPr>
          <p:cNvPr id="14" name="Text 12"/>
          <p:cNvSpPr/>
          <p:nvPr/>
        </p:nvSpPr>
        <p:spPr>
          <a:xfrm>
            <a:off x="5340096" y="1673352"/>
            <a:ext cx="3182112" cy="45720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Square matrices: keep one coordinate system and reveal eigenvalue structure.</a:t>
            </a:r>
            <a:endParaRPr lang="en-US" sz="1800" dirty="0"/>
          </a:p>
        </p:txBody>
      </p:sp>
      <p:sp>
        <p:nvSpPr>
          <p:cNvPr id="15" name="Shape 13"/>
          <p:cNvSpPr/>
          <p:nvPr/>
        </p:nvSpPr>
        <p:spPr>
          <a:xfrm>
            <a:off x="8823960" y="1719072"/>
            <a:ext cx="804672" cy="0"/>
          </a:xfrm>
          <a:prstGeom prst="line">
            <a:avLst/>
          </a:prstGeom>
          <a:noFill/>
          <a:ln w="27940">
            <a:solidFill>
              <a:srgbClr val="083D62"/>
            </a:solidFill>
            <a:prstDash val="solid"/>
            <a:headEnd type="none"/>
            <a:tailEnd type="triangle"/>
          </a:ln>
        </p:spPr>
        <p:txBody>
          <a:bodyPr/>
          <a:lstStyle/>
          <a:p>
            <a:endParaRPr lang="en-US"/>
          </a:p>
        </p:txBody>
      </p:sp>
      <p:sp>
        <p:nvSpPr>
          <p:cNvPr id="16" name="Shape 14"/>
          <p:cNvSpPr/>
          <p:nvPr/>
        </p:nvSpPr>
        <p:spPr>
          <a:xfrm>
            <a:off x="9840468" y="1188720"/>
            <a:ext cx="1828800" cy="1051560"/>
          </a:xfrm>
          <a:prstGeom prst="roundRect">
            <a:avLst>
              <a:gd name="adj" fmla="val 8696"/>
            </a:avLst>
          </a:prstGeom>
          <a:solidFill>
            <a:srgbClr val="F3F6F8"/>
          </a:solidFill>
          <a:ln w="13970">
            <a:solidFill>
              <a:srgbClr val="E3EAF0"/>
            </a:solidFill>
            <a:prstDash val="solid"/>
          </a:ln>
        </p:spPr>
        <p:txBody>
          <a:bodyPr/>
          <a:lstStyle/>
          <a:p>
            <a:endParaRPr lang="en-US"/>
          </a:p>
        </p:txBody>
      </p:sp>
      <p:sp>
        <p:nvSpPr>
          <p:cNvPr id="18" name="Text 16"/>
          <p:cNvSpPr/>
          <p:nvPr/>
        </p:nvSpPr>
        <p:spPr>
          <a:xfrm>
            <a:off x="9912096" y="1188720"/>
            <a:ext cx="1685544" cy="1240663"/>
          </a:xfrm>
          <a:prstGeom prst="rect">
            <a:avLst/>
          </a:prstGeom>
          <a:noFill/>
          <a:ln/>
        </p:spPr>
        <p:txBody>
          <a:bodyPr wrap="square" lIns="0" tIns="0" rIns="0" bIns="0" rtlCol="0" anchor="ctr">
            <a:normAutofit/>
          </a:bodyPr>
          <a:lstStyle/>
          <a:p>
            <a:pPr marL="0" indent="0" algn="l">
              <a:buNone/>
            </a:pPr>
            <a:r>
              <a:rPr lang="en-US" sz="1600" dirty="0">
                <a:solidFill>
                  <a:srgbClr val="111827"/>
                </a:solidFill>
                <a:latin typeface="Aptos" pitchFamily="34" charset="0"/>
                <a:ea typeface="Aptos" pitchFamily="34" charset="-122"/>
                <a:cs typeface="Aptos" pitchFamily="34" charset="-120"/>
              </a:rPr>
              <a:t>Schur form, spectral theorem, and PSD matrices explain stability, PCA, and energy.</a:t>
            </a:r>
            <a:endParaRPr lang="en-US" sz="1600" dirty="0"/>
          </a:p>
        </p:txBody>
      </p:sp>
      <p:sp>
        <p:nvSpPr>
          <p:cNvPr id="19" name="Text 17"/>
          <p:cNvSpPr/>
          <p:nvPr/>
        </p:nvSpPr>
        <p:spPr>
          <a:xfrm>
            <a:off x="868680" y="2834640"/>
            <a:ext cx="10424160" cy="2194560"/>
          </a:xfrm>
          <a:prstGeom prst="rect">
            <a:avLst/>
          </a:prstGeom>
          <a:noFill/>
          <a:ln/>
        </p:spPr>
        <p:txBody>
          <a:bodyPr wrap="square" lIns="1016" tIns="1016" rIns="1016" bIns="1016" rtlCol="0" anchor="ctr">
            <a:normAutofit/>
          </a:bodyPr>
          <a:lstStyle/>
          <a:p>
            <a:r>
              <a:rPr lang="en-US" sz="2300" dirty="0">
                <a:solidFill>
                  <a:srgbClr val="111827"/>
                </a:solidFill>
                <a:latin typeface="Aptos" pitchFamily="34" charset="0"/>
                <a:ea typeface="Aptos" pitchFamily="34" charset="-122"/>
                <a:cs typeface="Aptos" pitchFamily="34" charset="-120"/>
              </a:rPr>
              <a:t>Schur: what survives when diagonalization fails.
</a:t>
            </a:r>
            <a:endParaRPr lang="en-US" sz="2300" dirty="0"/>
          </a:p>
          <a:p>
            <a:r>
              <a:rPr lang="en-US" sz="2300" dirty="0">
                <a:solidFill>
                  <a:srgbClr val="111827"/>
                </a:solidFill>
                <a:latin typeface="Aptos" pitchFamily="34" charset="0"/>
                <a:ea typeface="Aptos" pitchFamily="34" charset="-122"/>
                <a:cs typeface="Aptos" pitchFamily="34" charset="-120"/>
              </a:rPr>
              <a:t>Spectral theorem: when Schur becomes an orthogonal diagonalization.
</a:t>
            </a:r>
            <a:endParaRPr lang="en-US" sz="2300" dirty="0"/>
          </a:p>
          <a:p>
            <a:r>
              <a:rPr lang="en-US" sz="2300" dirty="0">
                <a:solidFill>
                  <a:srgbClr val="111827"/>
                </a:solidFill>
                <a:latin typeface="Aptos" pitchFamily="34" charset="0"/>
                <a:ea typeface="Aptos" pitchFamily="34" charset="-122"/>
                <a:cs typeface="Aptos" pitchFamily="34" charset="-120"/>
              </a:rPr>
              <a:t>PSD matrices: the algebra of variance, energy, Gram matrices, and covariance.</a:t>
            </a:r>
            <a:endParaRPr lang="en-US" sz="2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Motivation: why eigenvalues alone are not enough</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2 / 25</a:t>
            </a:r>
            <a:endParaRPr lang="en-US" sz="850" dirty="0"/>
          </a:p>
        </p:txBody>
      </p:sp>
      <p:sp>
        <p:nvSpPr>
          <p:cNvPr id="8" name="Text 6"/>
          <p:cNvSpPr/>
          <p:nvPr/>
        </p:nvSpPr>
        <p:spPr>
          <a:xfrm>
            <a:off x="731520" y="1051560"/>
            <a:ext cx="10698480" cy="384048"/>
          </a:xfrm>
          <a:prstGeom prst="rect">
            <a:avLst/>
          </a:prstGeom>
          <a:noFill/>
          <a:ln/>
        </p:spPr>
        <p:txBody>
          <a:bodyPr wrap="square" lIns="1016" tIns="1016" rIns="1016" bIns="1016" rtlCol="0" anchor="ctr">
            <a:normAutofit/>
          </a:bodyPr>
          <a:lstStyle/>
          <a:p>
            <a:pPr marL="0" indent="0" algn="l">
              <a:buNone/>
            </a:pPr>
            <a:r>
              <a:rPr lang="en-US" sz="2500" b="1" dirty="0">
                <a:solidFill>
                  <a:srgbClr val="083D62"/>
                </a:solidFill>
                <a:latin typeface="Aptos" pitchFamily="34" charset="0"/>
                <a:ea typeface="Aptos" pitchFamily="34" charset="-122"/>
                <a:cs typeface="Aptos" pitchFamily="34" charset="-120"/>
              </a:rPr>
              <a:t>Eigenvalues answer “what happens on invariant directions?”</a:t>
            </a:r>
            <a:endParaRPr lang="en-US" sz="2500" dirty="0"/>
          </a:p>
        </p:txBody>
      </p:sp>
      <p:sp>
        <p:nvSpPr>
          <p:cNvPr id="9" name="Shape 7"/>
          <p:cNvSpPr/>
          <p:nvPr/>
        </p:nvSpPr>
        <p:spPr>
          <a:xfrm>
            <a:off x="777240" y="1874520"/>
            <a:ext cx="3429000" cy="1508760"/>
          </a:xfrm>
          <a:prstGeom prst="roundRect">
            <a:avLst>
              <a:gd name="adj" fmla="val 6061"/>
            </a:avLst>
          </a:prstGeom>
          <a:solidFill>
            <a:srgbClr val="F3F6F8"/>
          </a:solidFill>
          <a:ln w="13970">
            <a:solidFill>
              <a:srgbClr val="E3EAF0"/>
            </a:solidFill>
            <a:prstDash val="solid"/>
          </a:ln>
        </p:spPr>
        <p:txBody>
          <a:bodyPr/>
          <a:lstStyle/>
          <a:p>
            <a:endParaRPr lang="en-US"/>
          </a:p>
        </p:txBody>
      </p:sp>
      <p:sp>
        <p:nvSpPr>
          <p:cNvPr id="10" name="Text 8"/>
          <p:cNvSpPr/>
          <p:nvPr/>
        </p:nvSpPr>
        <p:spPr>
          <a:xfrm>
            <a:off x="923544" y="1984248"/>
            <a:ext cx="31363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Problem 1: not every matrix diagonalizes</a:t>
            </a:r>
            <a:endParaRPr lang="en-US" sz="1500" dirty="0"/>
          </a:p>
        </p:txBody>
      </p:sp>
      <p:sp>
        <p:nvSpPr>
          <p:cNvPr id="11" name="Text 9"/>
          <p:cNvSpPr/>
          <p:nvPr/>
        </p:nvSpPr>
        <p:spPr>
          <a:xfrm>
            <a:off x="923544" y="2359152"/>
            <a:ext cx="3136392" cy="91440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A defective matrix has too few eigenvectors. Then A = XΛX⁻¹ does not exist.</a:t>
            </a:r>
            <a:endParaRPr lang="en-US" sz="1800" dirty="0"/>
          </a:p>
        </p:txBody>
      </p:sp>
      <p:sp>
        <p:nvSpPr>
          <p:cNvPr id="12" name="Shape 10"/>
          <p:cNvSpPr/>
          <p:nvPr/>
        </p:nvSpPr>
        <p:spPr>
          <a:xfrm>
            <a:off x="4434840" y="1874520"/>
            <a:ext cx="3429000" cy="1508760"/>
          </a:xfrm>
          <a:prstGeom prst="roundRect">
            <a:avLst>
              <a:gd name="adj" fmla="val 6061"/>
            </a:avLst>
          </a:prstGeom>
          <a:solidFill>
            <a:srgbClr val="F3F6F8"/>
          </a:solidFill>
          <a:ln w="13970">
            <a:solidFill>
              <a:srgbClr val="E3EAF0"/>
            </a:solidFill>
            <a:prstDash val="solid"/>
          </a:ln>
        </p:spPr>
        <p:txBody>
          <a:bodyPr/>
          <a:lstStyle/>
          <a:p>
            <a:endParaRPr lang="en-US"/>
          </a:p>
        </p:txBody>
      </p:sp>
      <p:sp>
        <p:nvSpPr>
          <p:cNvPr id="13" name="Text 11"/>
          <p:cNvSpPr/>
          <p:nvPr/>
        </p:nvSpPr>
        <p:spPr>
          <a:xfrm>
            <a:off x="4581144" y="1984248"/>
            <a:ext cx="31363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Problem 2: bad bases amplify errors</a:t>
            </a:r>
            <a:endParaRPr lang="en-US" sz="1500" dirty="0"/>
          </a:p>
        </p:txBody>
      </p:sp>
      <p:sp>
        <p:nvSpPr>
          <p:cNvPr id="14" name="Text 12"/>
          <p:cNvSpPr/>
          <p:nvPr/>
        </p:nvSpPr>
        <p:spPr>
          <a:xfrm>
            <a:off x="4581144" y="2359152"/>
            <a:ext cx="3136392" cy="91440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Even if X exists, nearly parallel eigenvectors make X⁻¹ unstable.</a:t>
            </a:r>
            <a:endParaRPr lang="en-US" sz="1800" dirty="0"/>
          </a:p>
        </p:txBody>
      </p:sp>
      <p:sp>
        <p:nvSpPr>
          <p:cNvPr id="15" name="Shape 13"/>
          <p:cNvSpPr/>
          <p:nvPr/>
        </p:nvSpPr>
        <p:spPr>
          <a:xfrm>
            <a:off x="8092440" y="1874520"/>
            <a:ext cx="3429000" cy="1508760"/>
          </a:xfrm>
          <a:prstGeom prst="roundRect">
            <a:avLst>
              <a:gd name="adj" fmla="val 6061"/>
            </a:avLst>
          </a:prstGeom>
          <a:solidFill>
            <a:srgbClr val="F3F6F8"/>
          </a:solidFill>
          <a:ln w="13970">
            <a:solidFill>
              <a:srgbClr val="E3EAF0"/>
            </a:solidFill>
            <a:prstDash val="solid"/>
          </a:ln>
        </p:spPr>
        <p:txBody>
          <a:bodyPr/>
          <a:lstStyle/>
          <a:p>
            <a:endParaRPr lang="en-US"/>
          </a:p>
        </p:txBody>
      </p:sp>
      <p:sp>
        <p:nvSpPr>
          <p:cNvPr id="16" name="Text 14"/>
          <p:cNvSpPr/>
          <p:nvPr/>
        </p:nvSpPr>
        <p:spPr>
          <a:xfrm>
            <a:off x="8238744" y="1984248"/>
            <a:ext cx="31363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Problem 3: eigenvalues miss nonnormal effects</a:t>
            </a:r>
            <a:endParaRPr lang="en-US" sz="1500" dirty="0"/>
          </a:p>
        </p:txBody>
      </p:sp>
      <p:sp>
        <p:nvSpPr>
          <p:cNvPr id="17" name="Text 15"/>
          <p:cNvSpPr/>
          <p:nvPr/>
        </p:nvSpPr>
        <p:spPr>
          <a:xfrm>
            <a:off x="8238744" y="2359152"/>
            <a:ext cx="3136392" cy="91440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A matrix can have small eigenvalues but large transient stretching.</a:t>
            </a:r>
            <a:endParaRPr lang="en-US" sz="1800" dirty="0"/>
          </a:p>
        </p:txBody>
      </p:sp>
      <p:sp>
        <p:nvSpPr>
          <p:cNvPr id="18" name="Shape 16"/>
          <p:cNvSpPr/>
          <p:nvPr/>
        </p:nvSpPr>
        <p:spPr>
          <a:xfrm>
            <a:off x="1417320" y="4160520"/>
            <a:ext cx="9326880" cy="914400"/>
          </a:xfrm>
          <a:prstGeom prst="roundRect">
            <a:avLst>
              <a:gd name="adj" fmla="val 9000"/>
            </a:avLst>
          </a:prstGeom>
          <a:solidFill>
            <a:srgbClr val="EAF4F4"/>
          </a:solidFill>
          <a:ln w="15240">
            <a:solidFill>
              <a:srgbClr val="0E6B68"/>
            </a:solidFill>
            <a:prstDash val="solid"/>
          </a:ln>
        </p:spPr>
        <p:txBody>
          <a:bodyPr/>
          <a:lstStyle/>
          <a:p>
            <a:endParaRPr lang="en-US"/>
          </a:p>
        </p:txBody>
      </p:sp>
      <p:sp>
        <p:nvSpPr>
          <p:cNvPr id="19" name="Text 17"/>
          <p:cNvSpPr/>
          <p:nvPr/>
        </p:nvSpPr>
        <p:spPr>
          <a:xfrm>
            <a:off x="1563624" y="4215384"/>
            <a:ext cx="9034272" cy="804672"/>
          </a:xfrm>
          <a:prstGeom prst="rect">
            <a:avLst/>
          </a:prstGeom>
          <a:noFill/>
          <a:ln/>
        </p:spPr>
        <p:txBody>
          <a:bodyPr wrap="square" lIns="0" tIns="0" rIns="0" bIns="0" rtlCol="0" anchor="ctr">
            <a:normAutofit/>
          </a:bodyPr>
          <a:lstStyle/>
          <a:p>
            <a:pPr marL="0" indent="0" algn="ctr">
              <a:buNone/>
            </a:pPr>
            <a:r>
              <a:rPr lang="en-US" sz="2500" dirty="0">
                <a:solidFill>
                  <a:srgbClr val="111827"/>
                </a:solidFill>
                <a:latin typeface="Aptos" pitchFamily="34" charset="0"/>
                <a:ea typeface="Aptos" pitchFamily="34" charset="-122"/>
                <a:cs typeface="Aptos" pitchFamily="34" charset="-120"/>
              </a:rPr>
              <a:t>Goal: keep the eigenvalue information,</a:t>
            </a:r>
            <a:endParaRPr lang="en-US" sz="2500" dirty="0"/>
          </a:p>
          <a:p>
            <a:pPr marL="0" indent="0" algn="ctr">
              <a:buNone/>
            </a:pPr>
            <a:r>
              <a:rPr lang="en-US" sz="2500" dirty="0">
                <a:solidFill>
                  <a:srgbClr val="111827"/>
                </a:solidFill>
                <a:latin typeface="Aptos" pitchFamily="34" charset="0"/>
                <a:ea typeface="Aptos" pitchFamily="34" charset="-122"/>
                <a:cs typeface="Aptos" pitchFamily="34" charset="-120"/>
              </a:rPr>
              <a:t>but use a safe orthonormal basis.</a:t>
            </a:r>
            <a:endParaRPr lang="en-US" sz="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Why use Schur decomposition?</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3 / 25</a:t>
            </a:r>
            <a:endParaRPr lang="en-US" sz="850" dirty="0"/>
          </a:p>
        </p:txBody>
      </p:sp>
      <p:sp>
        <p:nvSpPr>
          <p:cNvPr id="8" name="Text 6"/>
          <p:cNvSpPr/>
          <p:nvPr/>
        </p:nvSpPr>
        <p:spPr>
          <a:xfrm>
            <a:off x="822960" y="1097280"/>
            <a:ext cx="6446520" cy="4434840"/>
          </a:xfrm>
          <a:prstGeom prst="rect">
            <a:avLst/>
          </a:prstGeom>
          <a:noFill/>
          <a:ln/>
        </p:spPr>
        <p:txBody>
          <a:bodyPr wrap="square" lIns="1016" tIns="1016" rIns="1016" bIns="1016" rtlCol="0" anchor="ctr">
            <a:normAutofit/>
          </a:bodyPr>
          <a:lstStyle/>
          <a:p>
            <a:r>
              <a:rPr lang="en-US" sz="2100" dirty="0">
                <a:solidFill>
                  <a:srgbClr val="111827"/>
                </a:solidFill>
                <a:latin typeface="Aptos" pitchFamily="34" charset="0"/>
                <a:ea typeface="Aptos" pitchFamily="34" charset="-122"/>
                <a:cs typeface="Aptos" pitchFamily="34" charset="-120"/>
              </a:rPr>
              <a:t>It exists for every square matrix over the complex numbers.
</a:t>
            </a:r>
            <a:endParaRPr lang="en-US" sz="2100" dirty="0"/>
          </a:p>
          <a:p>
            <a:r>
              <a:rPr lang="en-US" sz="2100" dirty="0">
                <a:solidFill>
                  <a:srgbClr val="111827"/>
                </a:solidFill>
                <a:latin typeface="Aptos" pitchFamily="34" charset="0"/>
                <a:ea typeface="Aptos" pitchFamily="34" charset="-122"/>
                <a:cs typeface="Aptos" pitchFamily="34" charset="-120"/>
              </a:rPr>
              <a:t>The basis change is unitary or orthogonal: Q*Q = I, so it is numerically safe.
</a:t>
            </a:r>
            <a:endParaRPr lang="en-US" sz="2100" dirty="0"/>
          </a:p>
          <a:p>
            <a:r>
              <a:rPr lang="en-US" sz="2100" dirty="0">
                <a:solidFill>
                  <a:srgbClr val="111827"/>
                </a:solidFill>
                <a:latin typeface="Aptos" pitchFamily="34" charset="0"/>
                <a:ea typeface="Aptos" pitchFamily="34" charset="-122"/>
                <a:cs typeface="Aptos" pitchFamily="34" charset="-120"/>
              </a:rPr>
              <a:t>The transformed matrix is triangular, so eigenvalues appear on the diagonal.
</a:t>
            </a:r>
            <a:endParaRPr lang="en-US" sz="2100" dirty="0"/>
          </a:p>
          <a:p>
            <a:r>
              <a:rPr lang="en-US" sz="2100" dirty="0">
                <a:solidFill>
                  <a:srgbClr val="111827"/>
                </a:solidFill>
                <a:latin typeface="Aptos" pitchFamily="34" charset="0"/>
                <a:ea typeface="Aptos" pitchFamily="34" charset="-122"/>
                <a:cs typeface="Aptos" pitchFamily="34" charset="-120"/>
              </a:rPr>
              <a:t>It is the endpoint of the QR algorithm for eigenvalue computation.
</a:t>
            </a:r>
            <a:endParaRPr lang="en-US" sz="2100" dirty="0"/>
          </a:p>
          <a:p>
            <a:r>
              <a:rPr lang="en-US" sz="2100" dirty="0">
                <a:solidFill>
                  <a:srgbClr val="111827"/>
                </a:solidFill>
                <a:latin typeface="Aptos" pitchFamily="34" charset="0"/>
                <a:ea typeface="Aptos" pitchFamily="34" charset="-122"/>
                <a:cs typeface="Aptos" pitchFamily="34" charset="-120"/>
              </a:rPr>
              <a:t>It lets us compute powers, exponentials, and matrix functions more stably than raw coordinates.</a:t>
            </a:r>
            <a:endParaRPr lang="en-US" sz="2100" dirty="0"/>
          </a:p>
        </p:txBody>
      </p:sp>
      <p:sp>
        <p:nvSpPr>
          <p:cNvPr id="9" name="Shape 7"/>
          <p:cNvSpPr/>
          <p:nvPr/>
        </p:nvSpPr>
        <p:spPr>
          <a:xfrm>
            <a:off x="7635240" y="1188720"/>
            <a:ext cx="3566160" cy="640080"/>
          </a:xfrm>
          <a:prstGeom prst="roundRect">
            <a:avLst>
              <a:gd name="adj" fmla="val 12857"/>
            </a:avLst>
          </a:prstGeom>
          <a:solidFill>
            <a:srgbClr val="F8FAFC"/>
          </a:solidFill>
          <a:ln w="15240">
            <a:solidFill>
              <a:srgbClr val="083D62"/>
            </a:solidFill>
            <a:prstDash val="solid"/>
          </a:ln>
        </p:spPr>
        <p:txBody>
          <a:bodyPr/>
          <a:lstStyle/>
          <a:p>
            <a:endParaRPr lang="en-US"/>
          </a:p>
        </p:txBody>
      </p:sp>
      <p:sp>
        <p:nvSpPr>
          <p:cNvPr id="10" name="Text 8"/>
          <p:cNvSpPr/>
          <p:nvPr/>
        </p:nvSpPr>
        <p:spPr>
          <a:xfrm>
            <a:off x="7781544" y="1243584"/>
            <a:ext cx="3273552" cy="530352"/>
          </a:xfrm>
          <a:prstGeom prst="rect">
            <a:avLst/>
          </a:prstGeom>
          <a:noFill/>
          <a:ln/>
        </p:spPr>
        <p:txBody>
          <a:bodyPr wrap="square" lIns="0" tIns="0" rIns="0" bIns="0" rtlCol="0" anchor="ctr">
            <a:normAutofit/>
          </a:bodyPr>
          <a:lstStyle/>
          <a:p>
            <a:pPr marL="0" indent="0" algn="ctr">
              <a:buNone/>
            </a:pPr>
            <a:r>
              <a:rPr lang="en-US" sz="3000" dirty="0">
                <a:solidFill>
                  <a:srgbClr val="111827"/>
                </a:solidFill>
                <a:latin typeface="Aptos" pitchFamily="34" charset="0"/>
                <a:ea typeface="Aptos" pitchFamily="34" charset="-122"/>
                <a:cs typeface="Aptos" pitchFamily="34" charset="-120"/>
              </a:rPr>
              <a:t>A = Q T Q*</a:t>
            </a:r>
            <a:endParaRPr lang="en-US" sz="3000" dirty="0"/>
          </a:p>
        </p:txBody>
      </p:sp>
      <p:sp>
        <p:nvSpPr>
          <p:cNvPr id="11" name="Shape 9"/>
          <p:cNvSpPr/>
          <p:nvPr/>
        </p:nvSpPr>
        <p:spPr>
          <a:xfrm>
            <a:off x="7635240" y="2148840"/>
            <a:ext cx="3566160" cy="1417320"/>
          </a:xfrm>
          <a:prstGeom prst="roundRect">
            <a:avLst>
              <a:gd name="adj" fmla="val 5161"/>
            </a:avLst>
          </a:prstGeom>
          <a:solidFill>
            <a:srgbClr val="F8FAFC"/>
          </a:solidFill>
          <a:ln w="12700">
            <a:solidFill>
              <a:srgbClr val="E3EAF0"/>
            </a:solidFill>
            <a:prstDash val="solid"/>
          </a:ln>
        </p:spPr>
        <p:txBody>
          <a:bodyPr/>
          <a:lstStyle/>
          <a:p>
            <a:endParaRPr lang="en-US"/>
          </a:p>
        </p:txBody>
      </p:sp>
      <p:sp>
        <p:nvSpPr>
          <p:cNvPr id="12" name="Text 10"/>
          <p:cNvSpPr/>
          <p:nvPr/>
        </p:nvSpPr>
        <p:spPr>
          <a:xfrm>
            <a:off x="7772400" y="2240280"/>
            <a:ext cx="3291840" cy="1234440"/>
          </a:xfrm>
          <a:prstGeom prst="rect">
            <a:avLst/>
          </a:prstGeom>
          <a:noFill/>
          <a:ln/>
        </p:spPr>
        <p:txBody>
          <a:bodyPr wrap="square" lIns="0" tIns="0" rIns="0" bIns="0" rtlCol="0" anchor="ctr">
            <a:normAutofit/>
          </a:bodyPr>
          <a:lstStyle/>
          <a:p>
            <a:pPr marL="0" indent="0" algn="ctr">
              <a:buNone/>
            </a:pPr>
            <a:r>
              <a:rPr lang="en-US" sz="2100" dirty="0">
                <a:solidFill>
                  <a:srgbClr val="111827"/>
                </a:solidFill>
                <a:latin typeface="Courier New" pitchFamily="34" charset="0"/>
                <a:ea typeface="Courier New" pitchFamily="34" charset="-122"/>
                <a:cs typeface="Courier New" pitchFamily="34" charset="-120"/>
              </a:rPr>
              <a:t>T = [ λ₁  *   * ]</a:t>
            </a:r>
            <a:endParaRPr lang="en-US" sz="2100" dirty="0"/>
          </a:p>
          <a:p>
            <a:pPr marL="0" indent="0" algn="ctr">
              <a:buNone/>
            </a:pPr>
            <a:r>
              <a:rPr lang="en-US" sz="2100" dirty="0">
                <a:solidFill>
                  <a:srgbClr val="111827"/>
                </a:solidFill>
                <a:latin typeface="Courier New" pitchFamily="34" charset="0"/>
                <a:ea typeface="Courier New" pitchFamily="34" charset="-122"/>
                <a:cs typeface="Courier New" pitchFamily="34" charset="-120"/>
              </a:rPr>
              <a:t>    [ 0  λ₂  * ]</a:t>
            </a:r>
            <a:endParaRPr lang="en-US" sz="2100" dirty="0"/>
          </a:p>
          <a:p>
            <a:pPr marL="0" indent="0" algn="ctr">
              <a:buNone/>
            </a:pPr>
            <a:r>
              <a:rPr lang="en-US" sz="2100" dirty="0">
                <a:solidFill>
                  <a:srgbClr val="111827"/>
                </a:solidFill>
                <a:latin typeface="Courier New" pitchFamily="34" charset="0"/>
                <a:ea typeface="Courier New" pitchFamily="34" charset="-122"/>
                <a:cs typeface="Courier New" pitchFamily="34" charset="-120"/>
              </a:rPr>
              <a:t>    [ 0   0  λ₃ ]</a:t>
            </a:r>
            <a:endParaRPr lang="en-US" sz="2100" dirty="0"/>
          </a:p>
        </p:txBody>
      </p:sp>
      <p:sp>
        <p:nvSpPr>
          <p:cNvPr id="13" name="Text 11"/>
          <p:cNvSpPr/>
          <p:nvPr/>
        </p:nvSpPr>
        <p:spPr>
          <a:xfrm>
            <a:off x="7498080" y="3977640"/>
            <a:ext cx="3977640" cy="1005840"/>
          </a:xfrm>
          <a:prstGeom prst="rect">
            <a:avLst/>
          </a:prstGeom>
          <a:noFill/>
          <a:ln/>
        </p:spPr>
        <p:txBody>
          <a:bodyPr wrap="square" lIns="1016" tIns="1016" rIns="1016" bIns="1016" rtlCol="0" anchor="ctr">
            <a:normAutofit/>
          </a:bodyPr>
          <a:lstStyle/>
          <a:p>
            <a:pPr marL="0" indent="0" algn="ctr">
              <a:buNone/>
            </a:pPr>
            <a:r>
              <a:rPr lang="en-US" sz="1800" dirty="0">
                <a:solidFill>
                  <a:srgbClr val="334155"/>
                </a:solidFill>
                <a:latin typeface="Aptos" pitchFamily="34" charset="0"/>
                <a:ea typeface="Aptos" pitchFamily="34" charset="-122"/>
                <a:cs typeface="Aptos" pitchFamily="34" charset="-120"/>
              </a:rPr>
              <a:t>Read the eigenvalues from the diagonal.</a:t>
            </a:r>
            <a:endParaRPr lang="en-US" sz="1800" dirty="0"/>
          </a:p>
          <a:p>
            <a:pPr marL="0" indent="0" algn="ctr">
              <a:buNone/>
            </a:pPr>
            <a:r>
              <a:rPr lang="en-US" sz="1800" dirty="0">
                <a:solidFill>
                  <a:srgbClr val="334155"/>
                </a:solidFill>
                <a:latin typeface="Aptos" pitchFamily="34" charset="0"/>
                <a:ea typeface="Aptos" pitchFamily="34" charset="-122"/>
                <a:cs typeface="Aptos" pitchFamily="34" charset="-120"/>
              </a:rPr>
              <a:t>Keep the off-diagonal terms to understand nonnormal coupling.</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Basic concept: similarity means same linear map, new coordinates</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4 / 25</a:t>
            </a:r>
            <a:endParaRPr lang="en-US" sz="850" dirty="0"/>
          </a:p>
        </p:txBody>
      </p:sp>
      <p:sp>
        <p:nvSpPr>
          <p:cNvPr id="8" name="Shape 6"/>
          <p:cNvSpPr/>
          <p:nvPr/>
        </p:nvSpPr>
        <p:spPr>
          <a:xfrm>
            <a:off x="777240" y="1097280"/>
            <a:ext cx="3108960" cy="640080"/>
          </a:xfrm>
          <a:prstGeom prst="roundRect">
            <a:avLst>
              <a:gd name="adj" fmla="val 12857"/>
            </a:avLst>
          </a:prstGeom>
          <a:solidFill>
            <a:srgbClr val="F8FAFC"/>
          </a:solidFill>
          <a:ln w="15240">
            <a:solidFill>
              <a:srgbClr val="083D62"/>
            </a:solidFill>
            <a:prstDash val="solid"/>
          </a:ln>
        </p:spPr>
        <p:txBody>
          <a:bodyPr/>
          <a:lstStyle/>
          <a:p>
            <a:endParaRPr lang="en-US"/>
          </a:p>
        </p:txBody>
      </p:sp>
      <p:sp>
        <p:nvSpPr>
          <p:cNvPr id="9" name="Text 7"/>
          <p:cNvSpPr/>
          <p:nvPr/>
        </p:nvSpPr>
        <p:spPr>
          <a:xfrm>
            <a:off x="923544" y="1152144"/>
            <a:ext cx="2816352" cy="530352"/>
          </a:xfrm>
          <a:prstGeom prst="rect">
            <a:avLst/>
          </a:prstGeom>
          <a:noFill/>
          <a:ln/>
        </p:spPr>
        <p:txBody>
          <a:bodyPr wrap="square" lIns="0" tIns="0" rIns="0" bIns="0" rtlCol="0" anchor="ctr">
            <a:normAutofit/>
          </a:bodyPr>
          <a:lstStyle/>
          <a:p>
            <a:pPr marL="0" indent="0" algn="ctr">
              <a:buNone/>
            </a:pPr>
            <a:r>
              <a:rPr lang="en-US" sz="2800" dirty="0">
                <a:solidFill>
                  <a:srgbClr val="111827"/>
                </a:solidFill>
                <a:latin typeface="Aptos" pitchFamily="34" charset="0"/>
                <a:ea typeface="Aptos" pitchFamily="34" charset="-122"/>
                <a:cs typeface="Aptos" pitchFamily="34" charset="-120"/>
              </a:rPr>
              <a:t>B = S⁻¹ A S</a:t>
            </a:r>
            <a:endParaRPr lang="en-US" sz="2800" dirty="0"/>
          </a:p>
        </p:txBody>
      </p:sp>
      <p:sp>
        <p:nvSpPr>
          <p:cNvPr id="10" name="Text 8"/>
          <p:cNvSpPr/>
          <p:nvPr/>
        </p:nvSpPr>
        <p:spPr>
          <a:xfrm>
            <a:off x="4160520" y="1097280"/>
            <a:ext cx="7086600" cy="640080"/>
          </a:xfrm>
          <a:prstGeom prst="rect">
            <a:avLst/>
          </a:prstGeom>
          <a:noFill/>
          <a:ln/>
        </p:spPr>
        <p:txBody>
          <a:bodyPr wrap="square" lIns="1016" tIns="1016" rIns="1016" bIns="1016" rtlCol="0" anchor="ctr">
            <a:normAutofit/>
          </a:bodyPr>
          <a:lstStyle/>
          <a:p>
            <a:pPr marL="0" indent="0" algn="l">
              <a:buNone/>
            </a:pPr>
            <a:r>
              <a:rPr lang="en-US" sz="2300" dirty="0">
                <a:solidFill>
                  <a:srgbClr val="111827"/>
                </a:solidFill>
                <a:latin typeface="Aptos" pitchFamily="34" charset="0"/>
                <a:ea typeface="Aptos" pitchFamily="34" charset="-122"/>
                <a:cs typeface="Aptos" pitchFamily="34" charset="-120"/>
              </a:rPr>
              <a:t>A and B are similar: they represent the same linear transformation in different bases.</a:t>
            </a:r>
            <a:endParaRPr lang="en-US" sz="2300" dirty="0"/>
          </a:p>
        </p:txBody>
      </p:sp>
      <p:sp>
        <p:nvSpPr>
          <p:cNvPr id="11" name="Shape 9"/>
          <p:cNvSpPr/>
          <p:nvPr/>
        </p:nvSpPr>
        <p:spPr>
          <a:xfrm>
            <a:off x="868680" y="2240280"/>
            <a:ext cx="498348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12" name="Text 10"/>
          <p:cNvSpPr/>
          <p:nvPr/>
        </p:nvSpPr>
        <p:spPr>
          <a:xfrm>
            <a:off x="1014984" y="2350008"/>
            <a:ext cx="469087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What stays the same?</a:t>
            </a:r>
            <a:endParaRPr lang="en-US" sz="1500" dirty="0"/>
          </a:p>
        </p:txBody>
      </p:sp>
      <p:sp>
        <p:nvSpPr>
          <p:cNvPr id="13" name="Text 11"/>
          <p:cNvSpPr/>
          <p:nvPr/>
        </p:nvSpPr>
        <p:spPr>
          <a:xfrm>
            <a:off x="1014984" y="2724912"/>
            <a:ext cx="4690872" cy="548640"/>
          </a:xfrm>
          <a:prstGeom prst="rect">
            <a:avLst/>
          </a:prstGeom>
          <a:noFill/>
          <a:ln/>
        </p:spPr>
        <p:txBody>
          <a:bodyPr wrap="square" lIns="0" tIns="0" rIns="0" bIns="0" rtlCol="0" anchor="ctr">
            <a:normAutofit/>
          </a:bodyPr>
          <a:lstStyle/>
          <a:p>
            <a:pPr marL="0" indent="0" algn="l">
              <a:buNone/>
            </a:pPr>
            <a:r>
              <a:rPr lang="en-US" sz="1900" dirty="0">
                <a:solidFill>
                  <a:srgbClr val="111827"/>
                </a:solidFill>
                <a:latin typeface="Aptos" pitchFamily="34" charset="0"/>
                <a:ea typeface="Aptos" pitchFamily="34" charset="-122"/>
                <a:cs typeface="Aptos" pitchFamily="34" charset="-120"/>
              </a:rPr>
              <a:t>Eigenvalues, characteristic polynomial, determinant, trace, and algebraic multiplicities.</a:t>
            </a:r>
            <a:endParaRPr lang="en-US" sz="1900" dirty="0"/>
          </a:p>
        </p:txBody>
      </p:sp>
      <p:sp>
        <p:nvSpPr>
          <p:cNvPr id="14" name="Shape 12"/>
          <p:cNvSpPr/>
          <p:nvPr/>
        </p:nvSpPr>
        <p:spPr>
          <a:xfrm>
            <a:off x="6309360" y="2240280"/>
            <a:ext cx="498348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15" name="Text 13"/>
          <p:cNvSpPr/>
          <p:nvPr/>
        </p:nvSpPr>
        <p:spPr>
          <a:xfrm>
            <a:off x="6455664" y="2350008"/>
            <a:ext cx="469087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What can change?</a:t>
            </a:r>
            <a:endParaRPr lang="en-US" sz="1500" dirty="0"/>
          </a:p>
        </p:txBody>
      </p:sp>
      <p:sp>
        <p:nvSpPr>
          <p:cNvPr id="16" name="Text 14"/>
          <p:cNvSpPr/>
          <p:nvPr/>
        </p:nvSpPr>
        <p:spPr>
          <a:xfrm>
            <a:off x="6455664" y="2724912"/>
            <a:ext cx="4690872" cy="548640"/>
          </a:xfrm>
          <a:prstGeom prst="rect">
            <a:avLst/>
          </a:prstGeom>
          <a:noFill/>
          <a:ln/>
        </p:spPr>
        <p:txBody>
          <a:bodyPr wrap="square" lIns="0" tIns="0" rIns="0" bIns="0" rtlCol="0" anchor="ctr">
            <a:normAutofit/>
          </a:bodyPr>
          <a:lstStyle/>
          <a:p>
            <a:pPr marL="0" indent="0" algn="l">
              <a:buNone/>
            </a:pPr>
            <a:r>
              <a:rPr lang="en-US" sz="1900" dirty="0">
                <a:solidFill>
                  <a:srgbClr val="111827"/>
                </a:solidFill>
                <a:latin typeface="Aptos" pitchFamily="34" charset="0"/>
                <a:ea typeface="Aptos" pitchFamily="34" charset="-122"/>
                <a:cs typeface="Aptos" pitchFamily="34" charset="-120"/>
              </a:rPr>
              <a:t>The entries, apparent size of off-diagonal coupling, and numerical sensitivity if S is ill-conditioned.</a:t>
            </a:r>
            <a:endParaRPr lang="en-US" sz="1900" dirty="0"/>
          </a:p>
        </p:txBody>
      </p:sp>
      <p:sp>
        <p:nvSpPr>
          <p:cNvPr id="17" name="Shape 15"/>
          <p:cNvSpPr/>
          <p:nvPr/>
        </p:nvSpPr>
        <p:spPr>
          <a:xfrm>
            <a:off x="1325880" y="4251960"/>
            <a:ext cx="9509760" cy="914400"/>
          </a:xfrm>
          <a:prstGeom prst="roundRect">
            <a:avLst>
              <a:gd name="adj" fmla="val 9000"/>
            </a:avLst>
          </a:prstGeom>
          <a:solidFill>
            <a:srgbClr val="EAF4F4"/>
          </a:solidFill>
          <a:ln w="15240">
            <a:solidFill>
              <a:srgbClr val="0E6B68"/>
            </a:solidFill>
            <a:prstDash val="solid"/>
          </a:ln>
        </p:spPr>
        <p:txBody>
          <a:bodyPr/>
          <a:lstStyle/>
          <a:p>
            <a:endParaRPr lang="en-US"/>
          </a:p>
        </p:txBody>
      </p:sp>
      <p:sp>
        <p:nvSpPr>
          <p:cNvPr id="18" name="Text 16"/>
          <p:cNvSpPr/>
          <p:nvPr/>
        </p:nvSpPr>
        <p:spPr>
          <a:xfrm>
            <a:off x="1472184" y="4306824"/>
            <a:ext cx="9217152" cy="804672"/>
          </a:xfrm>
          <a:prstGeom prst="rect">
            <a:avLst/>
          </a:prstGeom>
          <a:noFill/>
          <a:ln/>
        </p:spPr>
        <p:txBody>
          <a:bodyPr wrap="square" lIns="0" tIns="0" rIns="0" bIns="0" rtlCol="0" anchor="ctr">
            <a:normAutofit/>
          </a:bodyPr>
          <a:lstStyle/>
          <a:p>
            <a:pPr marL="0" indent="0" algn="ctr">
              <a:buNone/>
            </a:pPr>
            <a:r>
              <a:rPr lang="en-US" sz="2500" dirty="0">
                <a:solidFill>
                  <a:srgbClr val="111827"/>
                </a:solidFill>
                <a:latin typeface="Aptos" pitchFamily="34" charset="0"/>
                <a:ea typeface="Aptos" pitchFamily="34" charset="-122"/>
                <a:cs typeface="Aptos" pitchFamily="34" charset="-120"/>
              </a:rPr>
              <a:t>Schur uses the safest possible similarity:</a:t>
            </a:r>
            <a:endParaRPr lang="en-US" sz="2500" dirty="0"/>
          </a:p>
          <a:p>
            <a:pPr marL="0" indent="0" algn="ctr">
              <a:buNone/>
            </a:pPr>
            <a:r>
              <a:rPr lang="en-US" sz="2500" dirty="0">
                <a:solidFill>
                  <a:srgbClr val="111827"/>
                </a:solidFill>
                <a:latin typeface="Aptos" pitchFamily="34" charset="0"/>
                <a:ea typeface="Aptos" pitchFamily="34" charset="-122"/>
                <a:cs typeface="Aptos" pitchFamily="34" charset="-120"/>
              </a:rPr>
              <a:t>T = Q* A Q, with Q*Q = I.</a:t>
            </a:r>
            <a:endParaRPr lang="en-US" sz="2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Basic concept: orthogonal and unitary changes are safe</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5 / 25</a:t>
            </a:r>
            <a:endParaRPr lang="en-US" sz="850" dirty="0"/>
          </a:p>
        </p:txBody>
      </p:sp>
      <p:sp>
        <p:nvSpPr>
          <p:cNvPr id="8" name="Shape 6"/>
          <p:cNvSpPr/>
          <p:nvPr/>
        </p:nvSpPr>
        <p:spPr>
          <a:xfrm>
            <a:off x="868680" y="1234440"/>
            <a:ext cx="4937760" cy="1463040"/>
          </a:xfrm>
          <a:prstGeom prst="roundRect">
            <a:avLst>
              <a:gd name="adj" fmla="val 6250"/>
            </a:avLst>
          </a:prstGeom>
          <a:solidFill>
            <a:srgbClr val="F3F6F8"/>
          </a:solidFill>
          <a:ln w="13970">
            <a:solidFill>
              <a:srgbClr val="E3EAF0"/>
            </a:solidFill>
            <a:prstDash val="solid"/>
          </a:ln>
        </p:spPr>
        <p:txBody>
          <a:bodyPr/>
          <a:lstStyle/>
          <a:p>
            <a:endParaRPr lang="en-US"/>
          </a:p>
        </p:txBody>
      </p:sp>
      <p:sp>
        <p:nvSpPr>
          <p:cNvPr id="9" name="Text 7"/>
          <p:cNvSpPr/>
          <p:nvPr/>
        </p:nvSpPr>
        <p:spPr>
          <a:xfrm>
            <a:off x="1014984" y="1344168"/>
            <a:ext cx="464515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Real case</a:t>
            </a:r>
            <a:endParaRPr lang="en-US" sz="1500" dirty="0"/>
          </a:p>
        </p:txBody>
      </p:sp>
      <p:sp>
        <p:nvSpPr>
          <p:cNvPr id="10" name="Text 8"/>
          <p:cNvSpPr/>
          <p:nvPr/>
        </p:nvSpPr>
        <p:spPr>
          <a:xfrm>
            <a:off x="1014984" y="1719072"/>
            <a:ext cx="4645152" cy="868680"/>
          </a:xfrm>
          <a:prstGeom prst="rect">
            <a:avLst/>
          </a:prstGeom>
          <a:noFill/>
          <a:ln/>
        </p:spPr>
        <p:txBody>
          <a:bodyPr wrap="square" lIns="0" tIns="0" rIns="0" bIns="0" rtlCol="0" anchor="ctr">
            <a:normAutofit/>
          </a:bodyPr>
          <a:lstStyle/>
          <a:p>
            <a:pPr marL="0" indent="0" algn="l">
              <a:buNone/>
            </a:pPr>
            <a:r>
              <a:rPr lang="en-US" sz="2100" dirty="0">
                <a:solidFill>
                  <a:srgbClr val="111827"/>
                </a:solidFill>
                <a:latin typeface="Aptos" pitchFamily="34" charset="0"/>
                <a:ea typeface="Aptos" pitchFamily="34" charset="-122"/>
                <a:cs typeface="Aptos" pitchFamily="34" charset="-120"/>
              </a:rPr>
              <a:t>QᵀQ = I</a:t>
            </a:r>
            <a:endParaRPr lang="en-US" sz="2100" dirty="0"/>
          </a:p>
          <a:p>
            <a:pPr marL="0" indent="0" algn="l">
              <a:buNone/>
            </a:pPr>
            <a:r>
              <a:rPr lang="en-US" sz="2100" dirty="0">
                <a:solidFill>
                  <a:srgbClr val="111827"/>
                </a:solidFill>
                <a:latin typeface="Aptos" pitchFamily="34" charset="0"/>
                <a:ea typeface="Aptos" pitchFamily="34" charset="-122"/>
                <a:cs typeface="Aptos" pitchFamily="34" charset="-120"/>
              </a:rPr>
              <a:t>Lengths preserved: ||Qx||₂ = ||x||₂</a:t>
            </a:r>
            <a:endParaRPr lang="en-US" sz="2100" dirty="0"/>
          </a:p>
        </p:txBody>
      </p:sp>
      <p:sp>
        <p:nvSpPr>
          <p:cNvPr id="11" name="Shape 9"/>
          <p:cNvSpPr/>
          <p:nvPr/>
        </p:nvSpPr>
        <p:spPr>
          <a:xfrm>
            <a:off x="6355080" y="1234440"/>
            <a:ext cx="4937760" cy="1463040"/>
          </a:xfrm>
          <a:prstGeom prst="roundRect">
            <a:avLst>
              <a:gd name="adj" fmla="val 6250"/>
            </a:avLst>
          </a:prstGeom>
          <a:solidFill>
            <a:srgbClr val="F3F6F8"/>
          </a:solidFill>
          <a:ln w="13970">
            <a:solidFill>
              <a:srgbClr val="E3EAF0"/>
            </a:solidFill>
            <a:prstDash val="solid"/>
          </a:ln>
        </p:spPr>
        <p:txBody>
          <a:bodyPr/>
          <a:lstStyle/>
          <a:p>
            <a:endParaRPr lang="en-US"/>
          </a:p>
        </p:txBody>
      </p:sp>
      <p:sp>
        <p:nvSpPr>
          <p:cNvPr id="12" name="Text 10"/>
          <p:cNvSpPr/>
          <p:nvPr/>
        </p:nvSpPr>
        <p:spPr>
          <a:xfrm>
            <a:off x="6501384" y="1344168"/>
            <a:ext cx="464515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Complex case</a:t>
            </a:r>
            <a:endParaRPr lang="en-US" sz="1500" dirty="0"/>
          </a:p>
        </p:txBody>
      </p:sp>
      <p:sp>
        <p:nvSpPr>
          <p:cNvPr id="13" name="Text 11"/>
          <p:cNvSpPr/>
          <p:nvPr/>
        </p:nvSpPr>
        <p:spPr>
          <a:xfrm>
            <a:off x="6501384" y="1719072"/>
            <a:ext cx="4645152" cy="868680"/>
          </a:xfrm>
          <a:prstGeom prst="rect">
            <a:avLst/>
          </a:prstGeom>
          <a:noFill/>
          <a:ln/>
        </p:spPr>
        <p:txBody>
          <a:bodyPr wrap="square" lIns="0" tIns="0" rIns="0" bIns="0" rtlCol="0" anchor="ctr">
            <a:normAutofit/>
          </a:bodyPr>
          <a:lstStyle/>
          <a:p>
            <a:pPr marL="0" indent="0" algn="l">
              <a:buNone/>
            </a:pPr>
            <a:r>
              <a:rPr lang="en-US" sz="2100" dirty="0">
                <a:solidFill>
                  <a:srgbClr val="111827"/>
                </a:solidFill>
                <a:latin typeface="Aptos" pitchFamily="34" charset="0"/>
                <a:ea typeface="Aptos" pitchFamily="34" charset="-122"/>
                <a:cs typeface="Aptos" pitchFamily="34" charset="-120"/>
              </a:rPr>
              <a:t>Q*Q = I</a:t>
            </a:r>
            <a:endParaRPr lang="en-US" sz="2100" dirty="0"/>
          </a:p>
          <a:p>
            <a:pPr marL="0" indent="0" algn="l">
              <a:buNone/>
            </a:pPr>
            <a:r>
              <a:rPr lang="en-US" sz="2100" dirty="0">
                <a:solidFill>
                  <a:srgbClr val="111827"/>
                </a:solidFill>
                <a:latin typeface="Aptos" pitchFamily="34" charset="0"/>
                <a:ea typeface="Aptos" pitchFamily="34" charset="-122"/>
                <a:cs typeface="Aptos" pitchFamily="34" charset="-120"/>
              </a:rPr>
              <a:t>Here Q* is conjugate transpose.</a:t>
            </a:r>
            <a:endParaRPr lang="en-US" sz="2100" dirty="0"/>
          </a:p>
        </p:txBody>
      </p:sp>
      <p:sp>
        <p:nvSpPr>
          <p:cNvPr id="14" name="Text 12"/>
          <p:cNvSpPr/>
          <p:nvPr/>
        </p:nvSpPr>
        <p:spPr>
          <a:xfrm>
            <a:off x="960120" y="3291840"/>
            <a:ext cx="10287000" cy="2148840"/>
          </a:xfrm>
          <a:prstGeom prst="rect">
            <a:avLst/>
          </a:prstGeom>
          <a:noFill/>
          <a:ln/>
        </p:spPr>
        <p:txBody>
          <a:bodyPr wrap="square" lIns="1016" tIns="1016" rIns="1016" bIns="1016" rtlCol="0" anchor="ctr">
            <a:normAutofit/>
          </a:bodyPr>
          <a:lstStyle/>
          <a:p>
            <a:r>
              <a:rPr lang="en-US" sz="2200" dirty="0">
                <a:solidFill>
                  <a:srgbClr val="111827"/>
                </a:solidFill>
                <a:latin typeface="Aptos" pitchFamily="34" charset="0"/>
                <a:ea typeface="Aptos" pitchFamily="34" charset="-122"/>
                <a:cs typeface="Aptos" pitchFamily="34" charset="-120"/>
              </a:rPr>
              <a:t>Coordinates are computed by inner products.
</a:t>
            </a:r>
            <a:endParaRPr lang="en-US" sz="2200" dirty="0"/>
          </a:p>
          <a:p>
            <a:r>
              <a:rPr lang="en-US" sz="2200" dirty="0">
                <a:solidFill>
                  <a:srgbClr val="111827"/>
                </a:solidFill>
                <a:latin typeface="Aptos" pitchFamily="34" charset="0"/>
                <a:ea typeface="Aptos" pitchFamily="34" charset="-122"/>
                <a:cs typeface="Aptos" pitchFamily="34" charset="-120"/>
              </a:rPr>
              <a:t>Rounding errors are not amplified by the basis change.
</a:t>
            </a:r>
            <a:endParaRPr lang="en-US" sz="2200" dirty="0"/>
          </a:p>
          <a:p>
            <a:r>
              <a:rPr lang="en-US" sz="2200" dirty="0">
                <a:solidFill>
                  <a:srgbClr val="111827"/>
                </a:solidFill>
                <a:latin typeface="Aptos" pitchFamily="34" charset="0"/>
                <a:ea typeface="Aptos" pitchFamily="34" charset="-122"/>
                <a:cs typeface="Aptos" pitchFamily="34" charset="-120"/>
              </a:rPr>
              <a:t>This is why QR, Schur, SVD, and the spectral theorem are built from orthogonal/unitary matrices.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Schur theorem: the universal triangular form</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6 / 25</a:t>
            </a:r>
            <a:endParaRPr lang="en-US" sz="850" dirty="0"/>
          </a:p>
        </p:txBody>
      </p:sp>
      <p:sp>
        <p:nvSpPr>
          <p:cNvPr id="8" name="Shape 6"/>
          <p:cNvSpPr/>
          <p:nvPr/>
        </p:nvSpPr>
        <p:spPr>
          <a:xfrm>
            <a:off x="777240" y="1051560"/>
            <a:ext cx="10652760" cy="1005840"/>
          </a:xfrm>
          <a:prstGeom prst="roundRect">
            <a:avLst>
              <a:gd name="adj" fmla="val 8182"/>
            </a:avLst>
          </a:prstGeom>
          <a:solidFill>
            <a:srgbClr val="EAF4F4"/>
          </a:solidFill>
          <a:ln w="15240">
            <a:solidFill>
              <a:srgbClr val="0E6B68"/>
            </a:solidFill>
            <a:prstDash val="solid"/>
          </a:ln>
        </p:spPr>
        <p:txBody>
          <a:bodyPr/>
          <a:lstStyle/>
          <a:p>
            <a:endParaRPr lang="en-US"/>
          </a:p>
        </p:txBody>
      </p:sp>
      <p:sp>
        <p:nvSpPr>
          <p:cNvPr id="9" name="Text 7"/>
          <p:cNvSpPr/>
          <p:nvPr/>
        </p:nvSpPr>
        <p:spPr>
          <a:xfrm>
            <a:off x="923544" y="1106424"/>
            <a:ext cx="10360152" cy="896112"/>
          </a:xfrm>
          <a:prstGeom prst="rect">
            <a:avLst/>
          </a:prstGeom>
          <a:noFill/>
          <a:ln/>
        </p:spPr>
        <p:txBody>
          <a:bodyPr wrap="square" lIns="0" tIns="0" rIns="0" bIns="0" rtlCol="0" anchor="ctr">
            <a:normAutofit/>
          </a:bodyPr>
          <a:lstStyle/>
          <a:p>
            <a:pPr marL="0" indent="0" algn="ctr">
              <a:buNone/>
            </a:pPr>
            <a:r>
              <a:rPr lang="en-US" sz="2400" dirty="0">
                <a:solidFill>
                  <a:srgbClr val="111827"/>
                </a:solidFill>
                <a:latin typeface="Aptos" pitchFamily="34" charset="0"/>
                <a:ea typeface="Aptos" pitchFamily="34" charset="-122"/>
                <a:cs typeface="Aptos" pitchFamily="34" charset="-120"/>
              </a:rPr>
              <a:t>For every A ∈ Cⁿˣⁿ, there is a unitary Q such that</a:t>
            </a:r>
            <a:endParaRPr lang="en-US" sz="2400" dirty="0"/>
          </a:p>
          <a:p>
            <a:pPr marL="0" indent="0" algn="ctr">
              <a:buNone/>
            </a:pPr>
            <a:r>
              <a:rPr lang="en-US" sz="2400" dirty="0">
                <a:solidFill>
                  <a:srgbClr val="111827"/>
                </a:solidFill>
                <a:latin typeface="Aptos" pitchFamily="34" charset="0"/>
                <a:ea typeface="Aptos" pitchFamily="34" charset="-122"/>
                <a:cs typeface="Aptos" pitchFamily="34" charset="-120"/>
              </a:rPr>
              <a:t>A = Q T Q*, where T is upper triangular.</a:t>
            </a:r>
            <a:endParaRPr lang="en-US" sz="2400" dirty="0"/>
          </a:p>
        </p:txBody>
      </p:sp>
      <p:sp>
        <p:nvSpPr>
          <p:cNvPr id="10" name="Shape 8"/>
          <p:cNvSpPr/>
          <p:nvPr/>
        </p:nvSpPr>
        <p:spPr>
          <a:xfrm>
            <a:off x="1051560" y="2468880"/>
            <a:ext cx="4754880" cy="1874520"/>
          </a:xfrm>
          <a:prstGeom prst="roundRect">
            <a:avLst>
              <a:gd name="adj" fmla="val 3902"/>
            </a:avLst>
          </a:prstGeom>
          <a:solidFill>
            <a:srgbClr val="F8FAFC"/>
          </a:solidFill>
          <a:ln w="12700">
            <a:solidFill>
              <a:srgbClr val="E3EAF0"/>
            </a:solidFill>
            <a:prstDash val="solid"/>
          </a:ln>
        </p:spPr>
        <p:txBody>
          <a:bodyPr/>
          <a:lstStyle/>
          <a:p>
            <a:endParaRPr lang="en-US"/>
          </a:p>
        </p:txBody>
      </p:sp>
      <p:sp>
        <p:nvSpPr>
          <p:cNvPr id="11" name="Text 9"/>
          <p:cNvSpPr/>
          <p:nvPr/>
        </p:nvSpPr>
        <p:spPr>
          <a:xfrm>
            <a:off x="1188720" y="2560320"/>
            <a:ext cx="4480560" cy="1691640"/>
          </a:xfrm>
          <a:prstGeom prst="rect">
            <a:avLst/>
          </a:prstGeom>
          <a:noFill/>
          <a:ln/>
        </p:spPr>
        <p:txBody>
          <a:bodyPr wrap="square" lIns="0" tIns="0" rIns="0" bIns="0" rtlCol="0" anchor="ctr">
            <a:normAutofit/>
          </a:bodyPr>
          <a:lstStyle/>
          <a:p>
            <a:pPr marL="0" indent="0" algn="ctr">
              <a:buNone/>
            </a:pPr>
            <a:r>
              <a:rPr lang="en-US" sz="2000" dirty="0">
                <a:solidFill>
                  <a:srgbClr val="111827"/>
                </a:solidFill>
                <a:latin typeface="Courier New" pitchFamily="34" charset="0"/>
                <a:ea typeface="Courier New" pitchFamily="34" charset="-122"/>
                <a:cs typeface="Courier New" pitchFamily="34" charset="-120"/>
              </a:rPr>
              <a:t>T = [ λ₁  t₁₂  ⋯  t₁ₙ ]</a:t>
            </a:r>
            <a:endParaRPr lang="en-US" sz="2000" dirty="0"/>
          </a:p>
          <a:p>
            <a:pPr marL="0" indent="0" algn="ctr">
              <a:buNone/>
            </a:pPr>
            <a:r>
              <a:rPr lang="en-US" sz="2000" dirty="0">
                <a:solidFill>
                  <a:srgbClr val="111827"/>
                </a:solidFill>
                <a:latin typeface="Courier New" pitchFamily="34" charset="0"/>
                <a:ea typeface="Courier New" pitchFamily="34" charset="-122"/>
                <a:cs typeface="Courier New" pitchFamily="34" charset="-120"/>
              </a:rPr>
              <a:t>    [ 0   λ₂  ⋯  t₂ₙ ]</a:t>
            </a:r>
            <a:endParaRPr lang="en-US" sz="2000" dirty="0"/>
          </a:p>
          <a:p>
            <a:pPr marL="0" indent="0" algn="ctr">
              <a:buNone/>
            </a:pPr>
            <a:r>
              <a:rPr lang="en-US" sz="2000" dirty="0">
                <a:solidFill>
                  <a:srgbClr val="111827"/>
                </a:solidFill>
                <a:latin typeface="Courier New" pitchFamily="34" charset="0"/>
                <a:ea typeface="Courier New" pitchFamily="34" charset="-122"/>
                <a:cs typeface="Courier New" pitchFamily="34" charset="-120"/>
              </a:rPr>
              <a:t>    [ ⋮    ⋮   ⋱   ⋮  ]</a:t>
            </a:r>
            <a:endParaRPr lang="en-US" sz="2000" dirty="0"/>
          </a:p>
          <a:p>
            <a:pPr marL="0" indent="0" algn="ctr">
              <a:buNone/>
            </a:pPr>
            <a:r>
              <a:rPr lang="en-US" sz="2000" dirty="0">
                <a:solidFill>
                  <a:srgbClr val="111827"/>
                </a:solidFill>
                <a:latin typeface="Courier New" pitchFamily="34" charset="0"/>
                <a:ea typeface="Courier New" pitchFamily="34" charset="-122"/>
                <a:cs typeface="Courier New" pitchFamily="34" charset="-120"/>
              </a:rPr>
              <a:t>    [ 0    0   ⋯  λₙ ]</a:t>
            </a:r>
            <a:endParaRPr lang="en-US" sz="2000" dirty="0"/>
          </a:p>
        </p:txBody>
      </p:sp>
      <p:sp>
        <p:nvSpPr>
          <p:cNvPr id="12" name="Text 10"/>
          <p:cNvSpPr/>
          <p:nvPr/>
        </p:nvSpPr>
        <p:spPr>
          <a:xfrm>
            <a:off x="6355080" y="2423160"/>
            <a:ext cx="4892040" cy="2148840"/>
          </a:xfrm>
          <a:prstGeom prst="rect">
            <a:avLst/>
          </a:prstGeom>
          <a:noFill/>
          <a:ln/>
        </p:spPr>
        <p:txBody>
          <a:bodyPr wrap="square" lIns="1016" tIns="1016" rIns="1016" bIns="1016" rtlCol="0" anchor="ctr">
            <a:normAutofit/>
          </a:bodyPr>
          <a:lstStyle/>
          <a:p>
            <a:r>
              <a:rPr lang="en-US" sz="2000" dirty="0">
                <a:solidFill>
                  <a:srgbClr val="111827"/>
                </a:solidFill>
                <a:latin typeface="Aptos" pitchFamily="34" charset="0"/>
                <a:ea typeface="Aptos" pitchFamily="34" charset="-122"/>
                <a:cs typeface="Aptos" pitchFamily="34" charset="-120"/>
              </a:rPr>
              <a:t>Diagonal entries of T are the eigenvalues of A.
</a:t>
            </a:r>
            <a:endParaRPr lang="en-US" sz="2000" dirty="0"/>
          </a:p>
          <a:p>
            <a:r>
              <a:rPr lang="en-US" sz="2000" dirty="0">
                <a:solidFill>
                  <a:srgbClr val="111827"/>
                </a:solidFill>
                <a:latin typeface="Aptos" pitchFamily="34" charset="0"/>
                <a:ea typeface="Aptos" pitchFamily="34" charset="-122"/>
                <a:cs typeface="Aptos" pitchFamily="34" charset="-120"/>
              </a:rPr>
              <a:t>If A is real, the real Schur form may use 2×2 blocks for complex conjugate eigenpairs.
</a:t>
            </a:r>
            <a:endParaRPr lang="en-US" sz="2000" dirty="0"/>
          </a:p>
          <a:p>
            <a:r>
              <a:rPr lang="en-US" sz="2000" dirty="0">
                <a:solidFill>
                  <a:srgbClr val="111827"/>
                </a:solidFill>
                <a:latin typeface="Aptos" pitchFamily="34" charset="0"/>
                <a:ea typeface="Aptos" pitchFamily="34" charset="-122"/>
                <a:cs typeface="Aptos" pitchFamily="34" charset="-120"/>
              </a:rPr>
              <a:t>Schur form is not usually diagonal; off-diagonal entries encode coupling between Schur vectors.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How to read a Schur form</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7 / 25</a:t>
            </a:r>
            <a:endParaRPr lang="en-US" sz="850" dirty="0"/>
          </a:p>
        </p:txBody>
      </p:sp>
      <p:sp>
        <p:nvSpPr>
          <p:cNvPr id="8" name="Shape 6"/>
          <p:cNvSpPr/>
          <p:nvPr/>
        </p:nvSpPr>
        <p:spPr>
          <a:xfrm>
            <a:off x="868680" y="1051560"/>
            <a:ext cx="3429000" cy="594360"/>
          </a:xfrm>
          <a:prstGeom prst="roundRect">
            <a:avLst>
              <a:gd name="adj" fmla="val 13846"/>
            </a:avLst>
          </a:prstGeom>
          <a:solidFill>
            <a:srgbClr val="F8FAFC"/>
          </a:solidFill>
          <a:ln w="15240">
            <a:solidFill>
              <a:srgbClr val="083D62"/>
            </a:solidFill>
            <a:prstDash val="solid"/>
          </a:ln>
        </p:spPr>
        <p:txBody>
          <a:bodyPr/>
          <a:lstStyle/>
          <a:p>
            <a:endParaRPr lang="en-US"/>
          </a:p>
        </p:txBody>
      </p:sp>
      <p:sp>
        <p:nvSpPr>
          <p:cNvPr id="9" name="Text 7"/>
          <p:cNvSpPr/>
          <p:nvPr/>
        </p:nvSpPr>
        <p:spPr>
          <a:xfrm>
            <a:off x="1014984" y="1106424"/>
            <a:ext cx="3136392" cy="484632"/>
          </a:xfrm>
          <a:prstGeom prst="rect">
            <a:avLst/>
          </a:prstGeom>
          <a:noFill/>
          <a:ln/>
        </p:spPr>
        <p:txBody>
          <a:bodyPr wrap="square" lIns="0" tIns="0" rIns="0" bIns="0" rtlCol="0" anchor="ctr">
            <a:normAutofit/>
          </a:bodyPr>
          <a:lstStyle/>
          <a:p>
            <a:pPr marL="0" indent="0" algn="ctr">
              <a:buNone/>
            </a:pPr>
            <a:r>
              <a:rPr lang="en-US" sz="2400" dirty="0">
                <a:solidFill>
                  <a:srgbClr val="111827"/>
                </a:solidFill>
                <a:latin typeface="Aptos" pitchFamily="34" charset="0"/>
                <a:ea typeface="Aptos" pitchFamily="34" charset="-122"/>
                <a:cs typeface="Aptos" pitchFamily="34" charset="-120"/>
              </a:rPr>
              <a:t>A q₁ = λ₁ q₁</a:t>
            </a:r>
            <a:endParaRPr lang="en-US" sz="2400" dirty="0"/>
          </a:p>
        </p:txBody>
      </p:sp>
      <p:sp>
        <p:nvSpPr>
          <p:cNvPr id="10" name="Shape 8"/>
          <p:cNvSpPr/>
          <p:nvPr/>
        </p:nvSpPr>
        <p:spPr>
          <a:xfrm>
            <a:off x="868680" y="1874520"/>
            <a:ext cx="4389120" cy="594360"/>
          </a:xfrm>
          <a:prstGeom prst="roundRect">
            <a:avLst>
              <a:gd name="adj" fmla="val 13846"/>
            </a:avLst>
          </a:prstGeom>
          <a:solidFill>
            <a:srgbClr val="F8FAFC"/>
          </a:solidFill>
          <a:ln w="15240">
            <a:solidFill>
              <a:srgbClr val="083D62"/>
            </a:solidFill>
            <a:prstDash val="solid"/>
          </a:ln>
        </p:spPr>
        <p:txBody>
          <a:bodyPr/>
          <a:lstStyle/>
          <a:p>
            <a:endParaRPr lang="en-US"/>
          </a:p>
        </p:txBody>
      </p:sp>
      <p:sp>
        <p:nvSpPr>
          <p:cNvPr id="11" name="Text 9"/>
          <p:cNvSpPr/>
          <p:nvPr/>
        </p:nvSpPr>
        <p:spPr>
          <a:xfrm>
            <a:off x="1014984" y="1929384"/>
            <a:ext cx="4096512" cy="484632"/>
          </a:xfrm>
          <a:prstGeom prst="rect">
            <a:avLst/>
          </a:prstGeom>
          <a:noFill/>
          <a:ln/>
        </p:spPr>
        <p:txBody>
          <a:bodyPr wrap="square" lIns="0" tIns="0" rIns="0" bIns="0" rtlCol="0" anchor="ctr">
            <a:normAutofit/>
          </a:bodyPr>
          <a:lstStyle/>
          <a:p>
            <a:pPr marL="0" indent="0" algn="ctr">
              <a:buNone/>
            </a:pPr>
            <a:r>
              <a:rPr lang="en-US" sz="2200" dirty="0">
                <a:solidFill>
                  <a:srgbClr val="111827"/>
                </a:solidFill>
                <a:latin typeface="Aptos" pitchFamily="34" charset="0"/>
                <a:ea typeface="Aptos" pitchFamily="34" charset="-122"/>
                <a:cs typeface="Aptos" pitchFamily="34" charset="-120"/>
              </a:rPr>
              <a:t>A span(q₁,q₂) ⊆ span(q₁,q₂)</a:t>
            </a:r>
            <a:endParaRPr lang="en-US" sz="2200" dirty="0"/>
          </a:p>
        </p:txBody>
      </p:sp>
      <p:sp>
        <p:nvSpPr>
          <p:cNvPr id="12" name="Shape 10"/>
          <p:cNvSpPr/>
          <p:nvPr/>
        </p:nvSpPr>
        <p:spPr>
          <a:xfrm>
            <a:off x="868680" y="2697480"/>
            <a:ext cx="5166360" cy="594360"/>
          </a:xfrm>
          <a:prstGeom prst="roundRect">
            <a:avLst>
              <a:gd name="adj" fmla="val 13846"/>
            </a:avLst>
          </a:prstGeom>
          <a:solidFill>
            <a:srgbClr val="F8FAFC"/>
          </a:solidFill>
          <a:ln w="15240">
            <a:solidFill>
              <a:srgbClr val="083D62"/>
            </a:solidFill>
            <a:prstDash val="solid"/>
          </a:ln>
        </p:spPr>
        <p:txBody>
          <a:bodyPr/>
          <a:lstStyle/>
          <a:p>
            <a:endParaRPr lang="en-US"/>
          </a:p>
        </p:txBody>
      </p:sp>
      <p:sp>
        <p:nvSpPr>
          <p:cNvPr id="13" name="Text 11"/>
          <p:cNvSpPr/>
          <p:nvPr/>
        </p:nvSpPr>
        <p:spPr>
          <a:xfrm>
            <a:off x="1014984" y="2752344"/>
            <a:ext cx="4873752" cy="484632"/>
          </a:xfrm>
          <a:prstGeom prst="rect">
            <a:avLst/>
          </a:prstGeom>
          <a:noFill/>
          <a:ln/>
        </p:spPr>
        <p:txBody>
          <a:bodyPr wrap="square" lIns="0" tIns="0" rIns="0" bIns="0" rtlCol="0" anchor="ctr">
            <a:normAutofit/>
          </a:bodyPr>
          <a:lstStyle/>
          <a:p>
            <a:pPr marL="0" indent="0" algn="ctr">
              <a:buNone/>
            </a:pPr>
            <a:r>
              <a:rPr lang="en-US" sz="2200" dirty="0">
                <a:solidFill>
                  <a:srgbClr val="111827"/>
                </a:solidFill>
                <a:latin typeface="Aptos" pitchFamily="34" charset="0"/>
                <a:ea typeface="Aptos" pitchFamily="34" charset="-122"/>
                <a:cs typeface="Aptos" pitchFamily="34" charset="-120"/>
              </a:rPr>
              <a:t>A span(q₁,…,qₖ) ⊆ span(q₁,…,qₖ)</a:t>
            </a:r>
            <a:endParaRPr lang="en-US" sz="2200" dirty="0"/>
          </a:p>
        </p:txBody>
      </p:sp>
      <p:sp>
        <p:nvSpPr>
          <p:cNvPr id="14" name="Text 12"/>
          <p:cNvSpPr/>
          <p:nvPr/>
        </p:nvSpPr>
        <p:spPr>
          <a:xfrm>
            <a:off x="868680" y="3703320"/>
            <a:ext cx="5166360" cy="475488"/>
          </a:xfrm>
          <a:prstGeom prst="rect">
            <a:avLst/>
          </a:prstGeom>
          <a:noFill/>
          <a:ln/>
        </p:spPr>
        <p:txBody>
          <a:bodyPr wrap="square" lIns="1016" tIns="1016" rIns="1016" bIns="1016" rtlCol="0" anchor="ctr">
            <a:normAutofit/>
          </a:bodyPr>
          <a:lstStyle/>
          <a:p>
            <a:pPr marL="0" indent="0" algn="l">
              <a:buNone/>
            </a:pPr>
            <a:r>
              <a:rPr lang="en-US" sz="2200" b="1" dirty="0">
                <a:solidFill>
                  <a:srgbClr val="083D62"/>
                </a:solidFill>
                <a:latin typeface="Aptos" pitchFamily="34" charset="0"/>
                <a:ea typeface="Aptos" pitchFamily="34" charset="-122"/>
                <a:cs typeface="Aptos" pitchFamily="34" charset="-120"/>
              </a:rPr>
              <a:t>Schur vectors build a nested sequence of invariant subspaces.</a:t>
            </a:r>
            <a:endParaRPr lang="en-US" sz="2200" dirty="0"/>
          </a:p>
        </p:txBody>
      </p:sp>
      <p:sp>
        <p:nvSpPr>
          <p:cNvPr id="15" name="Shape 13"/>
          <p:cNvSpPr/>
          <p:nvPr/>
        </p:nvSpPr>
        <p:spPr>
          <a:xfrm>
            <a:off x="6492240" y="1143000"/>
            <a:ext cx="4800600" cy="1874520"/>
          </a:xfrm>
          <a:prstGeom prst="roundRect">
            <a:avLst>
              <a:gd name="adj" fmla="val 4878"/>
            </a:avLst>
          </a:prstGeom>
          <a:solidFill>
            <a:srgbClr val="F3F6F8"/>
          </a:solidFill>
          <a:ln w="13970">
            <a:solidFill>
              <a:srgbClr val="E3EAF0"/>
            </a:solidFill>
            <a:prstDash val="solid"/>
          </a:ln>
        </p:spPr>
        <p:txBody>
          <a:bodyPr/>
          <a:lstStyle/>
          <a:p>
            <a:endParaRPr lang="en-US"/>
          </a:p>
        </p:txBody>
      </p:sp>
      <p:sp>
        <p:nvSpPr>
          <p:cNvPr id="16" name="Text 14"/>
          <p:cNvSpPr/>
          <p:nvPr/>
        </p:nvSpPr>
        <p:spPr>
          <a:xfrm>
            <a:off x="6638544" y="1252728"/>
            <a:ext cx="45079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Triangular meaning</a:t>
            </a:r>
            <a:endParaRPr lang="en-US" sz="1500" dirty="0"/>
          </a:p>
        </p:txBody>
      </p:sp>
      <p:sp>
        <p:nvSpPr>
          <p:cNvPr id="17" name="Text 15"/>
          <p:cNvSpPr/>
          <p:nvPr/>
        </p:nvSpPr>
        <p:spPr>
          <a:xfrm>
            <a:off x="6638544" y="1627632"/>
            <a:ext cx="4507992" cy="1280160"/>
          </a:xfrm>
          <a:prstGeom prst="rect">
            <a:avLst/>
          </a:prstGeom>
          <a:noFill/>
          <a:ln/>
        </p:spPr>
        <p:txBody>
          <a:bodyPr wrap="square" lIns="0" tIns="0" rIns="0" bIns="0" rtlCol="0" anchor="ctr">
            <a:normAutofit/>
          </a:bodyPr>
          <a:lstStyle/>
          <a:p>
            <a:pPr marL="0" indent="0" algn="l">
              <a:buNone/>
            </a:pPr>
            <a:r>
              <a:rPr lang="en-US" sz="1900" dirty="0">
                <a:solidFill>
                  <a:srgbClr val="111827"/>
                </a:solidFill>
                <a:latin typeface="Aptos" pitchFamily="34" charset="0"/>
                <a:ea typeface="Aptos" pitchFamily="34" charset="-122"/>
                <a:cs typeface="Aptos" pitchFamily="34" charset="-120"/>
              </a:rPr>
              <a:t>Column k of T tells how A qₖ combines only with q₁,…,qₖ. That is why the first k Schur vectors span an invariant subspace.</a:t>
            </a:r>
            <a:endParaRPr lang="en-US" sz="1900" dirty="0"/>
          </a:p>
        </p:txBody>
      </p:sp>
      <p:sp>
        <p:nvSpPr>
          <p:cNvPr id="18" name="Shape 16"/>
          <p:cNvSpPr/>
          <p:nvPr/>
        </p:nvSpPr>
        <p:spPr>
          <a:xfrm>
            <a:off x="6492240" y="3429000"/>
            <a:ext cx="4800600" cy="1600200"/>
          </a:xfrm>
          <a:prstGeom prst="roundRect">
            <a:avLst>
              <a:gd name="adj" fmla="val 5714"/>
            </a:avLst>
          </a:prstGeom>
          <a:solidFill>
            <a:srgbClr val="F3F6F8"/>
          </a:solidFill>
          <a:ln w="13970">
            <a:solidFill>
              <a:srgbClr val="E3EAF0"/>
            </a:solidFill>
            <a:prstDash val="solid"/>
          </a:ln>
        </p:spPr>
        <p:txBody>
          <a:bodyPr/>
          <a:lstStyle/>
          <a:p>
            <a:endParaRPr lang="en-US"/>
          </a:p>
        </p:txBody>
      </p:sp>
      <p:sp>
        <p:nvSpPr>
          <p:cNvPr id="19" name="Text 17"/>
          <p:cNvSpPr/>
          <p:nvPr/>
        </p:nvSpPr>
        <p:spPr>
          <a:xfrm>
            <a:off x="6638544" y="3538728"/>
            <a:ext cx="45079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Numerical meaning</a:t>
            </a:r>
            <a:endParaRPr lang="en-US" sz="1500" dirty="0"/>
          </a:p>
        </p:txBody>
      </p:sp>
      <p:sp>
        <p:nvSpPr>
          <p:cNvPr id="20" name="Text 18"/>
          <p:cNvSpPr/>
          <p:nvPr/>
        </p:nvSpPr>
        <p:spPr>
          <a:xfrm>
            <a:off x="6638544" y="3913632"/>
            <a:ext cx="4507992" cy="1005840"/>
          </a:xfrm>
          <a:prstGeom prst="rect">
            <a:avLst/>
          </a:prstGeom>
          <a:noFill/>
          <a:ln/>
        </p:spPr>
        <p:txBody>
          <a:bodyPr wrap="square" lIns="0" tIns="0" rIns="0" bIns="0" rtlCol="0" anchor="ctr">
            <a:normAutofit/>
          </a:bodyPr>
          <a:lstStyle/>
          <a:p>
            <a:pPr marL="0" indent="0" algn="l">
              <a:buNone/>
            </a:pPr>
            <a:r>
              <a:rPr lang="en-US" sz="1900" dirty="0">
                <a:solidFill>
                  <a:srgbClr val="111827"/>
                </a:solidFill>
                <a:latin typeface="Aptos" pitchFamily="34" charset="0"/>
                <a:ea typeface="Aptos" pitchFamily="34" charset="-122"/>
                <a:cs typeface="Aptos" pitchFamily="34" charset="-120"/>
              </a:rPr>
              <a:t>This subspace view is often more stable than tracking individual eigenvectors, especially when eigenvalues are clustered.</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Example 1: defective matrix — diagonalization fails, Schur survives</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8 / 25</a:t>
            </a:r>
            <a:endParaRPr lang="en-US" sz="850" dirty="0"/>
          </a:p>
        </p:txBody>
      </p:sp>
      <p:sp>
        <p:nvSpPr>
          <p:cNvPr id="8" name="Shape 6"/>
          <p:cNvSpPr/>
          <p:nvPr/>
        </p:nvSpPr>
        <p:spPr>
          <a:xfrm>
            <a:off x="777240" y="1143000"/>
            <a:ext cx="2834640" cy="1051560"/>
          </a:xfrm>
          <a:prstGeom prst="roundRect">
            <a:avLst>
              <a:gd name="adj" fmla="val 6957"/>
            </a:avLst>
          </a:prstGeom>
          <a:solidFill>
            <a:srgbClr val="F8FAFC"/>
          </a:solidFill>
          <a:ln w="12700">
            <a:solidFill>
              <a:srgbClr val="E3EAF0"/>
            </a:solidFill>
            <a:prstDash val="solid"/>
          </a:ln>
        </p:spPr>
        <p:txBody>
          <a:bodyPr/>
          <a:lstStyle/>
          <a:p>
            <a:endParaRPr lang="en-US"/>
          </a:p>
        </p:txBody>
      </p:sp>
      <p:sp>
        <p:nvSpPr>
          <p:cNvPr id="9" name="Text 7"/>
          <p:cNvSpPr/>
          <p:nvPr/>
        </p:nvSpPr>
        <p:spPr>
          <a:xfrm>
            <a:off x="914400" y="1234440"/>
            <a:ext cx="2560320" cy="868680"/>
          </a:xfrm>
          <a:prstGeom prst="rect">
            <a:avLst/>
          </a:prstGeom>
          <a:noFill/>
          <a:ln/>
        </p:spPr>
        <p:txBody>
          <a:bodyPr wrap="square" lIns="0" tIns="0" rIns="0" bIns="0" rtlCol="0" anchor="ctr">
            <a:normAutofit/>
          </a:bodyPr>
          <a:lstStyle/>
          <a:p>
            <a:pPr marL="0" indent="0" algn="ctr">
              <a:buNone/>
            </a:pPr>
            <a:r>
              <a:rPr lang="en-US" sz="2400" dirty="0">
                <a:solidFill>
                  <a:srgbClr val="111827"/>
                </a:solidFill>
                <a:latin typeface="Courier New" pitchFamily="34" charset="0"/>
                <a:ea typeface="Courier New" pitchFamily="34" charset="-122"/>
                <a:cs typeface="Courier New" pitchFamily="34" charset="-120"/>
              </a:rPr>
              <a:t>A = [ 1  1 ]</a:t>
            </a:r>
            <a:endParaRPr lang="en-US" sz="2400" dirty="0"/>
          </a:p>
          <a:p>
            <a:pPr marL="0" indent="0" algn="ctr">
              <a:buNone/>
            </a:pPr>
            <a:r>
              <a:rPr lang="en-US" sz="2400" dirty="0">
                <a:solidFill>
                  <a:srgbClr val="111827"/>
                </a:solidFill>
                <a:latin typeface="Courier New" pitchFamily="34" charset="0"/>
                <a:ea typeface="Courier New" pitchFamily="34" charset="-122"/>
                <a:cs typeface="Courier New" pitchFamily="34" charset="-120"/>
              </a:rPr>
              <a:t>    [ 0  1 ]</a:t>
            </a:r>
            <a:endParaRPr lang="en-US" sz="2400" dirty="0"/>
          </a:p>
        </p:txBody>
      </p:sp>
      <p:sp>
        <p:nvSpPr>
          <p:cNvPr id="10" name="Shape 8"/>
          <p:cNvSpPr/>
          <p:nvPr/>
        </p:nvSpPr>
        <p:spPr>
          <a:xfrm>
            <a:off x="3977640" y="960120"/>
            <a:ext cx="3291840" cy="1600200"/>
          </a:xfrm>
          <a:prstGeom prst="roundRect">
            <a:avLst>
              <a:gd name="adj" fmla="val 5714"/>
            </a:avLst>
          </a:prstGeom>
          <a:solidFill>
            <a:srgbClr val="F3F6F8"/>
          </a:solidFill>
          <a:ln w="13970">
            <a:solidFill>
              <a:srgbClr val="E3EAF0"/>
            </a:solidFill>
            <a:prstDash val="solid"/>
          </a:ln>
        </p:spPr>
        <p:txBody>
          <a:bodyPr/>
          <a:lstStyle/>
          <a:p>
            <a:endParaRPr lang="en-US"/>
          </a:p>
        </p:txBody>
      </p:sp>
      <p:sp>
        <p:nvSpPr>
          <p:cNvPr id="11" name="Text 9"/>
          <p:cNvSpPr/>
          <p:nvPr/>
        </p:nvSpPr>
        <p:spPr>
          <a:xfrm>
            <a:off x="4123944" y="1069848"/>
            <a:ext cx="29992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Eigenvalue analysis</a:t>
            </a:r>
            <a:endParaRPr lang="en-US" sz="1500" dirty="0"/>
          </a:p>
        </p:txBody>
      </p:sp>
      <p:sp>
        <p:nvSpPr>
          <p:cNvPr id="12" name="Text 10"/>
          <p:cNvSpPr/>
          <p:nvPr/>
        </p:nvSpPr>
        <p:spPr>
          <a:xfrm>
            <a:off x="4123944" y="1444752"/>
            <a:ext cx="2999232" cy="100584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Only eigenvalue is λ = 1.</a:t>
            </a:r>
            <a:endParaRPr lang="en-US" sz="1800" dirty="0"/>
          </a:p>
          <a:p>
            <a:pPr marL="0" indent="0" algn="l">
              <a:buNone/>
            </a:pPr>
            <a:r>
              <a:rPr lang="en-US" sz="1800" dirty="0">
                <a:solidFill>
                  <a:srgbClr val="111827"/>
                </a:solidFill>
                <a:latin typeface="Aptos" pitchFamily="34" charset="0"/>
                <a:ea typeface="Aptos" pitchFamily="34" charset="-122"/>
                <a:cs typeface="Aptos" pitchFamily="34" charset="-120"/>
              </a:rPr>
              <a:t>A − I has null space span(e₁).</a:t>
            </a:r>
            <a:endParaRPr lang="en-US" sz="1800" dirty="0"/>
          </a:p>
          <a:p>
            <a:pPr marL="0" indent="0" algn="l">
              <a:buNone/>
            </a:pPr>
            <a:r>
              <a:rPr lang="en-US" sz="1800" dirty="0">
                <a:solidFill>
                  <a:srgbClr val="111827"/>
                </a:solidFill>
                <a:latin typeface="Aptos" pitchFamily="34" charset="0"/>
                <a:ea typeface="Aptos" pitchFamily="34" charset="-122"/>
                <a:cs typeface="Aptos" pitchFamily="34" charset="-120"/>
              </a:rPr>
              <a:t>There is only one eigenvector.</a:t>
            </a:r>
            <a:endParaRPr lang="en-US" sz="1800" dirty="0"/>
          </a:p>
        </p:txBody>
      </p:sp>
      <p:sp>
        <p:nvSpPr>
          <p:cNvPr id="13" name="Shape 11"/>
          <p:cNvSpPr/>
          <p:nvPr/>
        </p:nvSpPr>
        <p:spPr>
          <a:xfrm>
            <a:off x="7726680" y="960120"/>
            <a:ext cx="3429000" cy="1600200"/>
          </a:xfrm>
          <a:prstGeom prst="roundRect">
            <a:avLst>
              <a:gd name="adj" fmla="val 5714"/>
            </a:avLst>
          </a:prstGeom>
          <a:solidFill>
            <a:srgbClr val="FFF7ED"/>
          </a:solidFill>
          <a:ln w="13970">
            <a:solidFill>
              <a:srgbClr val="A85C00"/>
            </a:solidFill>
            <a:prstDash val="solid"/>
          </a:ln>
        </p:spPr>
        <p:txBody>
          <a:bodyPr/>
          <a:lstStyle/>
          <a:p>
            <a:endParaRPr lang="en-US"/>
          </a:p>
        </p:txBody>
      </p:sp>
      <p:sp>
        <p:nvSpPr>
          <p:cNvPr id="14" name="Text 12"/>
          <p:cNvSpPr/>
          <p:nvPr/>
        </p:nvSpPr>
        <p:spPr>
          <a:xfrm>
            <a:off x="7872984" y="1069848"/>
            <a:ext cx="31363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Consequence</a:t>
            </a:r>
            <a:endParaRPr lang="en-US" sz="1500" dirty="0"/>
          </a:p>
        </p:txBody>
      </p:sp>
      <p:sp>
        <p:nvSpPr>
          <p:cNvPr id="15" name="Text 13"/>
          <p:cNvSpPr/>
          <p:nvPr/>
        </p:nvSpPr>
        <p:spPr>
          <a:xfrm>
            <a:off x="7872984" y="1444752"/>
            <a:ext cx="3136392" cy="100584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No eigenvector basis exists, so A = XΛX⁻¹ is impossible.</a:t>
            </a:r>
            <a:endParaRPr lang="en-US" sz="1800" dirty="0"/>
          </a:p>
        </p:txBody>
      </p:sp>
      <p:sp>
        <p:nvSpPr>
          <p:cNvPr id="16" name="Shape 14"/>
          <p:cNvSpPr/>
          <p:nvPr/>
        </p:nvSpPr>
        <p:spPr>
          <a:xfrm>
            <a:off x="1143000" y="3383280"/>
            <a:ext cx="4343400" cy="914400"/>
          </a:xfrm>
          <a:prstGeom prst="roundRect">
            <a:avLst>
              <a:gd name="adj" fmla="val 9000"/>
            </a:avLst>
          </a:prstGeom>
          <a:solidFill>
            <a:srgbClr val="EAF4F4"/>
          </a:solidFill>
          <a:ln w="15240">
            <a:solidFill>
              <a:srgbClr val="0E6B68"/>
            </a:solidFill>
            <a:prstDash val="solid"/>
          </a:ln>
        </p:spPr>
        <p:txBody>
          <a:bodyPr/>
          <a:lstStyle/>
          <a:p>
            <a:endParaRPr lang="en-US"/>
          </a:p>
        </p:txBody>
      </p:sp>
      <p:sp>
        <p:nvSpPr>
          <p:cNvPr id="17" name="Text 15"/>
          <p:cNvSpPr/>
          <p:nvPr/>
        </p:nvSpPr>
        <p:spPr>
          <a:xfrm>
            <a:off x="1289304" y="3438144"/>
            <a:ext cx="4050792" cy="804672"/>
          </a:xfrm>
          <a:prstGeom prst="rect">
            <a:avLst/>
          </a:prstGeom>
          <a:noFill/>
          <a:ln/>
        </p:spPr>
        <p:txBody>
          <a:bodyPr wrap="square" lIns="0" tIns="0" rIns="0" bIns="0" rtlCol="0" anchor="ctr">
            <a:normAutofit/>
          </a:bodyPr>
          <a:lstStyle/>
          <a:p>
            <a:pPr marL="0" indent="0" algn="ctr">
              <a:buNone/>
            </a:pPr>
            <a:r>
              <a:rPr lang="en-US" sz="2500" dirty="0">
                <a:solidFill>
                  <a:srgbClr val="111827"/>
                </a:solidFill>
                <a:latin typeface="Aptos" pitchFamily="34" charset="0"/>
                <a:ea typeface="Aptos" pitchFamily="34" charset="-122"/>
                <a:cs typeface="Aptos" pitchFamily="34" charset="-120"/>
              </a:rPr>
              <a:t>But Schur works immediately:</a:t>
            </a:r>
            <a:endParaRPr lang="en-US" sz="2500" dirty="0"/>
          </a:p>
          <a:p>
            <a:pPr marL="0" indent="0" algn="ctr">
              <a:buNone/>
            </a:pPr>
            <a:r>
              <a:rPr lang="en-US" sz="2500" dirty="0">
                <a:solidFill>
                  <a:srgbClr val="111827"/>
                </a:solidFill>
                <a:latin typeface="Aptos" pitchFamily="34" charset="0"/>
                <a:ea typeface="Aptos" pitchFamily="34" charset="-122"/>
                <a:cs typeface="Aptos" pitchFamily="34" charset="-120"/>
              </a:rPr>
              <a:t>Q = I,   T = A</a:t>
            </a:r>
            <a:endParaRPr lang="en-US" sz="2500" dirty="0"/>
          </a:p>
        </p:txBody>
      </p:sp>
      <p:sp>
        <p:nvSpPr>
          <p:cNvPr id="18" name="Text 16"/>
          <p:cNvSpPr/>
          <p:nvPr/>
        </p:nvSpPr>
        <p:spPr>
          <a:xfrm>
            <a:off x="5989320" y="3584448"/>
            <a:ext cx="4983480" cy="676656"/>
          </a:xfrm>
          <a:prstGeom prst="rect">
            <a:avLst/>
          </a:prstGeom>
          <a:noFill/>
          <a:ln/>
        </p:spPr>
        <p:txBody>
          <a:bodyPr wrap="square" lIns="1016" tIns="1016" rIns="1016" bIns="1016" rtlCol="0" anchor="ctr">
            <a:normAutofit/>
          </a:bodyPr>
          <a:lstStyle/>
          <a:p>
            <a:pPr marL="0" indent="0" algn="l">
              <a:buNone/>
            </a:pPr>
            <a:r>
              <a:rPr lang="en-US" sz="2200" b="1" dirty="0">
                <a:solidFill>
                  <a:srgbClr val="083D62"/>
                </a:solidFill>
                <a:latin typeface="Aptos" pitchFamily="34" charset="0"/>
                <a:ea typeface="Aptos" pitchFamily="34" charset="-122"/>
                <a:cs typeface="Aptos" pitchFamily="34" charset="-120"/>
              </a:rPr>
              <a:t>Takeaway: Schur is the correct replacement for diagonalization when eigenvectors are missing.</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Example 2: real Schur blocks for complex eigenvalues</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9 / 25</a:t>
            </a:r>
            <a:endParaRPr lang="en-US" sz="850" dirty="0"/>
          </a:p>
        </p:txBody>
      </p:sp>
      <p:sp>
        <p:nvSpPr>
          <p:cNvPr id="8" name="Shape 6"/>
          <p:cNvSpPr/>
          <p:nvPr/>
        </p:nvSpPr>
        <p:spPr>
          <a:xfrm>
            <a:off x="822960" y="1097280"/>
            <a:ext cx="2834640" cy="1051560"/>
          </a:xfrm>
          <a:prstGeom prst="roundRect">
            <a:avLst>
              <a:gd name="adj" fmla="val 6957"/>
            </a:avLst>
          </a:prstGeom>
          <a:solidFill>
            <a:srgbClr val="F8FAFC"/>
          </a:solidFill>
          <a:ln w="12700">
            <a:solidFill>
              <a:srgbClr val="E3EAF0"/>
            </a:solidFill>
            <a:prstDash val="solid"/>
          </a:ln>
        </p:spPr>
        <p:txBody>
          <a:bodyPr/>
          <a:lstStyle/>
          <a:p>
            <a:endParaRPr lang="en-US"/>
          </a:p>
        </p:txBody>
      </p:sp>
      <p:sp>
        <p:nvSpPr>
          <p:cNvPr id="9" name="Text 7"/>
          <p:cNvSpPr/>
          <p:nvPr/>
        </p:nvSpPr>
        <p:spPr>
          <a:xfrm>
            <a:off x="960120" y="1188720"/>
            <a:ext cx="2560320" cy="868680"/>
          </a:xfrm>
          <a:prstGeom prst="rect">
            <a:avLst/>
          </a:prstGeom>
          <a:noFill/>
          <a:ln/>
        </p:spPr>
        <p:txBody>
          <a:bodyPr wrap="square" lIns="0" tIns="0" rIns="0" bIns="0" rtlCol="0" anchor="ctr">
            <a:normAutofit/>
          </a:bodyPr>
          <a:lstStyle/>
          <a:p>
            <a:pPr marL="0" indent="0" algn="ctr">
              <a:buNone/>
            </a:pPr>
            <a:r>
              <a:rPr lang="en-US" sz="2400" dirty="0">
                <a:solidFill>
                  <a:srgbClr val="111827"/>
                </a:solidFill>
                <a:latin typeface="Courier New" pitchFamily="34" charset="0"/>
                <a:ea typeface="Courier New" pitchFamily="34" charset="-122"/>
                <a:cs typeface="Courier New" pitchFamily="34" charset="-120"/>
              </a:rPr>
              <a:t>R = [ 0  -1 ]</a:t>
            </a:r>
            <a:endParaRPr lang="en-US" sz="2400" dirty="0"/>
          </a:p>
          <a:p>
            <a:pPr marL="0" indent="0" algn="ctr">
              <a:buNone/>
            </a:pPr>
            <a:r>
              <a:rPr lang="en-US" sz="2400" dirty="0">
                <a:solidFill>
                  <a:srgbClr val="111827"/>
                </a:solidFill>
                <a:latin typeface="Courier New" pitchFamily="34" charset="0"/>
                <a:ea typeface="Courier New" pitchFamily="34" charset="-122"/>
                <a:cs typeface="Courier New" pitchFamily="34" charset="-120"/>
              </a:rPr>
              <a:t>    [ 1   0 ]</a:t>
            </a:r>
            <a:endParaRPr lang="en-US" sz="2400" dirty="0"/>
          </a:p>
        </p:txBody>
      </p:sp>
      <p:sp>
        <p:nvSpPr>
          <p:cNvPr id="10" name="Text 8"/>
          <p:cNvSpPr/>
          <p:nvPr/>
        </p:nvSpPr>
        <p:spPr>
          <a:xfrm>
            <a:off x="3977640" y="1143000"/>
            <a:ext cx="7086600" cy="640080"/>
          </a:xfrm>
          <a:prstGeom prst="rect">
            <a:avLst/>
          </a:prstGeom>
          <a:noFill/>
          <a:ln/>
        </p:spPr>
        <p:txBody>
          <a:bodyPr wrap="square" lIns="1016" tIns="1016" rIns="1016" bIns="1016" rtlCol="0" anchor="ctr">
            <a:normAutofit/>
          </a:bodyPr>
          <a:lstStyle/>
          <a:p>
            <a:pPr marL="0" indent="0" algn="l">
              <a:buNone/>
            </a:pPr>
            <a:r>
              <a:rPr lang="en-US" sz="2300" dirty="0">
                <a:solidFill>
                  <a:srgbClr val="111827"/>
                </a:solidFill>
                <a:latin typeface="Aptos" pitchFamily="34" charset="0"/>
                <a:ea typeface="Aptos" pitchFamily="34" charset="-122"/>
                <a:cs typeface="Aptos" pitchFamily="34" charset="-120"/>
              </a:rPr>
              <a:t>This is a 90° rotation. Over the real numbers it has no real eigenvectors.</a:t>
            </a:r>
            <a:endParaRPr lang="en-US" sz="2300" dirty="0"/>
          </a:p>
        </p:txBody>
      </p:sp>
      <p:sp>
        <p:nvSpPr>
          <p:cNvPr id="11" name="Shape 9"/>
          <p:cNvSpPr/>
          <p:nvPr/>
        </p:nvSpPr>
        <p:spPr>
          <a:xfrm>
            <a:off x="868680" y="2788920"/>
            <a:ext cx="3200400" cy="960120"/>
          </a:xfrm>
          <a:prstGeom prst="roundRect">
            <a:avLst>
              <a:gd name="adj" fmla="val 9524"/>
            </a:avLst>
          </a:prstGeom>
          <a:solidFill>
            <a:srgbClr val="F3F6F8"/>
          </a:solidFill>
          <a:ln w="13970">
            <a:solidFill>
              <a:srgbClr val="E3EAF0"/>
            </a:solidFill>
            <a:prstDash val="solid"/>
          </a:ln>
        </p:spPr>
        <p:txBody>
          <a:bodyPr/>
          <a:lstStyle/>
          <a:p>
            <a:endParaRPr lang="en-US"/>
          </a:p>
        </p:txBody>
      </p:sp>
      <p:sp>
        <p:nvSpPr>
          <p:cNvPr id="12" name="Text 10"/>
          <p:cNvSpPr/>
          <p:nvPr/>
        </p:nvSpPr>
        <p:spPr>
          <a:xfrm>
            <a:off x="1014984" y="2898648"/>
            <a:ext cx="29077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Complex eigenvalues</a:t>
            </a:r>
            <a:endParaRPr lang="en-US" sz="1500" dirty="0"/>
          </a:p>
        </p:txBody>
      </p:sp>
      <p:sp>
        <p:nvSpPr>
          <p:cNvPr id="13" name="Text 11"/>
          <p:cNvSpPr/>
          <p:nvPr/>
        </p:nvSpPr>
        <p:spPr>
          <a:xfrm>
            <a:off x="1014984" y="3273552"/>
            <a:ext cx="2907792" cy="365760"/>
          </a:xfrm>
          <a:prstGeom prst="rect">
            <a:avLst/>
          </a:prstGeom>
          <a:noFill/>
          <a:ln/>
        </p:spPr>
        <p:txBody>
          <a:bodyPr wrap="square" lIns="0" tIns="0" rIns="0" bIns="0" rtlCol="0" anchor="ctr">
            <a:normAutofit/>
          </a:bodyPr>
          <a:lstStyle/>
          <a:p>
            <a:pPr marL="0" indent="0" algn="l">
              <a:buNone/>
            </a:pPr>
            <a:r>
              <a:rPr lang="en-US" sz="2200" dirty="0">
                <a:solidFill>
                  <a:srgbClr val="111827"/>
                </a:solidFill>
                <a:latin typeface="Aptos" pitchFamily="34" charset="0"/>
                <a:ea typeface="Aptos" pitchFamily="34" charset="-122"/>
                <a:cs typeface="Aptos" pitchFamily="34" charset="-120"/>
              </a:rPr>
              <a:t>λ = i and λ = −i</a:t>
            </a:r>
            <a:endParaRPr lang="en-US" sz="2200" dirty="0"/>
          </a:p>
        </p:txBody>
      </p:sp>
      <p:sp>
        <p:nvSpPr>
          <p:cNvPr id="14" name="Shape 12"/>
          <p:cNvSpPr/>
          <p:nvPr/>
        </p:nvSpPr>
        <p:spPr>
          <a:xfrm>
            <a:off x="4434840" y="2788920"/>
            <a:ext cx="3200400" cy="960120"/>
          </a:xfrm>
          <a:prstGeom prst="roundRect">
            <a:avLst>
              <a:gd name="adj" fmla="val 9524"/>
            </a:avLst>
          </a:prstGeom>
          <a:solidFill>
            <a:srgbClr val="F3F6F8"/>
          </a:solidFill>
          <a:ln w="13970">
            <a:solidFill>
              <a:srgbClr val="E3EAF0"/>
            </a:solidFill>
            <a:prstDash val="solid"/>
          </a:ln>
        </p:spPr>
        <p:txBody>
          <a:bodyPr/>
          <a:lstStyle/>
          <a:p>
            <a:endParaRPr lang="en-US"/>
          </a:p>
        </p:txBody>
      </p:sp>
      <p:sp>
        <p:nvSpPr>
          <p:cNvPr id="15" name="Text 13"/>
          <p:cNvSpPr/>
          <p:nvPr/>
        </p:nvSpPr>
        <p:spPr>
          <a:xfrm>
            <a:off x="4581144" y="2898648"/>
            <a:ext cx="29077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Real Schur form</a:t>
            </a:r>
            <a:endParaRPr lang="en-US" sz="1500" dirty="0"/>
          </a:p>
        </p:txBody>
      </p:sp>
      <p:sp>
        <p:nvSpPr>
          <p:cNvPr id="16" name="Text 14"/>
          <p:cNvSpPr/>
          <p:nvPr/>
        </p:nvSpPr>
        <p:spPr>
          <a:xfrm>
            <a:off x="4581144" y="3273552"/>
            <a:ext cx="2907792" cy="36576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A 2×2 block stores the conjugate pair without using complex vectors.</a:t>
            </a:r>
            <a:endParaRPr lang="en-US" sz="1800" dirty="0"/>
          </a:p>
        </p:txBody>
      </p:sp>
      <p:sp>
        <p:nvSpPr>
          <p:cNvPr id="19" name="Text 17"/>
          <p:cNvSpPr/>
          <p:nvPr/>
        </p:nvSpPr>
        <p:spPr>
          <a:xfrm>
            <a:off x="8275320" y="2788920"/>
            <a:ext cx="2907792" cy="1261873"/>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Real computations can remain real while still representing complex oscillatory behavior.</a:t>
            </a:r>
            <a:endParaRPr lang="en-US" sz="1800" dirty="0"/>
          </a:p>
        </p:txBody>
      </p:sp>
      <p:sp>
        <p:nvSpPr>
          <p:cNvPr id="20" name="Shape 18"/>
          <p:cNvSpPr/>
          <p:nvPr/>
        </p:nvSpPr>
        <p:spPr>
          <a:xfrm>
            <a:off x="1234440" y="4617720"/>
            <a:ext cx="9692640" cy="822960"/>
          </a:xfrm>
          <a:prstGeom prst="roundRect">
            <a:avLst>
              <a:gd name="adj" fmla="val 10000"/>
            </a:avLst>
          </a:prstGeom>
          <a:solidFill>
            <a:srgbClr val="F8FAFC"/>
          </a:solidFill>
          <a:ln w="15240">
            <a:solidFill>
              <a:srgbClr val="083D62"/>
            </a:solidFill>
            <a:prstDash val="solid"/>
          </a:ln>
        </p:spPr>
        <p:txBody>
          <a:bodyPr/>
          <a:lstStyle/>
          <a:p>
            <a:endParaRPr lang="en-US"/>
          </a:p>
        </p:txBody>
      </p:sp>
      <p:sp>
        <p:nvSpPr>
          <p:cNvPr id="21" name="Text 19"/>
          <p:cNvSpPr/>
          <p:nvPr/>
        </p:nvSpPr>
        <p:spPr>
          <a:xfrm>
            <a:off x="1380744" y="4672584"/>
            <a:ext cx="9400032" cy="713232"/>
          </a:xfrm>
          <a:prstGeom prst="rect">
            <a:avLst/>
          </a:prstGeom>
          <a:noFill/>
          <a:ln/>
        </p:spPr>
        <p:txBody>
          <a:bodyPr wrap="square" lIns="0" tIns="0" rIns="0" bIns="0" rtlCol="0" anchor="ctr">
            <a:normAutofit/>
          </a:bodyPr>
          <a:lstStyle/>
          <a:p>
            <a:pPr marL="0" indent="0" algn="ctr">
              <a:buNone/>
            </a:pPr>
            <a:r>
              <a:rPr lang="en-US" sz="2200" dirty="0">
                <a:solidFill>
                  <a:srgbClr val="111827"/>
                </a:solidFill>
                <a:latin typeface="Aptos" pitchFamily="34" charset="0"/>
                <a:ea typeface="Aptos" pitchFamily="34" charset="-122"/>
                <a:cs typeface="Aptos" pitchFamily="34" charset="-120"/>
              </a:rPr>
              <a:t>Real Schur form = block upper triangular</a:t>
            </a:r>
            <a:endParaRPr lang="en-US" sz="2200" dirty="0"/>
          </a:p>
          <a:p>
            <a:pPr marL="0" indent="0" algn="ctr">
              <a:buNone/>
            </a:pPr>
            <a:r>
              <a:rPr lang="en-US" sz="2200" dirty="0">
                <a:solidFill>
                  <a:srgbClr val="111827"/>
                </a:solidFill>
                <a:latin typeface="Aptos" pitchFamily="34" charset="0"/>
                <a:ea typeface="Aptos" pitchFamily="34" charset="-122"/>
                <a:cs typeface="Aptos" pitchFamily="34" charset="-120"/>
              </a:rPr>
              <a:t>with 1×1 real eigenvalue blocks and 2×2 complex-pair blocks.</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Example 3: Schur reveals nonnormal coupling</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10 / 25</a:t>
            </a:r>
            <a:endParaRPr lang="en-US" sz="850" dirty="0"/>
          </a:p>
        </p:txBody>
      </p:sp>
      <p:sp>
        <p:nvSpPr>
          <p:cNvPr id="8" name="Shape 6"/>
          <p:cNvSpPr/>
          <p:nvPr/>
        </p:nvSpPr>
        <p:spPr>
          <a:xfrm>
            <a:off x="777240" y="1051560"/>
            <a:ext cx="3383280" cy="1097280"/>
          </a:xfrm>
          <a:prstGeom prst="roundRect">
            <a:avLst>
              <a:gd name="adj" fmla="val 6667"/>
            </a:avLst>
          </a:prstGeom>
          <a:solidFill>
            <a:srgbClr val="F8FAFC"/>
          </a:solidFill>
          <a:ln w="12700">
            <a:solidFill>
              <a:srgbClr val="E3EAF0"/>
            </a:solidFill>
            <a:prstDash val="solid"/>
          </a:ln>
        </p:spPr>
        <p:txBody>
          <a:bodyPr/>
          <a:lstStyle/>
          <a:p>
            <a:endParaRPr lang="en-US"/>
          </a:p>
        </p:txBody>
      </p:sp>
      <p:sp>
        <p:nvSpPr>
          <p:cNvPr id="9" name="Text 7"/>
          <p:cNvSpPr/>
          <p:nvPr/>
        </p:nvSpPr>
        <p:spPr>
          <a:xfrm>
            <a:off x="914400" y="1143000"/>
            <a:ext cx="3108960" cy="914400"/>
          </a:xfrm>
          <a:prstGeom prst="rect">
            <a:avLst/>
          </a:prstGeom>
          <a:noFill/>
          <a:ln/>
        </p:spPr>
        <p:txBody>
          <a:bodyPr wrap="square" lIns="0" tIns="0" rIns="0" bIns="0" rtlCol="0" anchor="ctr">
            <a:normAutofit/>
          </a:bodyPr>
          <a:lstStyle/>
          <a:p>
            <a:pPr marL="0" indent="0" algn="ctr">
              <a:buNone/>
            </a:pPr>
            <a:r>
              <a:rPr lang="en-US" sz="2300" dirty="0">
                <a:solidFill>
                  <a:srgbClr val="111827"/>
                </a:solidFill>
                <a:latin typeface="Courier New" pitchFamily="34" charset="0"/>
                <a:ea typeface="Courier New" pitchFamily="34" charset="-122"/>
                <a:cs typeface="Courier New" pitchFamily="34" charset="-120"/>
              </a:rPr>
              <a:t>A = [ 0  1000 ]</a:t>
            </a:r>
            <a:endParaRPr lang="en-US" sz="2300" dirty="0"/>
          </a:p>
          <a:p>
            <a:pPr marL="0" indent="0" algn="ctr">
              <a:buNone/>
            </a:pPr>
            <a:r>
              <a:rPr lang="en-US" sz="2300" dirty="0">
                <a:solidFill>
                  <a:srgbClr val="111827"/>
                </a:solidFill>
                <a:latin typeface="Courier New" pitchFamily="34" charset="0"/>
                <a:ea typeface="Courier New" pitchFamily="34" charset="-122"/>
                <a:cs typeface="Courier New" pitchFamily="34" charset="-120"/>
              </a:rPr>
              <a:t>    [ 0     0 ]</a:t>
            </a:r>
            <a:endParaRPr lang="en-US" sz="2300" dirty="0"/>
          </a:p>
        </p:txBody>
      </p:sp>
      <p:sp>
        <p:nvSpPr>
          <p:cNvPr id="10" name="Shape 8"/>
          <p:cNvSpPr/>
          <p:nvPr/>
        </p:nvSpPr>
        <p:spPr>
          <a:xfrm>
            <a:off x="4572000" y="914400"/>
            <a:ext cx="3108960" cy="1325880"/>
          </a:xfrm>
          <a:prstGeom prst="roundRect">
            <a:avLst>
              <a:gd name="adj" fmla="val 6897"/>
            </a:avLst>
          </a:prstGeom>
          <a:solidFill>
            <a:srgbClr val="F3F6F8"/>
          </a:solidFill>
          <a:ln w="13970">
            <a:solidFill>
              <a:srgbClr val="E3EAF0"/>
            </a:solidFill>
            <a:prstDash val="solid"/>
          </a:ln>
        </p:spPr>
        <p:txBody>
          <a:bodyPr/>
          <a:lstStyle/>
          <a:p>
            <a:endParaRPr lang="en-US"/>
          </a:p>
        </p:txBody>
      </p:sp>
      <p:sp>
        <p:nvSpPr>
          <p:cNvPr id="11" name="Text 9"/>
          <p:cNvSpPr/>
          <p:nvPr/>
        </p:nvSpPr>
        <p:spPr>
          <a:xfrm>
            <a:off x="4718304" y="1024128"/>
            <a:ext cx="281635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Eigenvalues</a:t>
            </a:r>
            <a:endParaRPr lang="en-US" sz="1500" dirty="0"/>
          </a:p>
        </p:txBody>
      </p:sp>
      <p:sp>
        <p:nvSpPr>
          <p:cNvPr id="12" name="Text 10"/>
          <p:cNvSpPr/>
          <p:nvPr/>
        </p:nvSpPr>
        <p:spPr>
          <a:xfrm>
            <a:off x="4718304" y="1399032"/>
            <a:ext cx="2816352" cy="73152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Both eigenvalues are zero.</a:t>
            </a:r>
            <a:endParaRPr lang="en-US" sz="1800" dirty="0"/>
          </a:p>
          <a:p>
            <a:pPr marL="0" indent="0" algn="l">
              <a:buNone/>
            </a:pPr>
            <a:r>
              <a:rPr lang="en-US" sz="1800" dirty="0">
                <a:solidFill>
                  <a:srgbClr val="111827"/>
                </a:solidFill>
                <a:latin typeface="Aptos" pitchFamily="34" charset="0"/>
                <a:ea typeface="Aptos" pitchFamily="34" charset="-122"/>
                <a:cs typeface="Aptos" pitchFamily="34" charset="-120"/>
              </a:rPr>
              <a:t>The diagonal alone says “nilpotent.”</a:t>
            </a:r>
            <a:endParaRPr lang="en-US" sz="1800" dirty="0"/>
          </a:p>
        </p:txBody>
      </p:sp>
      <p:sp>
        <p:nvSpPr>
          <p:cNvPr id="13" name="Shape 11"/>
          <p:cNvSpPr/>
          <p:nvPr/>
        </p:nvSpPr>
        <p:spPr>
          <a:xfrm>
            <a:off x="8046720" y="914400"/>
            <a:ext cx="3291840" cy="1325880"/>
          </a:xfrm>
          <a:prstGeom prst="roundRect">
            <a:avLst>
              <a:gd name="adj" fmla="val 6897"/>
            </a:avLst>
          </a:prstGeom>
          <a:solidFill>
            <a:srgbClr val="FFF7ED"/>
          </a:solidFill>
          <a:ln w="13970">
            <a:solidFill>
              <a:srgbClr val="A85C00"/>
            </a:solidFill>
            <a:prstDash val="solid"/>
          </a:ln>
        </p:spPr>
        <p:txBody>
          <a:bodyPr/>
          <a:lstStyle/>
          <a:p>
            <a:endParaRPr lang="en-US"/>
          </a:p>
        </p:txBody>
      </p:sp>
      <p:sp>
        <p:nvSpPr>
          <p:cNvPr id="14" name="Text 12"/>
          <p:cNvSpPr/>
          <p:nvPr/>
        </p:nvSpPr>
        <p:spPr>
          <a:xfrm>
            <a:off x="8193024" y="1024128"/>
            <a:ext cx="29992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But action is large</a:t>
            </a:r>
            <a:endParaRPr lang="en-US" sz="1500" dirty="0"/>
          </a:p>
        </p:txBody>
      </p:sp>
      <p:sp>
        <p:nvSpPr>
          <p:cNvPr id="15" name="Text 13"/>
          <p:cNvSpPr/>
          <p:nvPr/>
        </p:nvSpPr>
        <p:spPr>
          <a:xfrm>
            <a:off x="8193024" y="1399032"/>
            <a:ext cx="2999232" cy="73152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A e₂ = 1000 e₁.</a:t>
            </a:r>
            <a:endParaRPr lang="en-US" sz="1800" dirty="0"/>
          </a:p>
          <a:p>
            <a:pPr marL="0" indent="0" algn="l">
              <a:buNone/>
            </a:pPr>
            <a:r>
              <a:rPr lang="en-US" sz="1800" dirty="0">
                <a:solidFill>
                  <a:srgbClr val="111827"/>
                </a:solidFill>
                <a:latin typeface="Aptos" pitchFamily="34" charset="0"/>
                <a:ea typeface="Aptos" pitchFamily="34" charset="-122"/>
                <a:cs typeface="Aptos" pitchFamily="34" charset="-120"/>
              </a:rPr>
              <a:t>A vector can be stretched by a factor 1000 in one step.</a:t>
            </a:r>
            <a:endParaRPr lang="en-US" sz="1800" dirty="0"/>
          </a:p>
        </p:txBody>
      </p:sp>
      <p:sp>
        <p:nvSpPr>
          <p:cNvPr id="16" name="Shape 14"/>
          <p:cNvSpPr/>
          <p:nvPr/>
        </p:nvSpPr>
        <p:spPr>
          <a:xfrm>
            <a:off x="1051560" y="3017520"/>
            <a:ext cx="5029200" cy="658368"/>
          </a:xfrm>
          <a:prstGeom prst="roundRect">
            <a:avLst>
              <a:gd name="adj" fmla="val 12500"/>
            </a:avLst>
          </a:prstGeom>
          <a:solidFill>
            <a:srgbClr val="EAF4F4"/>
          </a:solidFill>
          <a:ln w="15240">
            <a:solidFill>
              <a:srgbClr val="0E6B68"/>
            </a:solidFill>
            <a:prstDash val="solid"/>
          </a:ln>
        </p:spPr>
        <p:txBody>
          <a:bodyPr/>
          <a:lstStyle/>
          <a:p>
            <a:endParaRPr lang="en-US"/>
          </a:p>
        </p:txBody>
      </p:sp>
      <p:sp>
        <p:nvSpPr>
          <p:cNvPr id="17" name="Text 15"/>
          <p:cNvSpPr/>
          <p:nvPr/>
        </p:nvSpPr>
        <p:spPr>
          <a:xfrm>
            <a:off x="1197864" y="3072384"/>
            <a:ext cx="4736592" cy="548640"/>
          </a:xfrm>
          <a:prstGeom prst="rect">
            <a:avLst/>
          </a:prstGeom>
          <a:noFill/>
          <a:ln/>
        </p:spPr>
        <p:txBody>
          <a:bodyPr wrap="square" lIns="0" tIns="0" rIns="0" bIns="0" rtlCol="0" anchor="ctr">
            <a:normAutofit/>
          </a:bodyPr>
          <a:lstStyle/>
          <a:p>
            <a:pPr marL="0" indent="0" algn="ctr">
              <a:buNone/>
            </a:pPr>
            <a:r>
              <a:rPr lang="en-US" sz="2300" dirty="0">
                <a:solidFill>
                  <a:srgbClr val="111827"/>
                </a:solidFill>
                <a:latin typeface="Aptos" pitchFamily="34" charset="0"/>
                <a:ea typeface="Aptos" pitchFamily="34" charset="-122"/>
                <a:cs typeface="Aptos" pitchFamily="34" charset="-120"/>
              </a:rPr>
              <a:t>Schur form keeps this off-diagonal information.</a:t>
            </a:r>
            <a:endParaRPr lang="en-US" sz="2300" dirty="0"/>
          </a:p>
        </p:txBody>
      </p:sp>
      <p:sp>
        <p:nvSpPr>
          <p:cNvPr id="18" name="Text 16"/>
          <p:cNvSpPr/>
          <p:nvPr/>
        </p:nvSpPr>
        <p:spPr>
          <a:xfrm>
            <a:off x="1005840" y="4114800"/>
            <a:ext cx="10332720" cy="1325880"/>
          </a:xfrm>
          <a:prstGeom prst="rect">
            <a:avLst/>
          </a:prstGeom>
          <a:noFill/>
          <a:ln/>
        </p:spPr>
        <p:txBody>
          <a:bodyPr wrap="square" lIns="1016" tIns="1016" rIns="1016" bIns="1016" rtlCol="0" anchor="ctr">
            <a:normAutofit/>
          </a:bodyPr>
          <a:lstStyle/>
          <a:p>
            <a:r>
              <a:rPr lang="en-US" sz="2000" dirty="0">
                <a:solidFill>
                  <a:srgbClr val="111827"/>
                </a:solidFill>
                <a:latin typeface="Aptos" pitchFamily="34" charset="0"/>
                <a:ea typeface="Aptos" pitchFamily="34" charset="-122"/>
                <a:cs typeface="Aptos" pitchFamily="34" charset="-120"/>
              </a:rPr>
              <a:t>Normal matrices are controlled by their eigenvalues.
</a:t>
            </a:r>
            <a:endParaRPr lang="en-US" sz="2000" dirty="0"/>
          </a:p>
          <a:p>
            <a:r>
              <a:rPr lang="en-US" sz="2000" dirty="0">
                <a:solidFill>
                  <a:srgbClr val="111827"/>
                </a:solidFill>
                <a:latin typeface="Aptos" pitchFamily="34" charset="0"/>
                <a:ea typeface="Aptos" pitchFamily="34" charset="-122"/>
                <a:cs typeface="Aptos" pitchFamily="34" charset="-120"/>
              </a:rPr>
              <a:t>Nonnormal matrices may have transient growth invisible from eigenvalues alone.
</a:t>
            </a:r>
            <a:endParaRPr lang="en-US" sz="2000" dirty="0"/>
          </a:p>
          <a:p>
            <a:r>
              <a:rPr lang="en-US" sz="2000" dirty="0">
                <a:solidFill>
                  <a:srgbClr val="111827"/>
                </a:solidFill>
                <a:latin typeface="Aptos" pitchFamily="34" charset="0"/>
                <a:ea typeface="Aptos" pitchFamily="34" charset="-122"/>
                <a:cs typeface="Aptos" pitchFamily="34" charset="-120"/>
              </a:rPr>
              <a:t>The off-diagonal entries of T are therefore not “noise”; they are important structure.</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Algorithmic reason: Schur is what QR iteration computes</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11 / 25</a:t>
            </a:r>
            <a:endParaRPr lang="en-US" sz="850" dirty="0"/>
          </a:p>
        </p:txBody>
      </p:sp>
      <p:sp>
        <p:nvSpPr>
          <p:cNvPr id="8" name="Shape 6"/>
          <p:cNvSpPr/>
          <p:nvPr/>
        </p:nvSpPr>
        <p:spPr>
          <a:xfrm>
            <a:off x="822960" y="1188720"/>
            <a:ext cx="2194560" cy="914400"/>
          </a:xfrm>
          <a:prstGeom prst="roundRect">
            <a:avLst>
              <a:gd name="adj" fmla="val 10000"/>
            </a:avLst>
          </a:prstGeom>
          <a:solidFill>
            <a:srgbClr val="F3F6F8"/>
          </a:solidFill>
          <a:ln w="13970">
            <a:solidFill>
              <a:srgbClr val="E3EAF0"/>
            </a:solidFill>
            <a:prstDash val="solid"/>
          </a:ln>
        </p:spPr>
        <p:txBody>
          <a:bodyPr/>
          <a:lstStyle/>
          <a:p>
            <a:endParaRPr lang="en-US"/>
          </a:p>
        </p:txBody>
      </p:sp>
      <p:sp>
        <p:nvSpPr>
          <p:cNvPr id="9" name="Text 7"/>
          <p:cNvSpPr/>
          <p:nvPr/>
        </p:nvSpPr>
        <p:spPr>
          <a:xfrm>
            <a:off x="969264" y="1298448"/>
            <a:ext cx="190195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Start</a:t>
            </a:r>
            <a:endParaRPr lang="en-US" sz="1500" dirty="0"/>
          </a:p>
        </p:txBody>
      </p:sp>
      <p:sp>
        <p:nvSpPr>
          <p:cNvPr id="10" name="Text 8"/>
          <p:cNvSpPr/>
          <p:nvPr/>
        </p:nvSpPr>
        <p:spPr>
          <a:xfrm>
            <a:off x="969264" y="1673352"/>
            <a:ext cx="1901952" cy="320040"/>
          </a:xfrm>
          <a:prstGeom prst="rect">
            <a:avLst/>
          </a:prstGeom>
          <a:noFill/>
          <a:ln/>
        </p:spPr>
        <p:txBody>
          <a:bodyPr wrap="square" lIns="0" tIns="0" rIns="0" bIns="0" rtlCol="0" anchor="ctr">
            <a:normAutofit/>
          </a:bodyPr>
          <a:lstStyle/>
          <a:p>
            <a:pPr marL="0" indent="0" algn="l">
              <a:buNone/>
            </a:pPr>
            <a:r>
              <a:rPr lang="en-US" sz="2300" dirty="0">
                <a:solidFill>
                  <a:srgbClr val="111827"/>
                </a:solidFill>
                <a:latin typeface="Aptos" pitchFamily="34" charset="0"/>
                <a:ea typeface="Aptos" pitchFamily="34" charset="-122"/>
                <a:cs typeface="Aptos" pitchFamily="34" charset="-120"/>
              </a:rPr>
              <a:t>A₀ = A</a:t>
            </a:r>
            <a:endParaRPr lang="en-US" sz="2300" dirty="0"/>
          </a:p>
        </p:txBody>
      </p:sp>
      <p:sp>
        <p:nvSpPr>
          <p:cNvPr id="11" name="Shape 9"/>
          <p:cNvSpPr/>
          <p:nvPr/>
        </p:nvSpPr>
        <p:spPr>
          <a:xfrm>
            <a:off x="3154680" y="1645920"/>
            <a:ext cx="731520" cy="0"/>
          </a:xfrm>
          <a:prstGeom prst="line">
            <a:avLst/>
          </a:prstGeom>
          <a:noFill/>
          <a:ln w="27940">
            <a:solidFill>
              <a:srgbClr val="083D62"/>
            </a:solidFill>
            <a:prstDash val="solid"/>
            <a:headEnd type="none"/>
            <a:tailEnd type="triangle"/>
          </a:ln>
        </p:spPr>
        <p:txBody>
          <a:bodyPr/>
          <a:lstStyle/>
          <a:p>
            <a:endParaRPr lang="en-US"/>
          </a:p>
        </p:txBody>
      </p:sp>
      <p:sp>
        <p:nvSpPr>
          <p:cNvPr id="12" name="Shape 10"/>
          <p:cNvSpPr/>
          <p:nvPr/>
        </p:nvSpPr>
        <p:spPr>
          <a:xfrm>
            <a:off x="3977640" y="1188720"/>
            <a:ext cx="2331720" cy="914400"/>
          </a:xfrm>
          <a:prstGeom prst="roundRect">
            <a:avLst>
              <a:gd name="adj" fmla="val 10000"/>
            </a:avLst>
          </a:prstGeom>
          <a:solidFill>
            <a:srgbClr val="F3F6F8"/>
          </a:solidFill>
          <a:ln w="13970">
            <a:solidFill>
              <a:srgbClr val="E3EAF0"/>
            </a:solidFill>
            <a:prstDash val="solid"/>
          </a:ln>
        </p:spPr>
        <p:txBody>
          <a:bodyPr/>
          <a:lstStyle/>
          <a:p>
            <a:endParaRPr lang="en-US"/>
          </a:p>
        </p:txBody>
      </p:sp>
      <p:sp>
        <p:nvSpPr>
          <p:cNvPr id="13" name="Text 11"/>
          <p:cNvSpPr/>
          <p:nvPr/>
        </p:nvSpPr>
        <p:spPr>
          <a:xfrm>
            <a:off x="4123944" y="1298448"/>
            <a:ext cx="203911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QR step</a:t>
            </a:r>
            <a:endParaRPr lang="en-US" sz="1500" dirty="0"/>
          </a:p>
        </p:txBody>
      </p:sp>
      <p:sp>
        <p:nvSpPr>
          <p:cNvPr id="14" name="Text 12"/>
          <p:cNvSpPr/>
          <p:nvPr/>
        </p:nvSpPr>
        <p:spPr>
          <a:xfrm>
            <a:off x="4123944" y="1673352"/>
            <a:ext cx="2039112" cy="320040"/>
          </a:xfrm>
          <a:prstGeom prst="rect">
            <a:avLst/>
          </a:prstGeom>
          <a:noFill/>
          <a:ln/>
        </p:spPr>
        <p:txBody>
          <a:bodyPr wrap="square" lIns="0" tIns="0" rIns="0" bIns="0" rtlCol="0" anchor="ctr">
            <a:normAutofit/>
          </a:bodyPr>
          <a:lstStyle/>
          <a:p>
            <a:pPr marL="0" indent="0" algn="l">
              <a:buNone/>
            </a:pPr>
            <a:r>
              <a:rPr lang="en-US" sz="2100" dirty="0">
                <a:solidFill>
                  <a:srgbClr val="111827"/>
                </a:solidFill>
                <a:latin typeface="Aptos" pitchFamily="34" charset="0"/>
                <a:ea typeface="Aptos" pitchFamily="34" charset="-122"/>
                <a:cs typeface="Aptos" pitchFamily="34" charset="-120"/>
              </a:rPr>
              <a:t>Aₖ = Qₖ Rₖ</a:t>
            </a:r>
            <a:endParaRPr lang="en-US" sz="2100" dirty="0"/>
          </a:p>
        </p:txBody>
      </p:sp>
      <p:sp>
        <p:nvSpPr>
          <p:cNvPr id="15" name="Shape 13"/>
          <p:cNvSpPr/>
          <p:nvPr/>
        </p:nvSpPr>
        <p:spPr>
          <a:xfrm>
            <a:off x="6446520" y="1645920"/>
            <a:ext cx="731520" cy="0"/>
          </a:xfrm>
          <a:prstGeom prst="line">
            <a:avLst/>
          </a:prstGeom>
          <a:noFill/>
          <a:ln w="27940">
            <a:solidFill>
              <a:srgbClr val="083D62"/>
            </a:solidFill>
            <a:prstDash val="solid"/>
            <a:headEnd type="none"/>
            <a:tailEnd type="triangle"/>
          </a:ln>
        </p:spPr>
        <p:txBody>
          <a:bodyPr/>
          <a:lstStyle/>
          <a:p>
            <a:endParaRPr lang="en-US"/>
          </a:p>
        </p:txBody>
      </p:sp>
      <p:sp>
        <p:nvSpPr>
          <p:cNvPr id="16" name="Shape 14"/>
          <p:cNvSpPr/>
          <p:nvPr/>
        </p:nvSpPr>
        <p:spPr>
          <a:xfrm>
            <a:off x="7269480" y="1188720"/>
            <a:ext cx="2514600" cy="914400"/>
          </a:xfrm>
          <a:prstGeom prst="roundRect">
            <a:avLst>
              <a:gd name="adj" fmla="val 10000"/>
            </a:avLst>
          </a:prstGeom>
          <a:solidFill>
            <a:srgbClr val="F3F6F8"/>
          </a:solidFill>
          <a:ln w="13970">
            <a:solidFill>
              <a:srgbClr val="E3EAF0"/>
            </a:solidFill>
            <a:prstDash val="solid"/>
          </a:ln>
        </p:spPr>
        <p:txBody>
          <a:bodyPr/>
          <a:lstStyle/>
          <a:p>
            <a:endParaRPr lang="en-US"/>
          </a:p>
        </p:txBody>
      </p:sp>
      <p:sp>
        <p:nvSpPr>
          <p:cNvPr id="17" name="Text 15"/>
          <p:cNvSpPr/>
          <p:nvPr/>
        </p:nvSpPr>
        <p:spPr>
          <a:xfrm>
            <a:off x="7415784" y="1298448"/>
            <a:ext cx="22219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Reverse</a:t>
            </a:r>
            <a:endParaRPr lang="en-US" sz="1500" dirty="0"/>
          </a:p>
        </p:txBody>
      </p:sp>
      <p:sp>
        <p:nvSpPr>
          <p:cNvPr id="18" name="Text 16"/>
          <p:cNvSpPr/>
          <p:nvPr/>
        </p:nvSpPr>
        <p:spPr>
          <a:xfrm>
            <a:off x="7415784" y="1673352"/>
            <a:ext cx="2221992" cy="320040"/>
          </a:xfrm>
          <a:prstGeom prst="rect">
            <a:avLst/>
          </a:prstGeom>
          <a:noFill/>
          <a:ln/>
        </p:spPr>
        <p:txBody>
          <a:bodyPr wrap="square" lIns="0" tIns="0" rIns="0" bIns="0" rtlCol="0" anchor="ctr">
            <a:normAutofit/>
          </a:bodyPr>
          <a:lstStyle/>
          <a:p>
            <a:pPr marL="0" indent="0" algn="l">
              <a:buNone/>
            </a:pPr>
            <a:r>
              <a:rPr lang="en-US" sz="2100" dirty="0">
                <a:solidFill>
                  <a:srgbClr val="111827"/>
                </a:solidFill>
                <a:latin typeface="Aptos" pitchFamily="34" charset="0"/>
                <a:ea typeface="Aptos" pitchFamily="34" charset="-122"/>
                <a:cs typeface="Aptos" pitchFamily="34" charset="-120"/>
              </a:rPr>
              <a:t>Aₖ₊₁ = Rₖ Qₖ</a:t>
            </a:r>
            <a:endParaRPr lang="en-US" sz="2100" dirty="0"/>
          </a:p>
        </p:txBody>
      </p:sp>
      <p:sp>
        <p:nvSpPr>
          <p:cNvPr id="19" name="Shape 17"/>
          <p:cNvSpPr/>
          <p:nvPr/>
        </p:nvSpPr>
        <p:spPr>
          <a:xfrm>
            <a:off x="9921240" y="1645920"/>
            <a:ext cx="731520" cy="0"/>
          </a:xfrm>
          <a:prstGeom prst="line">
            <a:avLst/>
          </a:prstGeom>
          <a:noFill/>
          <a:ln w="27940">
            <a:solidFill>
              <a:srgbClr val="083D62"/>
            </a:solidFill>
            <a:prstDash val="solid"/>
            <a:headEnd type="none"/>
            <a:tailEnd type="triangle"/>
          </a:ln>
        </p:spPr>
        <p:txBody>
          <a:bodyPr/>
          <a:lstStyle/>
          <a:p>
            <a:endParaRPr lang="en-US"/>
          </a:p>
        </p:txBody>
      </p:sp>
      <p:sp>
        <p:nvSpPr>
          <p:cNvPr id="20" name="Shape 18"/>
          <p:cNvSpPr/>
          <p:nvPr/>
        </p:nvSpPr>
        <p:spPr>
          <a:xfrm>
            <a:off x="10287000" y="2788920"/>
            <a:ext cx="1508760" cy="914400"/>
          </a:xfrm>
          <a:prstGeom prst="roundRect">
            <a:avLst>
              <a:gd name="adj" fmla="val 10000"/>
            </a:avLst>
          </a:prstGeom>
          <a:solidFill>
            <a:srgbClr val="EAF4F4"/>
          </a:solidFill>
          <a:ln w="13970">
            <a:solidFill>
              <a:srgbClr val="0E6B68"/>
            </a:solidFill>
            <a:prstDash val="solid"/>
          </a:ln>
        </p:spPr>
        <p:txBody>
          <a:bodyPr/>
          <a:lstStyle/>
          <a:p>
            <a:endParaRPr lang="en-US"/>
          </a:p>
        </p:txBody>
      </p:sp>
      <p:sp>
        <p:nvSpPr>
          <p:cNvPr id="21" name="Text 19"/>
          <p:cNvSpPr/>
          <p:nvPr/>
        </p:nvSpPr>
        <p:spPr>
          <a:xfrm>
            <a:off x="10433304" y="2898648"/>
            <a:ext cx="121615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Limit</a:t>
            </a:r>
            <a:endParaRPr lang="en-US" sz="1500" dirty="0"/>
          </a:p>
        </p:txBody>
      </p:sp>
      <p:sp>
        <p:nvSpPr>
          <p:cNvPr id="22" name="Text 20"/>
          <p:cNvSpPr/>
          <p:nvPr/>
        </p:nvSpPr>
        <p:spPr>
          <a:xfrm>
            <a:off x="10433304" y="3273552"/>
            <a:ext cx="1216152" cy="320040"/>
          </a:xfrm>
          <a:prstGeom prst="rect">
            <a:avLst/>
          </a:prstGeom>
          <a:noFill/>
          <a:ln/>
        </p:spPr>
        <p:txBody>
          <a:bodyPr wrap="square" lIns="0" tIns="0" rIns="0" bIns="0" rtlCol="0" anchor="ctr">
            <a:normAutofit/>
          </a:bodyPr>
          <a:lstStyle/>
          <a:p>
            <a:pPr marL="0" indent="0" algn="l">
              <a:buNone/>
            </a:pPr>
            <a:r>
              <a:rPr lang="en-US" sz="1900" dirty="0">
                <a:solidFill>
                  <a:srgbClr val="111827"/>
                </a:solidFill>
                <a:latin typeface="Aptos" pitchFamily="34" charset="0"/>
                <a:ea typeface="Aptos" pitchFamily="34" charset="-122"/>
                <a:cs typeface="Aptos" pitchFamily="34" charset="-120"/>
              </a:rPr>
              <a:t>Schur form T</a:t>
            </a:r>
            <a:endParaRPr lang="en-US" sz="1900" dirty="0"/>
          </a:p>
        </p:txBody>
      </p:sp>
      <p:sp>
        <p:nvSpPr>
          <p:cNvPr id="23" name="Text 21"/>
          <p:cNvSpPr/>
          <p:nvPr/>
        </p:nvSpPr>
        <p:spPr>
          <a:xfrm>
            <a:off x="960120" y="3794760"/>
            <a:ext cx="9875520" cy="1417320"/>
          </a:xfrm>
          <a:prstGeom prst="rect">
            <a:avLst/>
          </a:prstGeom>
          <a:noFill/>
          <a:ln/>
        </p:spPr>
        <p:txBody>
          <a:bodyPr wrap="square" lIns="1016" tIns="1016" rIns="1016" bIns="1016" rtlCol="0" anchor="ctr">
            <a:normAutofit/>
          </a:bodyPr>
          <a:lstStyle/>
          <a:p>
            <a:r>
              <a:rPr lang="en-US" sz="2100" dirty="0">
                <a:solidFill>
                  <a:srgbClr val="111827"/>
                </a:solidFill>
                <a:latin typeface="Aptos" pitchFamily="34" charset="0"/>
                <a:ea typeface="Aptos" pitchFamily="34" charset="-122"/>
                <a:cs typeface="Aptos" pitchFamily="34" charset="-120"/>
              </a:rPr>
              <a:t>Each step is a similarity transformation, so eigenvalues are preserved.
</a:t>
            </a:r>
            <a:endParaRPr lang="en-US" sz="2100" dirty="0"/>
          </a:p>
          <a:p>
            <a:r>
              <a:rPr lang="en-US" sz="2100" dirty="0">
                <a:solidFill>
                  <a:srgbClr val="111827"/>
                </a:solidFill>
                <a:latin typeface="Aptos" pitchFamily="34" charset="0"/>
                <a:ea typeface="Aptos" pitchFamily="34" charset="-122"/>
                <a:cs typeface="Aptos" pitchFamily="34" charset="-120"/>
              </a:rPr>
              <a:t>Orthogonal Q factors keep the computation stable.
</a:t>
            </a:r>
            <a:endParaRPr lang="en-US" sz="2100" dirty="0"/>
          </a:p>
          <a:p>
            <a:r>
              <a:rPr lang="en-US" sz="2100" dirty="0">
                <a:solidFill>
                  <a:srgbClr val="111827"/>
                </a:solidFill>
                <a:latin typeface="Aptos" pitchFamily="34" charset="0"/>
                <a:ea typeface="Aptos" pitchFamily="34" charset="-122"/>
                <a:cs typeface="Aptos" pitchFamily="34" charset="-120"/>
              </a:rPr>
              <a:t>With shifts and deflation, this becomes the practical eigenvalue algorithm.</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When does Schur become diagonal? Normal matrices</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12 / 25</a:t>
            </a:r>
            <a:endParaRPr lang="en-US" sz="850" dirty="0"/>
          </a:p>
        </p:txBody>
      </p:sp>
      <p:sp>
        <p:nvSpPr>
          <p:cNvPr id="8" name="Shape 6"/>
          <p:cNvSpPr/>
          <p:nvPr/>
        </p:nvSpPr>
        <p:spPr>
          <a:xfrm>
            <a:off x="868680" y="1097280"/>
            <a:ext cx="4663440" cy="685800"/>
          </a:xfrm>
          <a:prstGeom prst="roundRect">
            <a:avLst>
              <a:gd name="adj" fmla="val 12000"/>
            </a:avLst>
          </a:prstGeom>
          <a:solidFill>
            <a:srgbClr val="F8FAFC"/>
          </a:solidFill>
          <a:ln w="15240">
            <a:solidFill>
              <a:srgbClr val="083D62"/>
            </a:solidFill>
            <a:prstDash val="solid"/>
          </a:ln>
        </p:spPr>
        <p:txBody>
          <a:bodyPr/>
          <a:lstStyle/>
          <a:p>
            <a:endParaRPr lang="en-US"/>
          </a:p>
        </p:txBody>
      </p:sp>
      <p:sp>
        <p:nvSpPr>
          <p:cNvPr id="9" name="Text 7"/>
          <p:cNvSpPr/>
          <p:nvPr/>
        </p:nvSpPr>
        <p:spPr>
          <a:xfrm>
            <a:off x="1014984" y="1152144"/>
            <a:ext cx="4370832" cy="576072"/>
          </a:xfrm>
          <a:prstGeom prst="rect">
            <a:avLst/>
          </a:prstGeom>
          <a:noFill/>
          <a:ln/>
        </p:spPr>
        <p:txBody>
          <a:bodyPr wrap="square" lIns="0" tIns="0" rIns="0" bIns="0" rtlCol="0" anchor="ctr">
            <a:normAutofit/>
          </a:bodyPr>
          <a:lstStyle/>
          <a:p>
            <a:pPr marL="0" indent="0" algn="ctr">
              <a:buNone/>
            </a:pPr>
            <a:r>
              <a:rPr lang="en-US" sz="2600" dirty="0">
                <a:solidFill>
                  <a:srgbClr val="111827"/>
                </a:solidFill>
                <a:latin typeface="Aptos" pitchFamily="34" charset="0"/>
                <a:ea typeface="Aptos" pitchFamily="34" charset="-122"/>
                <a:cs typeface="Aptos" pitchFamily="34" charset="-120"/>
              </a:rPr>
              <a:t>A is normal if A*A = A A*.</a:t>
            </a:r>
            <a:endParaRPr lang="en-US" sz="2600" dirty="0"/>
          </a:p>
        </p:txBody>
      </p:sp>
      <p:sp>
        <p:nvSpPr>
          <p:cNvPr id="10" name="Shape 8"/>
          <p:cNvSpPr/>
          <p:nvPr/>
        </p:nvSpPr>
        <p:spPr>
          <a:xfrm>
            <a:off x="6080760" y="1051560"/>
            <a:ext cx="507492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11" name="Text 9"/>
          <p:cNvSpPr/>
          <p:nvPr/>
        </p:nvSpPr>
        <p:spPr>
          <a:xfrm>
            <a:off x="6227064" y="1161288"/>
            <a:ext cx="478231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Examples</a:t>
            </a:r>
            <a:endParaRPr lang="en-US" sz="1500" dirty="0"/>
          </a:p>
        </p:txBody>
      </p:sp>
      <p:sp>
        <p:nvSpPr>
          <p:cNvPr id="12" name="Text 10"/>
          <p:cNvSpPr/>
          <p:nvPr/>
        </p:nvSpPr>
        <p:spPr>
          <a:xfrm>
            <a:off x="6227064" y="1536192"/>
            <a:ext cx="4782312" cy="54864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Real symmetric: Aᵀ = A</a:t>
            </a:r>
            <a:endParaRPr lang="en-US" sz="1800" dirty="0"/>
          </a:p>
          <a:p>
            <a:pPr marL="0" indent="0" algn="l">
              <a:buNone/>
            </a:pPr>
            <a:r>
              <a:rPr lang="en-US" sz="1800" dirty="0">
                <a:solidFill>
                  <a:srgbClr val="111827"/>
                </a:solidFill>
                <a:latin typeface="Aptos" pitchFamily="34" charset="0"/>
                <a:ea typeface="Aptos" pitchFamily="34" charset="-122"/>
                <a:cs typeface="Aptos" pitchFamily="34" charset="-120"/>
              </a:rPr>
              <a:t>Complex Hermitian: A* = A</a:t>
            </a:r>
            <a:endParaRPr lang="en-US" sz="1800" dirty="0"/>
          </a:p>
          <a:p>
            <a:pPr marL="0" indent="0" algn="l">
              <a:buNone/>
            </a:pPr>
            <a:r>
              <a:rPr lang="en-US" sz="1800" dirty="0">
                <a:solidFill>
                  <a:srgbClr val="111827"/>
                </a:solidFill>
                <a:latin typeface="Aptos" pitchFamily="34" charset="0"/>
                <a:ea typeface="Aptos" pitchFamily="34" charset="-122"/>
                <a:cs typeface="Aptos" pitchFamily="34" charset="-120"/>
              </a:rPr>
              <a:t>Orthogonal or unitary matrices</a:t>
            </a:r>
            <a:endParaRPr lang="en-US" sz="1800" dirty="0"/>
          </a:p>
        </p:txBody>
      </p:sp>
      <p:sp>
        <p:nvSpPr>
          <p:cNvPr id="13" name="Text 11"/>
          <p:cNvSpPr/>
          <p:nvPr/>
        </p:nvSpPr>
        <p:spPr>
          <a:xfrm>
            <a:off x="914400" y="2788920"/>
            <a:ext cx="2743200" cy="320040"/>
          </a:xfrm>
          <a:prstGeom prst="rect">
            <a:avLst/>
          </a:prstGeom>
          <a:noFill/>
          <a:ln/>
        </p:spPr>
        <p:txBody>
          <a:bodyPr wrap="square" lIns="1016" tIns="1016" rIns="1016" bIns="1016" rtlCol="0" anchor="ctr">
            <a:normAutofit/>
          </a:bodyPr>
          <a:lstStyle/>
          <a:p>
            <a:pPr marL="0" indent="0" algn="l">
              <a:buNone/>
            </a:pPr>
            <a:r>
              <a:rPr lang="en-US" sz="2200" b="1" dirty="0">
                <a:solidFill>
                  <a:srgbClr val="083D62"/>
                </a:solidFill>
                <a:latin typeface="Aptos" pitchFamily="34" charset="0"/>
                <a:ea typeface="Aptos" pitchFamily="34" charset="-122"/>
                <a:cs typeface="Aptos" pitchFamily="34" charset="-120"/>
              </a:rPr>
              <a:t>Key theorem:</a:t>
            </a:r>
            <a:endParaRPr lang="en-US" sz="2200" dirty="0"/>
          </a:p>
        </p:txBody>
      </p:sp>
      <p:sp>
        <p:nvSpPr>
          <p:cNvPr id="14" name="Shape 12"/>
          <p:cNvSpPr/>
          <p:nvPr/>
        </p:nvSpPr>
        <p:spPr>
          <a:xfrm>
            <a:off x="914400" y="3246120"/>
            <a:ext cx="10241280" cy="960120"/>
          </a:xfrm>
          <a:prstGeom prst="roundRect">
            <a:avLst>
              <a:gd name="adj" fmla="val 8571"/>
            </a:avLst>
          </a:prstGeom>
          <a:solidFill>
            <a:srgbClr val="EAF4F4"/>
          </a:solidFill>
          <a:ln w="15240">
            <a:solidFill>
              <a:srgbClr val="0E6B68"/>
            </a:solidFill>
            <a:prstDash val="solid"/>
          </a:ln>
        </p:spPr>
        <p:txBody>
          <a:bodyPr/>
          <a:lstStyle/>
          <a:p>
            <a:endParaRPr lang="en-US"/>
          </a:p>
        </p:txBody>
      </p:sp>
      <p:sp>
        <p:nvSpPr>
          <p:cNvPr id="15" name="Text 13"/>
          <p:cNvSpPr/>
          <p:nvPr/>
        </p:nvSpPr>
        <p:spPr>
          <a:xfrm>
            <a:off x="1060704" y="3300984"/>
            <a:ext cx="9948672" cy="850392"/>
          </a:xfrm>
          <a:prstGeom prst="rect">
            <a:avLst/>
          </a:prstGeom>
          <a:noFill/>
          <a:ln/>
        </p:spPr>
        <p:txBody>
          <a:bodyPr wrap="square" lIns="0" tIns="0" rIns="0" bIns="0" rtlCol="0" anchor="ctr">
            <a:normAutofit/>
          </a:bodyPr>
          <a:lstStyle/>
          <a:p>
            <a:pPr marL="0" indent="0" algn="ctr">
              <a:buNone/>
            </a:pPr>
            <a:r>
              <a:rPr lang="en-US" sz="2600" dirty="0">
                <a:solidFill>
                  <a:srgbClr val="111827"/>
                </a:solidFill>
                <a:latin typeface="Aptos" pitchFamily="34" charset="0"/>
                <a:ea typeface="Aptos" pitchFamily="34" charset="-122"/>
                <a:cs typeface="Aptos" pitchFamily="34" charset="-120"/>
              </a:rPr>
              <a:t>A is normal  ⇔  A = Q Λ Q*</a:t>
            </a:r>
            <a:endParaRPr lang="en-US" sz="2600" dirty="0"/>
          </a:p>
          <a:p>
            <a:pPr marL="0" indent="0" algn="ctr">
              <a:buNone/>
            </a:pPr>
            <a:r>
              <a:rPr lang="en-US" sz="2600" dirty="0">
                <a:solidFill>
                  <a:srgbClr val="111827"/>
                </a:solidFill>
                <a:latin typeface="Aptos" pitchFamily="34" charset="0"/>
                <a:ea typeface="Aptos" pitchFamily="34" charset="-122"/>
                <a:cs typeface="Aptos" pitchFamily="34" charset="-120"/>
              </a:rPr>
              <a:t>with Q unitary and Λ diagonal.</a:t>
            </a:r>
            <a:endParaRPr lang="en-US" sz="2600" dirty="0"/>
          </a:p>
        </p:txBody>
      </p:sp>
      <p:sp>
        <p:nvSpPr>
          <p:cNvPr id="16" name="Text 14"/>
          <p:cNvSpPr/>
          <p:nvPr/>
        </p:nvSpPr>
        <p:spPr>
          <a:xfrm>
            <a:off x="1005840" y="4892040"/>
            <a:ext cx="10058400" cy="457200"/>
          </a:xfrm>
          <a:prstGeom prst="rect">
            <a:avLst/>
          </a:prstGeom>
          <a:noFill/>
          <a:ln/>
        </p:spPr>
        <p:txBody>
          <a:bodyPr wrap="square" lIns="1016" tIns="1016" rIns="1016" bIns="1016" rtlCol="0" anchor="ctr">
            <a:normAutofit/>
          </a:bodyPr>
          <a:lstStyle/>
          <a:p>
            <a:pPr marL="0" indent="0" algn="ctr">
              <a:buNone/>
            </a:pPr>
            <a:r>
              <a:rPr lang="en-US" sz="2100" dirty="0">
                <a:solidFill>
                  <a:srgbClr val="111827"/>
                </a:solidFill>
                <a:latin typeface="Aptos" pitchFamily="34" charset="0"/>
                <a:ea typeface="Aptos" pitchFamily="34" charset="-122"/>
                <a:cs typeface="Aptos" pitchFamily="34" charset="-120"/>
              </a:rPr>
              <a:t>Interpretation: normal matrices are exactly the matrices whose Schur form has no off-diagonal coupling.</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The spectral theorem for real symmetric matrices</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13 / 25</a:t>
            </a:r>
            <a:endParaRPr lang="en-US" sz="850" dirty="0"/>
          </a:p>
        </p:txBody>
      </p:sp>
      <p:sp>
        <p:nvSpPr>
          <p:cNvPr id="8" name="Shape 6"/>
          <p:cNvSpPr/>
          <p:nvPr/>
        </p:nvSpPr>
        <p:spPr>
          <a:xfrm>
            <a:off x="822960" y="1097280"/>
            <a:ext cx="10561320" cy="777240"/>
          </a:xfrm>
          <a:prstGeom prst="roundRect">
            <a:avLst>
              <a:gd name="adj" fmla="val 10588"/>
            </a:avLst>
          </a:prstGeom>
          <a:solidFill>
            <a:srgbClr val="EAF4F4"/>
          </a:solidFill>
          <a:ln w="15240">
            <a:solidFill>
              <a:srgbClr val="0E6B68"/>
            </a:solidFill>
            <a:prstDash val="solid"/>
          </a:ln>
        </p:spPr>
        <p:txBody>
          <a:bodyPr/>
          <a:lstStyle/>
          <a:p>
            <a:endParaRPr lang="en-US"/>
          </a:p>
        </p:txBody>
      </p:sp>
      <p:sp>
        <p:nvSpPr>
          <p:cNvPr id="9" name="Text 7"/>
          <p:cNvSpPr/>
          <p:nvPr/>
        </p:nvSpPr>
        <p:spPr>
          <a:xfrm>
            <a:off x="969264" y="1152144"/>
            <a:ext cx="10268712" cy="667512"/>
          </a:xfrm>
          <a:prstGeom prst="rect">
            <a:avLst/>
          </a:prstGeom>
          <a:noFill/>
          <a:ln/>
        </p:spPr>
        <p:txBody>
          <a:bodyPr wrap="square" lIns="0" tIns="0" rIns="0" bIns="0" rtlCol="0" anchor="ctr">
            <a:normAutofit/>
          </a:bodyPr>
          <a:lstStyle/>
          <a:p>
            <a:pPr marL="0" indent="0" algn="ctr">
              <a:buNone/>
            </a:pPr>
            <a:r>
              <a:rPr lang="en-US" sz="3000" dirty="0">
                <a:solidFill>
                  <a:srgbClr val="111827"/>
                </a:solidFill>
                <a:latin typeface="Aptos" pitchFamily="34" charset="0"/>
                <a:ea typeface="Aptos" pitchFamily="34" charset="-122"/>
                <a:cs typeface="Aptos" pitchFamily="34" charset="-120"/>
              </a:rPr>
              <a:t>If A = Aᵀ, then A = Q Λ Qᵀ.</a:t>
            </a:r>
            <a:endParaRPr lang="en-US" sz="3000" dirty="0"/>
          </a:p>
        </p:txBody>
      </p:sp>
      <p:sp>
        <p:nvSpPr>
          <p:cNvPr id="10" name="Shape 8"/>
          <p:cNvSpPr/>
          <p:nvPr/>
        </p:nvSpPr>
        <p:spPr>
          <a:xfrm>
            <a:off x="960120" y="2423160"/>
            <a:ext cx="306324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11" name="Text 9"/>
          <p:cNvSpPr/>
          <p:nvPr/>
        </p:nvSpPr>
        <p:spPr>
          <a:xfrm>
            <a:off x="1106424" y="2532888"/>
            <a:ext cx="27706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Q</a:t>
            </a:r>
            <a:endParaRPr lang="en-US" sz="1500" dirty="0"/>
          </a:p>
        </p:txBody>
      </p:sp>
      <p:sp>
        <p:nvSpPr>
          <p:cNvPr id="12" name="Text 10"/>
          <p:cNvSpPr/>
          <p:nvPr/>
        </p:nvSpPr>
        <p:spPr>
          <a:xfrm>
            <a:off x="1106424" y="2907792"/>
            <a:ext cx="2770632" cy="548640"/>
          </a:xfrm>
          <a:prstGeom prst="rect">
            <a:avLst/>
          </a:prstGeom>
          <a:noFill/>
          <a:ln/>
        </p:spPr>
        <p:txBody>
          <a:bodyPr wrap="square" lIns="0" tIns="0" rIns="0" bIns="0" rtlCol="0" anchor="ctr">
            <a:normAutofit/>
          </a:bodyPr>
          <a:lstStyle/>
          <a:p>
            <a:pPr marL="0" indent="0" algn="l">
              <a:buNone/>
            </a:pPr>
            <a:r>
              <a:rPr lang="en-US" sz="2100" dirty="0">
                <a:solidFill>
                  <a:srgbClr val="111827"/>
                </a:solidFill>
                <a:latin typeface="Aptos" pitchFamily="34" charset="0"/>
                <a:ea typeface="Aptos" pitchFamily="34" charset="-122"/>
                <a:cs typeface="Aptos" pitchFamily="34" charset="-120"/>
              </a:rPr>
              <a:t>Orthogonal matrix.</a:t>
            </a:r>
            <a:endParaRPr lang="en-US" sz="2100" dirty="0"/>
          </a:p>
          <a:p>
            <a:pPr marL="0" indent="0" algn="l">
              <a:buNone/>
            </a:pPr>
            <a:r>
              <a:rPr lang="en-US" sz="2100" dirty="0">
                <a:solidFill>
                  <a:srgbClr val="111827"/>
                </a:solidFill>
                <a:latin typeface="Aptos" pitchFamily="34" charset="0"/>
                <a:ea typeface="Aptos" pitchFamily="34" charset="-122"/>
                <a:cs typeface="Aptos" pitchFamily="34" charset="-120"/>
              </a:rPr>
              <a:t>Columns are eigenvectors.</a:t>
            </a:r>
            <a:endParaRPr lang="en-US" sz="2100" dirty="0"/>
          </a:p>
        </p:txBody>
      </p:sp>
      <p:sp>
        <p:nvSpPr>
          <p:cNvPr id="13" name="Shape 11"/>
          <p:cNvSpPr/>
          <p:nvPr/>
        </p:nvSpPr>
        <p:spPr>
          <a:xfrm>
            <a:off x="4572000" y="2423160"/>
            <a:ext cx="306324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14" name="Text 12"/>
          <p:cNvSpPr/>
          <p:nvPr/>
        </p:nvSpPr>
        <p:spPr>
          <a:xfrm>
            <a:off x="4718304" y="2532888"/>
            <a:ext cx="27706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Λ</a:t>
            </a:r>
            <a:endParaRPr lang="en-US" sz="1500" dirty="0"/>
          </a:p>
        </p:txBody>
      </p:sp>
      <p:sp>
        <p:nvSpPr>
          <p:cNvPr id="15" name="Text 13"/>
          <p:cNvSpPr/>
          <p:nvPr/>
        </p:nvSpPr>
        <p:spPr>
          <a:xfrm>
            <a:off x="4718304" y="2907792"/>
            <a:ext cx="2770632" cy="548640"/>
          </a:xfrm>
          <a:prstGeom prst="rect">
            <a:avLst/>
          </a:prstGeom>
          <a:noFill/>
          <a:ln/>
        </p:spPr>
        <p:txBody>
          <a:bodyPr wrap="square" lIns="0" tIns="0" rIns="0" bIns="0" rtlCol="0" anchor="ctr">
            <a:normAutofit/>
          </a:bodyPr>
          <a:lstStyle/>
          <a:p>
            <a:pPr marL="0" indent="0" algn="l">
              <a:buNone/>
            </a:pPr>
            <a:r>
              <a:rPr lang="en-US" sz="2100" dirty="0">
                <a:solidFill>
                  <a:srgbClr val="111827"/>
                </a:solidFill>
                <a:latin typeface="Aptos" pitchFamily="34" charset="0"/>
                <a:ea typeface="Aptos" pitchFamily="34" charset="-122"/>
                <a:cs typeface="Aptos" pitchFamily="34" charset="-120"/>
              </a:rPr>
              <a:t>Real diagonal matrix.</a:t>
            </a:r>
            <a:endParaRPr lang="en-US" sz="2100" dirty="0"/>
          </a:p>
          <a:p>
            <a:pPr marL="0" indent="0" algn="l">
              <a:buNone/>
            </a:pPr>
            <a:r>
              <a:rPr lang="en-US" sz="2100" dirty="0">
                <a:solidFill>
                  <a:srgbClr val="111827"/>
                </a:solidFill>
                <a:latin typeface="Aptos" pitchFamily="34" charset="0"/>
                <a:ea typeface="Aptos" pitchFamily="34" charset="-122"/>
                <a:cs typeface="Aptos" pitchFamily="34" charset="-120"/>
              </a:rPr>
              <a:t>Diagonal entries are eigenvalues.</a:t>
            </a:r>
            <a:endParaRPr lang="en-US" sz="2100" dirty="0"/>
          </a:p>
        </p:txBody>
      </p:sp>
      <p:sp>
        <p:nvSpPr>
          <p:cNvPr id="16" name="Shape 14"/>
          <p:cNvSpPr/>
          <p:nvPr/>
        </p:nvSpPr>
        <p:spPr>
          <a:xfrm>
            <a:off x="8183880" y="2423160"/>
            <a:ext cx="306324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17" name="Text 15"/>
          <p:cNvSpPr/>
          <p:nvPr/>
        </p:nvSpPr>
        <p:spPr>
          <a:xfrm>
            <a:off x="8330184" y="2532888"/>
            <a:ext cx="27706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Geometry</a:t>
            </a:r>
            <a:endParaRPr lang="en-US" sz="1500" dirty="0"/>
          </a:p>
        </p:txBody>
      </p:sp>
      <p:sp>
        <p:nvSpPr>
          <p:cNvPr id="18" name="Text 16"/>
          <p:cNvSpPr/>
          <p:nvPr/>
        </p:nvSpPr>
        <p:spPr>
          <a:xfrm>
            <a:off x="8330184" y="2907792"/>
            <a:ext cx="2770632" cy="548640"/>
          </a:xfrm>
          <a:prstGeom prst="rect">
            <a:avLst/>
          </a:prstGeom>
          <a:noFill/>
          <a:ln/>
        </p:spPr>
        <p:txBody>
          <a:bodyPr wrap="square" lIns="0" tIns="0" rIns="0" bIns="0" rtlCol="0" anchor="ctr">
            <a:normAutofit/>
          </a:bodyPr>
          <a:lstStyle/>
          <a:p>
            <a:pPr marL="0" indent="0" algn="l">
              <a:buNone/>
            </a:pPr>
            <a:r>
              <a:rPr lang="en-US" sz="2100" dirty="0">
                <a:solidFill>
                  <a:srgbClr val="111827"/>
                </a:solidFill>
                <a:latin typeface="Aptos" pitchFamily="34" charset="0"/>
                <a:ea typeface="Aptos" pitchFamily="34" charset="-122"/>
                <a:cs typeface="Aptos" pitchFamily="34" charset="-120"/>
              </a:rPr>
              <a:t>A stretches or flips along mutually perpendicular axes.</a:t>
            </a:r>
            <a:endParaRPr lang="en-US" sz="2100" dirty="0"/>
          </a:p>
        </p:txBody>
      </p:sp>
      <p:sp>
        <p:nvSpPr>
          <p:cNvPr id="19" name="Text 17"/>
          <p:cNvSpPr/>
          <p:nvPr/>
        </p:nvSpPr>
        <p:spPr>
          <a:xfrm>
            <a:off x="914400" y="4160520"/>
            <a:ext cx="10149840" cy="1280160"/>
          </a:xfrm>
          <a:prstGeom prst="rect">
            <a:avLst/>
          </a:prstGeom>
          <a:noFill/>
          <a:ln/>
        </p:spPr>
        <p:txBody>
          <a:bodyPr wrap="square" lIns="1016" tIns="1016" rIns="1016" bIns="1016" rtlCol="0" anchor="ctr">
            <a:normAutofit/>
          </a:bodyPr>
          <a:lstStyle/>
          <a:p>
            <a:r>
              <a:rPr lang="en-US" sz="2100" dirty="0">
                <a:solidFill>
                  <a:srgbClr val="111827"/>
                </a:solidFill>
                <a:latin typeface="Aptos" pitchFamily="34" charset="0"/>
                <a:ea typeface="Aptos" pitchFamily="34" charset="-122"/>
                <a:cs typeface="Aptos" pitchFamily="34" charset="-120"/>
              </a:rPr>
              <a:t>No missing eigenvectors.
</a:t>
            </a:r>
            <a:endParaRPr lang="en-US" sz="2100" dirty="0"/>
          </a:p>
          <a:p>
            <a:r>
              <a:rPr lang="en-US" sz="2100" dirty="0">
                <a:solidFill>
                  <a:srgbClr val="111827"/>
                </a:solidFill>
                <a:latin typeface="Aptos" pitchFamily="34" charset="0"/>
                <a:ea typeface="Aptos" pitchFamily="34" charset="-122"/>
                <a:cs typeface="Aptos" pitchFamily="34" charset="-120"/>
              </a:rPr>
              <a:t>No ill-conditioned eigenvector basis.
</a:t>
            </a:r>
            <a:endParaRPr lang="en-US" sz="2100" dirty="0"/>
          </a:p>
          <a:p>
            <a:r>
              <a:rPr lang="en-US" sz="2100" dirty="0">
                <a:solidFill>
                  <a:srgbClr val="111827"/>
                </a:solidFill>
                <a:latin typeface="Aptos" pitchFamily="34" charset="0"/>
                <a:ea typeface="Aptos" pitchFamily="34" charset="-122"/>
                <a:cs typeface="Aptos" pitchFamily="34" charset="-120"/>
              </a:rPr>
              <a:t>Eigenvalues fully control the 2-norm behavior.
</a:t>
            </a:r>
            <a:endParaRPr lang="en-US" sz="2100" dirty="0"/>
          </a:p>
          <a:p>
            <a:r>
              <a:rPr lang="en-US" sz="2100" dirty="0">
                <a:solidFill>
                  <a:srgbClr val="111827"/>
                </a:solidFill>
                <a:latin typeface="Aptos" pitchFamily="34" charset="0"/>
                <a:ea typeface="Aptos" pitchFamily="34" charset="-122"/>
                <a:cs typeface="Aptos" pitchFamily="34" charset="-120"/>
              </a:rPr>
              <a:t>This is the linear algebra behind PCA covariance matrices.</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Example 4: diagonalizing a symmetric matrix</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14 / 25</a:t>
            </a:r>
            <a:endParaRPr lang="en-US" sz="850" dirty="0"/>
          </a:p>
        </p:txBody>
      </p:sp>
      <p:sp>
        <p:nvSpPr>
          <p:cNvPr id="8" name="Shape 6"/>
          <p:cNvSpPr/>
          <p:nvPr/>
        </p:nvSpPr>
        <p:spPr>
          <a:xfrm>
            <a:off x="777240" y="1051560"/>
            <a:ext cx="2880360" cy="1051560"/>
          </a:xfrm>
          <a:prstGeom prst="roundRect">
            <a:avLst>
              <a:gd name="adj" fmla="val 6957"/>
            </a:avLst>
          </a:prstGeom>
          <a:solidFill>
            <a:srgbClr val="F8FAFC"/>
          </a:solidFill>
          <a:ln w="12700">
            <a:solidFill>
              <a:srgbClr val="E3EAF0"/>
            </a:solidFill>
            <a:prstDash val="solid"/>
          </a:ln>
        </p:spPr>
        <p:txBody>
          <a:bodyPr/>
          <a:lstStyle/>
          <a:p>
            <a:endParaRPr lang="en-US"/>
          </a:p>
        </p:txBody>
      </p:sp>
      <p:sp>
        <p:nvSpPr>
          <p:cNvPr id="9" name="Text 7"/>
          <p:cNvSpPr/>
          <p:nvPr/>
        </p:nvSpPr>
        <p:spPr>
          <a:xfrm>
            <a:off x="914400" y="1143000"/>
            <a:ext cx="2606040" cy="868680"/>
          </a:xfrm>
          <a:prstGeom prst="rect">
            <a:avLst/>
          </a:prstGeom>
          <a:noFill/>
          <a:ln/>
        </p:spPr>
        <p:txBody>
          <a:bodyPr wrap="square" lIns="0" tIns="0" rIns="0" bIns="0" rtlCol="0" anchor="ctr">
            <a:normAutofit/>
          </a:bodyPr>
          <a:lstStyle/>
          <a:p>
            <a:pPr marL="0" indent="0" algn="ctr">
              <a:buNone/>
            </a:pPr>
            <a:r>
              <a:rPr lang="en-US" sz="2400" dirty="0">
                <a:solidFill>
                  <a:srgbClr val="111827"/>
                </a:solidFill>
                <a:latin typeface="Courier New" pitchFamily="34" charset="0"/>
                <a:ea typeface="Courier New" pitchFamily="34" charset="-122"/>
                <a:cs typeface="Courier New" pitchFamily="34" charset="-120"/>
              </a:rPr>
              <a:t>A = [ 3  1 ]</a:t>
            </a:r>
            <a:endParaRPr lang="en-US" sz="2400" dirty="0"/>
          </a:p>
          <a:p>
            <a:pPr marL="0" indent="0" algn="ctr">
              <a:buNone/>
            </a:pPr>
            <a:r>
              <a:rPr lang="en-US" sz="2400" dirty="0">
                <a:solidFill>
                  <a:srgbClr val="111827"/>
                </a:solidFill>
                <a:latin typeface="Courier New" pitchFamily="34" charset="0"/>
                <a:ea typeface="Courier New" pitchFamily="34" charset="-122"/>
                <a:cs typeface="Courier New" pitchFamily="34" charset="-120"/>
              </a:rPr>
              <a:t>    [ 1  3 ]</a:t>
            </a:r>
            <a:endParaRPr lang="en-US" sz="2400" dirty="0"/>
          </a:p>
        </p:txBody>
      </p:sp>
      <p:sp>
        <p:nvSpPr>
          <p:cNvPr id="10" name="Shape 8"/>
          <p:cNvSpPr/>
          <p:nvPr/>
        </p:nvSpPr>
        <p:spPr>
          <a:xfrm>
            <a:off x="4069080" y="960120"/>
            <a:ext cx="6949440" cy="1234440"/>
          </a:xfrm>
          <a:prstGeom prst="roundRect">
            <a:avLst>
              <a:gd name="adj" fmla="val 7407"/>
            </a:avLst>
          </a:prstGeom>
          <a:solidFill>
            <a:srgbClr val="F3F6F8"/>
          </a:solidFill>
          <a:ln w="13970">
            <a:solidFill>
              <a:srgbClr val="E3EAF0"/>
            </a:solidFill>
            <a:prstDash val="solid"/>
          </a:ln>
        </p:spPr>
        <p:txBody>
          <a:bodyPr/>
          <a:lstStyle/>
          <a:p>
            <a:endParaRPr lang="en-US"/>
          </a:p>
        </p:txBody>
      </p:sp>
      <p:sp>
        <p:nvSpPr>
          <p:cNvPr id="11" name="Text 9"/>
          <p:cNvSpPr/>
          <p:nvPr/>
        </p:nvSpPr>
        <p:spPr>
          <a:xfrm>
            <a:off x="4215384" y="1069848"/>
            <a:ext cx="66568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Eigenpairs</a:t>
            </a:r>
            <a:endParaRPr lang="en-US" sz="1500" dirty="0"/>
          </a:p>
        </p:txBody>
      </p:sp>
      <p:sp>
        <p:nvSpPr>
          <p:cNvPr id="12" name="Text 10"/>
          <p:cNvSpPr/>
          <p:nvPr/>
        </p:nvSpPr>
        <p:spPr>
          <a:xfrm>
            <a:off x="4215384" y="1444752"/>
            <a:ext cx="6656832" cy="640080"/>
          </a:xfrm>
          <a:prstGeom prst="rect">
            <a:avLst/>
          </a:prstGeom>
          <a:noFill/>
          <a:ln/>
        </p:spPr>
        <p:txBody>
          <a:bodyPr wrap="square" lIns="0" tIns="0" rIns="0" bIns="0" rtlCol="0" anchor="ctr">
            <a:normAutofit/>
          </a:bodyPr>
          <a:lstStyle/>
          <a:p>
            <a:pPr marL="0" indent="0" algn="l">
              <a:buNone/>
            </a:pPr>
            <a:r>
              <a:rPr lang="en-US" sz="2000" dirty="0">
                <a:solidFill>
                  <a:srgbClr val="111827"/>
                </a:solidFill>
                <a:latin typeface="Aptos" pitchFamily="34" charset="0"/>
                <a:ea typeface="Aptos" pitchFamily="34" charset="-122"/>
                <a:cs typeface="Aptos" pitchFamily="34" charset="-120"/>
              </a:rPr>
              <a:t>λ₁ = 4,  q₁ = (1,1)/√2</a:t>
            </a:r>
            <a:endParaRPr lang="en-US" sz="2000" dirty="0"/>
          </a:p>
          <a:p>
            <a:pPr marL="0" indent="0" algn="l">
              <a:buNone/>
            </a:pPr>
            <a:r>
              <a:rPr lang="en-US" sz="2000" dirty="0">
                <a:solidFill>
                  <a:srgbClr val="111827"/>
                </a:solidFill>
                <a:latin typeface="Aptos" pitchFamily="34" charset="0"/>
                <a:ea typeface="Aptos" pitchFamily="34" charset="-122"/>
                <a:cs typeface="Aptos" pitchFamily="34" charset="-120"/>
              </a:rPr>
              <a:t>λ₂ = 2,  q₂ = (1,−1)/√2</a:t>
            </a:r>
            <a:endParaRPr lang="en-US" sz="2000" dirty="0"/>
          </a:p>
        </p:txBody>
      </p:sp>
      <p:sp>
        <p:nvSpPr>
          <p:cNvPr id="13" name="Shape 11"/>
          <p:cNvSpPr/>
          <p:nvPr/>
        </p:nvSpPr>
        <p:spPr>
          <a:xfrm>
            <a:off x="960120" y="2834640"/>
            <a:ext cx="2926080" cy="594360"/>
          </a:xfrm>
          <a:prstGeom prst="roundRect">
            <a:avLst>
              <a:gd name="adj" fmla="val 13846"/>
            </a:avLst>
          </a:prstGeom>
          <a:solidFill>
            <a:srgbClr val="F8FAFC"/>
          </a:solidFill>
          <a:ln w="15240">
            <a:solidFill>
              <a:srgbClr val="083D62"/>
            </a:solidFill>
            <a:prstDash val="solid"/>
          </a:ln>
        </p:spPr>
        <p:txBody>
          <a:bodyPr/>
          <a:lstStyle/>
          <a:p>
            <a:endParaRPr lang="en-US"/>
          </a:p>
        </p:txBody>
      </p:sp>
      <p:sp>
        <p:nvSpPr>
          <p:cNvPr id="14" name="Text 12"/>
          <p:cNvSpPr/>
          <p:nvPr/>
        </p:nvSpPr>
        <p:spPr>
          <a:xfrm>
            <a:off x="1106424" y="2889504"/>
            <a:ext cx="2633472" cy="484632"/>
          </a:xfrm>
          <a:prstGeom prst="rect">
            <a:avLst/>
          </a:prstGeom>
          <a:noFill/>
          <a:ln/>
        </p:spPr>
        <p:txBody>
          <a:bodyPr wrap="square" lIns="0" tIns="0" rIns="0" bIns="0" rtlCol="0" anchor="ctr">
            <a:normAutofit/>
          </a:bodyPr>
          <a:lstStyle/>
          <a:p>
            <a:pPr marL="0" indent="0" algn="ctr">
              <a:buNone/>
            </a:pPr>
            <a:r>
              <a:rPr lang="en-US" sz="2700" dirty="0">
                <a:solidFill>
                  <a:srgbClr val="111827"/>
                </a:solidFill>
                <a:latin typeface="Aptos" pitchFamily="34" charset="0"/>
                <a:ea typeface="Aptos" pitchFamily="34" charset="-122"/>
                <a:cs typeface="Aptos" pitchFamily="34" charset="-120"/>
              </a:rPr>
              <a:t>A = Q Λ Qᵀ</a:t>
            </a:r>
            <a:endParaRPr lang="en-US" sz="2700" dirty="0"/>
          </a:p>
        </p:txBody>
      </p:sp>
      <p:sp>
        <p:nvSpPr>
          <p:cNvPr id="15" name="Shape 13"/>
          <p:cNvSpPr/>
          <p:nvPr/>
        </p:nvSpPr>
        <p:spPr>
          <a:xfrm>
            <a:off x="4343400" y="2606040"/>
            <a:ext cx="3246120" cy="960120"/>
          </a:xfrm>
          <a:prstGeom prst="roundRect">
            <a:avLst>
              <a:gd name="adj" fmla="val 7619"/>
            </a:avLst>
          </a:prstGeom>
          <a:solidFill>
            <a:srgbClr val="F8FAFC"/>
          </a:solidFill>
          <a:ln w="12700">
            <a:solidFill>
              <a:srgbClr val="E3EAF0"/>
            </a:solidFill>
            <a:prstDash val="solid"/>
          </a:ln>
        </p:spPr>
        <p:txBody>
          <a:bodyPr/>
          <a:lstStyle/>
          <a:p>
            <a:endParaRPr lang="en-US"/>
          </a:p>
        </p:txBody>
      </p:sp>
      <p:sp>
        <p:nvSpPr>
          <p:cNvPr id="16" name="Text 14"/>
          <p:cNvSpPr/>
          <p:nvPr/>
        </p:nvSpPr>
        <p:spPr>
          <a:xfrm>
            <a:off x="4480560" y="2697480"/>
            <a:ext cx="2971800" cy="777240"/>
          </a:xfrm>
          <a:prstGeom prst="rect">
            <a:avLst/>
          </a:prstGeom>
          <a:noFill/>
          <a:ln/>
        </p:spPr>
        <p:txBody>
          <a:bodyPr wrap="square" lIns="0" tIns="0" rIns="0" bIns="0" rtlCol="0" anchor="ctr">
            <a:normAutofit/>
          </a:bodyPr>
          <a:lstStyle/>
          <a:p>
            <a:pPr marL="0" indent="0" algn="ctr">
              <a:buNone/>
            </a:pPr>
            <a:r>
              <a:rPr lang="en-US" sz="1800" dirty="0">
                <a:solidFill>
                  <a:srgbClr val="111827"/>
                </a:solidFill>
                <a:latin typeface="Courier New" pitchFamily="34" charset="0"/>
                <a:ea typeface="Courier New" pitchFamily="34" charset="-122"/>
                <a:cs typeface="Courier New" pitchFamily="34" charset="-120"/>
              </a:rPr>
              <a:t>Q = 1/√2 [ 1   1 ]</a:t>
            </a:r>
            <a:endParaRPr lang="en-US" sz="1800" dirty="0"/>
          </a:p>
          <a:p>
            <a:pPr marL="0" indent="0" algn="ctr">
              <a:buNone/>
            </a:pPr>
            <a:r>
              <a:rPr lang="en-US" sz="1800" dirty="0">
                <a:solidFill>
                  <a:srgbClr val="111827"/>
                </a:solidFill>
                <a:latin typeface="Courier New" pitchFamily="34" charset="0"/>
                <a:ea typeface="Courier New" pitchFamily="34" charset="-122"/>
                <a:cs typeface="Courier New" pitchFamily="34" charset="-120"/>
              </a:rPr>
              <a:t>         [ 1  -1 ]</a:t>
            </a:r>
            <a:endParaRPr lang="en-US" sz="1800" dirty="0"/>
          </a:p>
        </p:txBody>
      </p:sp>
      <p:sp>
        <p:nvSpPr>
          <p:cNvPr id="17" name="Shape 15"/>
          <p:cNvSpPr/>
          <p:nvPr/>
        </p:nvSpPr>
        <p:spPr>
          <a:xfrm>
            <a:off x="7909560" y="2606040"/>
            <a:ext cx="2423160" cy="960120"/>
          </a:xfrm>
          <a:prstGeom prst="roundRect">
            <a:avLst>
              <a:gd name="adj" fmla="val 7619"/>
            </a:avLst>
          </a:prstGeom>
          <a:solidFill>
            <a:srgbClr val="F8FAFC"/>
          </a:solidFill>
          <a:ln w="12700">
            <a:solidFill>
              <a:srgbClr val="E3EAF0"/>
            </a:solidFill>
            <a:prstDash val="solid"/>
          </a:ln>
        </p:spPr>
        <p:txBody>
          <a:bodyPr/>
          <a:lstStyle/>
          <a:p>
            <a:endParaRPr lang="en-US"/>
          </a:p>
        </p:txBody>
      </p:sp>
      <p:sp>
        <p:nvSpPr>
          <p:cNvPr id="18" name="Text 16"/>
          <p:cNvSpPr/>
          <p:nvPr/>
        </p:nvSpPr>
        <p:spPr>
          <a:xfrm>
            <a:off x="8046720" y="2697480"/>
            <a:ext cx="2148840" cy="777240"/>
          </a:xfrm>
          <a:prstGeom prst="rect">
            <a:avLst/>
          </a:prstGeom>
          <a:noFill/>
          <a:ln/>
        </p:spPr>
        <p:txBody>
          <a:bodyPr wrap="square" lIns="0" tIns="0" rIns="0" bIns="0" rtlCol="0" anchor="ctr">
            <a:normAutofit/>
          </a:bodyPr>
          <a:lstStyle/>
          <a:p>
            <a:pPr marL="0" indent="0" algn="ctr">
              <a:buNone/>
            </a:pPr>
            <a:r>
              <a:rPr lang="en-US" sz="2100" dirty="0">
                <a:solidFill>
                  <a:srgbClr val="111827"/>
                </a:solidFill>
                <a:latin typeface="Courier New" pitchFamily="34" charset="0"/>
                <a:ea typeface="Courier New" pitchFamily="34" charset="-122"/>
                <a:cs typeface="Courier New" pitchFamily="34" charset="-120"/>
              </a:rPr>
              <a:t>Λ = [ 4  0 ]</a:t>
            </a:r>
            <a:endParaRPr lang="en-US" sz="2100" dirty="0"/>
          </a:p>
          <a:p>
            <a:pPr marL="0" indent="0" algn="ctr">
              <a:buNone/>
            </a:pPr>
            <a:r>
              <a:rPr lang="en-US" sz="2100" dirty="0">
                <a:solidFill>
                  <a:srgbClr val="111827"/>
                </a:solidFill>
                <a:latin typeface="Courier New" pitchFamily="34" charset="0"/>
                <a:ea typeface="Courier New" pitchFamily="34" charset="-122"/>
                <a:cs typeface="Courier New" pitchFamily="34" charset="-120"/>
              </a:rPr>
              <a:t>    [ 0  2 ]</a:t>
            </a:r>
            <a:endParaRPr lang="en-US" sz="2100" dirty="0"/>
          </a:p>
        </p:txBody>
      </p:sp>
      <p:sp>
        <p:nvSpPr>
          <p:cNvPr id="19" name="Text 17"/>
          <p:cNvSpPr/>
          <p:nvPr/>
        </p:nvSpPr>
        <p:spPr>
          <a:xfrm>
            <a:off x="960120" y="4434840"/>
            <a:ext cx="10149840" cy="502920"/>
          </a:xfrm>
          <a:prstGeom prst="rect">
            <a:avLst/>
          </a:prstGeom>
          <a:noFill/>
          <a:ln/>
        </p:spPr>
        <p:txBody>
          <a:bodyPr wrap="square" lIns="1016" tIns="1016" rIns="1016" bIns="1016" rtlCol="0" anchor="ctr">
            <a:normAutofit/>
          </a:bodyPr>
          <a:lstStyle/>
          <a:p>
            <a:pPr marL="0" indent="0" algn="ctr">
              <a:buNone/>
            </a:pPr>
            <a:r>
              <a:rPr lang="en-US" sz="2300" b="1" dirty="0">
                <a:solidFill>
                  <a:srgbClr val="083D62"/>
                </a:solidFill>
                <a:latin typeface="Aptos" pitchFamily="34" charset="0"/>
                <a:ea typeface="Aptos" pitchFamily="34" charset="-122"/>
                <a:cs typeface="Aptos" pitchFamily="34" charset="-120"/>
              </a:rPr>
              <a:t>Geometric reading: rotate into the q-basis, stretch by 4 and 2, rotate back.</a:t>
            </a:r>
            <a:endParaRPr lang="en-US" sz="2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Geometric picture: symmetric matrices stretch along orthogonal axes</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15 / 25</a:t>
            </a:r>
            <a:endParaRPr lang="en-US" sz="850" dirty="0"/>
          </a:p>
        </p:txBody>
      </p:sp>
      <p:sp>
        <p:nvSpPr>
          <p:cNvPr id="8" name="Text 6"/>
          <p:cNvSpPr/>
          <p:nvPr/>
        </p:nvSpPr>
        <p:spPr>
          <a:xfrm>
            <a:off x="868680" y="960120"/>
            <a:ext cx="4114800" cy="365760"/>
          </a:xfrm>
          <a:prstGeom prst="rect">
            <a:avLst/>
          </a:prstGeom>
          <a:noFill/>
          <a:ln/>
        </p:spPr>
        <p:txBody>
          <a:bodyPr wrap="square" lIns="1016" tIns="1016" rIns="1016" bIns="1016" rtlCol="0" anchor="ctr">
            <a:normAutofit/>
          </a:bodyPr>
          <a:lstStyle/>
          <a:p>
            <a:pPr marL="0" indent="0" algn="l">
              <a:buNone/>
            </a:pPr>
            <a:r>
              <a:rPr lang="en-US" sz="2500" b="1" dirty="0">
                <a:solidFill>
                  <a:srgbClr val="083D62"/>
                </a:solidFill>
                <a:latin typeface="Aptos" pitchFamily="34" charset="0"/>
                <a:ea typeface="Aptos" pitchFamily="34" charset="-122"/>
                <a:cs typeface="Aptos" pitchFamily="34" charset="-120"/>
              </a:rPr>
              <a:t>For A = QΛQᵀ:</a:t>
            </a:r>
            <a:endParaRPr lang="en-US" sz="2500" dirty="0"/>
          </a:p>
        </p:txBody>
      </p:sp>
      <p:sp>
        <p:nvSpPr>
          <p:cNvPr id="9" name="Shape 7"/>
          <p:cNvSpPr/>
          <p:nvPr/>
        </p:nvSpPr>
        <p:spPr>
          <a:xfrm>
            <a:off x="914400" y="1645920"/>
            <a:ext cx="3200400" cy="1097280"/>
          </a:xfrm>
          <a:prstGeom prst="roundRect">
            <a:avLst>
              <a:gd name="adj" fmla="val 8333"/>
            </a:avLst>
          </a:prstGeom>
          <a:solidFill>
            <a:srgbClr val="F3F6F8"/>
          </a:solidFill>
          <a:ln w="13970">
            <a:solidFill>
              <a:srgbClr val="E3EAF0"/>
            </a:solidFill>
            <a:prstDash val="solid"/>
          </a:ln>
        </p:spPr>
        <p:txBody>
          <a:bodyPr/>
          <a:lstStyle/>
          <a:p>
            <a:endParaRPr lang="en-US"/>
          </a:p>
        </p:txBody>
      </p:sp>
      <p:sp>
        <p:nvSpPr>
          <p:cNvPr id="10" name="Text 8"/>
          <p:cNvSpPr/>
          <p:nvPr/>
        </p:nvSpPr>
        <p:spPr>
          <a:xfrm>
            <a:off x="1060704" y="1755648"/>
            <a:ext cx="29077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Step 1</a:t>
            </a:r>
            <a:endParaRPr lang="en-US" sz="1500" dirty="0"/>
          </a:p>
        </p:txBody>
      </p:sp>
      <p:sp>
        <p:nvSpPr>
          <p:cNvPr id="11" name="Text 9"/>
          <p:cNvSpPr/>
          <p:nvPr/>
        </p:nvSpPr>
        <p:spPr>
          <a:xfrm>
            <a:off x="1060704" y="2130552"/>
            <a:ext cx="2907792" cy="50292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Qᵀ rotates coordinates into the eigenvector basis.</a:t>
            </a:r>
            <a:endParaRPr lang="en-US" sz="1800" dirty="0"/>
          </a:p>
        </p:txBody>
      </p:sp>
      <p:sp>
        <p:nvSpPr>
          <p:cNvPr id="12" name="Shape 10"/>
          <p:cNvSpPr/>
          <p:nvPr/>
        </p:nvSpPr>
        <p:spPr>
          <a:xfrm>
            <a:off x="4251960" y="2176272"/>
            <a:ext cx="685800" cy="0"/>
          </a:xfrm>
          <a:prstGeom prst="line">
            <a:avLst/>
          </a:prstGeom>
          <a:noFill/>
          <a:ln w="27940">
            <a:solidFill>
              <a:srgbClr val="083D62"/>
            </a:solidFill>
            <a:prstDash val="solid"/>
            <a:headEnd type="none"/>
            <a:tailEnd type="triangle"/>
          </a:ln>
        </p:spPr>
        <p:txBody>
          <a:bodyPr/>
          <a:lstStyle/>
          <a:p>
            <a:endParaRPr lang="en-US"/>
          </a:p>
        </p:txBody>
      </p:sp>
      <p:sp>
        <p:nvSpPr>
          <p:cNvPr id="13" name="Shape 11"/>
          <p:cNvSpPr/>
          <p:nvPr/>
        </p:nvSpPr>
        <p:spPr>
          <a:xfrm>
            <a:off x="5074920" y="1645920"/>
            <a:ext cx="2834640" cy="1097280"/>
          </a:xfrm>
          <a:prstGeom prst="roundRect">
            <a:avLst>
              <a:gd name="adj" fmla="val 8333"/>
            </a:avLst>
          </a:prstGeom>
          <a:solidFill>
            <a:srgbClr val="F3F6F8"/>
          </a:solidFill>
          <a:ln w="13970">
            <a:solidFill>
              <a:srgbClr val="E3EAF0"/>
            </a:solidFill>
            <a:prstDash val="solid"/>
          </a:ln>
        </p:spPr>
        <p:txBody>
          <a:bodyPr/>
          <a:lstStyle/>
          <a:p>
            <a:endParaRPr lang="en-US"/>
          </a:p>
        </p:txBody>
      </p:sp>
      <p:sp>
        <p:nvSpPr>
          <p:cNvPr id="14" name="Text 12"/>
          <p:cNvSpPr/>
          <p:nvPr/>
        </p:nvSpPr>
        <p:spPr>
          <a:xfrm>
            <a:off x="5221224" y="1755648"/>
            <a:ext cx="25420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Step 2</a:t>
            </a:r>
            <a:endParaRPr lang="en-US" sz="1500" dirty="0"/>
          </a:p>
        </p:txBody>
      </p:sp>
      <p:sp>
        <p:nvSpPr>
          <p:cNvPr id="15" name="Text 13"/>
          <p:cNvSpPr/>
          <p:nvPr/>
        </p:nvSpPr>
        <p:spPr>
          <a:xfrm>
            <a:off x="5221224" y="2130551"/>
            <a:ext cx="2690714" cy="465750"/>
          </a:xfrm>
          <a:prstGeom prst="rect">
            <a:avLst/>
          </a:prstGeom>
          <a:noFill/>
          <a:ln/>
        </p:spPr>
        <p:txBody>
          <a:bodyPr wrap="square" lIns="0" tIns="0" rIns="0" bIns="0" rtlCol="0" anchor="ctr">
            <a:normAutofit fontScale="92500" lnSpcReduction="20000"/>
          </a:bodyPr>
          <a:lstStyle/>
          <a:p>
            <a:pPr marL="0" indent="0" algn="l">
              <a:buNone/>
            </a:pPr>
            <a:r>
              <a:rPr lang="en-US" sz="1800" dirty="0">
                <a:solidFill>
                  <a:srgbClr val="111827"/>
                </a:solidFill>
                <a:latin typeface="Aptos" pitchFamily="34" charset="0"/>
                <a:ea typeface="Aptos" pitchFamily="34" charset="-122"/>
                <a:cs typeface="Aptos" pitchFamily="34" charset="-120"/>
              </a:rPr>
              <a:t>Λ scales each eigenvector direction by λᵢ.</a:t>
            </a:r>
            <a:endParaRPr lang="en-US" sz="1800" dirty="0"/>
          </a:p>
        </p:txBody>
      </p:sp>
      <p:sp>
        <p:nvSpPr>
          <p:cNvPr id="16" name="Shape 14"/>
          <p:cNvSpPr/>
          <p:nvPr/>
        </p:nvSpPr>
        <p:spPr>
          <a:xfrm>
            <a:off x="8046720" y="2176272"/>
            <a:ext cx="685800" cy="0"/>
          </a:xfrm>
          <a:prstGeom prst="line">
            <a:avLst/>
          </a:prstGeom>
          <a:noFill/>
          <a:ln w="27940">
            <a:solidFill>
              <a:srgbClr val="083D62"/>
            </a:solidFill>
            <a:prstDash val="solid"/>
            <a:headEnd type="none"/>
            <a:tailEnd type="triangle"/>
          </a:ln>
        </p:spPr>
        <p:txBody>
          <a:bodyPr/>
          <a:lstStyle/>
          <a:p>
            <a:endParaRPr lang="en-US"/>
          </a:p>
        </p:txBody>
      </p:sp>
      <p:sp>
        <p:nvSpPr>
          <p:cNvPr id="17" name="Shape 15"/>
          <p:cNvSpPr/>
          <p:nvPr/>
        </p:nvSpPr>
        <p:spPr>
          <a:xfrm>
            <a:off x="8869680" y="1645920"/>
            <a:ext cx="2468880" cy="1097280"/>
          </a:xfrm>
          <a:prstGeom prst="roundRect">
            <a:avLst>
              <a:gd name="adj" fmla="val 8333"/>
            </a:avLst>
          </a:prstGeom>
          <a:solidFill>
            <a:srgbClr val="F3F6F8"/>
          </a:solidFill>
          <a:ln w="13970">
            <a:solidFill>
              <a:srgbClr val="E3EAF0"/>
            </a:solidFill>
            <a:prstDash val="solid"/>
          </a:ln>
        </p:spPr>
        <p:txBody>
          <a:bodyPr/>
          <a:lstStyle/>
          <a:p>
            <a:endParaRPr lang="en-US"/>
          </a:p>
        </p:txBody>
      </p:sp>
      <p:sp>
        <p:nvSpPr>
          <p:cNvPr id="18" name="Text 16"/>
          <p:cNvSpPr/>
          <p:nvPr/>
        </p:nvSpPr>
        <p:spPr>
          <a:xfrm>
            <a:off x="9015984" y="1755648"/>
            <a:ext cx="217627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Step 3</a:t>
            </a:r>
            <a:endParaRPr lang="en-US" sz="1500" dirty="0"/>
          </a:p>
        </p:txBody>
      </p:sp>
      <p:sp>
        <p:nvSpPr>
          <p:cNvPr id="19" name="Text 17"/>
          <p:cNvSpPr/>
          <p:nvPr/>
        </p:nvSpPr>
        <p:spPr>
          <a:xfrm>
            <a:off x="9015984" y="2130552"/>
            <a:ext cx="2176272" cy="50292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Q rotates back to the original coordinates.</a:t>
            </a:r>
            <a:endParaRPr lang="en-US" sz="1800" dirty="0"/>
          </a:p>
        </p:txBody>
      </p:sp>
      <p:sp>
        <p:nvSpPr>
          <p:cNvPr id="20" name="Shape 18"/>
          <p:cNvSpPr/>
          <p:nvPr/>
        </p:nvSpPr>
        <p:spPr>
          <a:xfrm>
            <a:off x="1920240" y="3794760"/>
            <a:ext cx="8366760" cy="1051560"/>
          </a:xfrm>
          <a:prstGeom prst="roundRect">
            <a:avLst>
              <a:gd name="adj" fmla="val 7826"/>
            </a:avLst>
          </a:prstGeom>
          <a:solidFill>
            <a:srgbClr val="F8FAFC"/>
          </a:solidFill>
          <a:ln w="15240">
            <a:solidFill>
              <a:srgbClr val="E3EAF0"/>
            </a:solidFill>
            <a:prstDash val="solid"/>
          </a:ln>
        </p:spPr>
        <p:txBody>
          <a:bodyPr/>
          <a:lstStyle/>
          <a:p>
            <a:endParaRPr lang="en-US"/>
          </a:p>
        </p:txBody>
      </p:sp>
      <p:sp>
        <p:nvSpPr>
          <p:cNvPr id="21" name="Text 19"/>
          <p:cNvSpPr/>
          <p:nvPr/>
        </p:nvSpPr>
        <p:spPr>
          <a:xfrm>
            <a:off x="2066544" y="3849624"/>
            <a:ext cx="8074152" cy="941832"/>
          </a:xfrm>
          <a:prstGeom prst="rect">
            <a:avLst/>
          </a:prstGeom>
          <a:noFill/>
          <a:ln/>
        </p:spPr>
        <p:txBody>
          <a:bodyPr wrap="square" lIns="0" tIns="0" rIns="0" bIns="0" rtlCol="0" anchor="ctr">
            <a:normAutofit/>
          </a:bodyPr>
          <a:lstStyle/>
          <a:p>
            <a:pPr marL="0" indent="0" algn="ctr">
              <a:buNone/>
            </a:pPr>
            <a:r>
              <a:rPr lang="en-US" sz="2400" dirty="0">
                <a:solidFill>
                  <a:srgbClr val="111827"/>
                </a:solidFill>
                <a:latin typeface="Aptos" pitchFamily="34" charset="0"/>
                <a:ea typeface="Aptos" pitchFamily="34" charset="-122"/>
                <a:cs typeface="Aptos" pitchFamily="34" charset="-120"/>
              </a:rPr>
              <a:t>Positive λᵢ: stretch</a:t>
            </a:r>
            <a:endParaRPr lang="en-US" sz="2400" dirty="0"/>
          </a:p>
          <a:p>
            <a:pPr marL="0" indent="0" algn="ctr">
              <a:buNone/>
            </a:pPr>
            <a:r>
              <a:rPr lang="en-US" sz="2400" dirty="0">
                <a:solidFill>
                  <a:srgbClr val="111827"/>
                </a:solidFill>
                <a:latin typeface="Aptos" pitchFamily="34" charset="0"/>
                <a:ea typeface="Aptos" pitchFamily="34" charset="-122"/>
                <a:cs typeface="Aptos" pitchFamily="34" charset="-120"/>
              </a:rPr>
              <a:t>Negative λᵢ: flip + stretch</a:t>
            </a:r>
            <a:endParaRPr lang="en-US" sz="2400" dirty="0"/>
          </a:p>
          <a:p>
            <a:pPr marL="0" indent="0" algn="ctr">
              <a:buNone/>
            </a:pPr>
            <a:r>
              <a:rPr lang="en-US" sz="2400" dirty="0">
                <a:solidFill>
                  <a:srgbClr val="111827"/>
                </a:solidFill>
                <a:latin typeface="Aptos" pitchFamily="34" charset="0"/>
                <a:ea typeface="Aptos" pitchFamily="34" charset="-122"/>
                <a:cs typeface="Aptos" pitchFamily="34" charset="-120"/>
              </a:rPr>
              <a:t>Zero λᵢ: collapse that direction</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Motivation: why positive semidefinite matrices matter</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16 / 25</a:t>
            </a:r>
            <a:endParaRPr lang="en-US" sz="850" dirty="0"/>
          </a:p>
        </p:txBody>
      </p:sp>
      <p:sp>
        <p:nvSpPr>
          <p:cNvPr id="8" name="Text 6"/>
          <p:cNvSpPr/>
          <p:nvPr/>
        </p:nvSpPr>
        <p:spPr>
          <a:xfrm>
            <a:off x="822960" y="1051560"/>
            <a:ext cx="6629400" cy="4389120"/>
          </a:xfrm>
          <a:prstGeom prst="rect">
            <a:avLst/>
          </a:prstGeom>
          <a:noFill/>
          <a:ln/>
        </p:spPr>
        <p:txBody>
          <a:bodyPr wrap="square" lIns="1016" tIns="1016" rIns="1016" bIns="1016" rtlCol="0" anchor="ctr">
            <a:normAutofit/>
          </a:bodyPr>
          <a:lstStyle/>
          <a:p>
            <a:r>
              <a:rPr lang="en-US" sz="2100" dirty="0">
                <a:solidFill>
                  <a:srgbClr val="111827"/>
                </a:solidFill>
                <a:latin typeface="Aptos" pitchFamily="34" charset="0"/>
                <a:ea typeface="Aptos" pitchFamily="34" charset="-122"/>
                <a:cs typeface="Aptos" pitchFamily="34" charset="-120"/>
              </a:rPr>
              <a:t>Covariance matrices measure variance: variance cannot be negative.
</a:t>
            </a:r>
            <a:endParaRPr lang="en-US" sz="2100" dirty="0"/>
          </a:p>
          <a:p>
            <a:r>
              <a:rPr lang="en-US" sz="2100" dirty="0">
                <a:solidFill>
                  <a:srgbClr val="111827"/>
                </a:solidFill>
                <a:latin typeface="Aptos" pitchFamily="34" charset="0"/>
                <a:ea typeface="Aptos" pitchFamily="34" charset="-122"/>
                <a:cs typeface="Aptos" pitchFamily="34" charset="-120"/>
              </a:rPr>
              <a:t>Gram matrices store inner products: squared lengths cannot be negative.
</a:t>
            </a:r>
            <a:endParaRPr lang="en-US" sz="2100" dirty="0"/>
          </a:p>
          <a:p>
            <a:r>
              <a:rPr lang="en-US" sz="2100" dirty="0">
                <a:solidFill>
                  <a:srgbClr val="111827"/>
                </a:solidFill>
                <a:latin typeface="Aptos" pitchFamily="34" charset="0"/>
                <a:ea typeface="Aptos" pitchFamily="34" charset="-122"/>
                <a:cs typeface="Aptos" pitchFamily="34" charset="-120"/>
              </a:rPr>
              <a:t>Normal equations use AᵀA: least squares is built from PSD matrices.
</a:t>
            </a:r>
            <a:endParaRPr lang="en-US" sz="2100" dirty="0"/>
          </a:p>
          <a:p>
            <a:r>
              <a:rPr lang="en-US" sz="2100" dirty="0">
                <a:solidFill>
                  <a:srgbClr val="111827"/>
                </a:solidFill>
                <a:latin typeface="Aptos" pitchFamily="34" charset="0"/>
                <a:ea typeface="Aptos" pitchFamily="34" charset="-122"/>
                <a:cs typeface="Aptos" pitchFamily="34" charset="-120"/>
              </a:rPr>
              <a:t>Energy and stability estimates often have the form xᵀMx ≥ 0.
</a:t>
            </a:r>
            <a:endParaRPr lang="en-US" sz="2100" dirty="0"/>
          </a:p>
          <a:p>
            <a:r>
              <a:rPr lang="en-US" sz="2100" dirty="0">
                <a:solidFill>
                  <a:srgbClr val="111827"/>
                </a:solidFill>
                <a:latin typeface="Aptos" pitchFamily="34" charset="0"/>
                <a:ea typeface="Aptos" pitchFamily="34" charset="-122"/>
                <a:cs typeface="Aptos" pitchFamily="34" charset="-120"/>
              </a:rPr>
              <a:t>Kernels in machine learning are valid only when their Gram matrices are PSD.</a:t>
            </a:r>
            <a:endParaRPr lang="en-US" sz="2100" dirty="0"/>
          </a:p>
        </p:txBody>
      </p:sp>
      <p:sp>
        <p:nvSpPr>
          <p:cNvPr id="9" name="Shape 7"/>
          <p:cNvSpPr/>
          <p:nvPr/>
        </p:nvSpPr>
        <p:spPr>
          <a:xfrm>
            <a:off x="7726680" y="1417320"/>
            <a:ext cx="3566160" cy="1188720"/>
          </a:xfrm>
          <a:prstGeom prst="roundRect">
            <a:avLst>
              <a:gd name="adj" fmla="val 6923"/>
            </a:avLst>
          </a:prstGeom>
          <a:solidFill>
            <a:srgbClr val="EAF4F4"/>
          </a:solidFill>
          <a:ln w="15240">
            <a:solidFill>
              <a:srgbClr val="0E6B68"/>
            </a:solidFill>
            <a:prstDash val="solid"/>
          </a:ln>
        </p:spPr>
        <p:txBody>
          <a:bodyPr/>
          <a:lstStyle/>
          <a:p>
            <a:endParaRPr lang="en-US"/>
          </a:p>
        </p:txBody>
      </p:sp>
      <p:sp>
        <p:nvSpPr>
          <p:cNvPr id="10" name="Text 8"/>
          <p:cNvSpPr/>
          <p:nvPr/>
        </p:nvSpPr>
        <p:spPr>
          <a:xfrm>
            <a:off x="7872984" y="1472184"/>
            <a:ext cx="3273552" cy="1078992"/>
          </a:xfrm>
          <a:prstGeom prst="rect">
            <a:avLst/>
          </a:prstGeom>
          <a:noFill/>
          <a:ln/>
        </p:spPr>
        <p:txBody>
          <a:bodyPr wrap="square" lIns="0" tIns="0" rIns="0" bIns="0" rtlCol="0" anchor="ctr">
            <a:normAutofit/>
          </a:bodyPr>
          <a:lstStyle/>
          <a:p>
            <a:pPr marL="0" indent="0" algn="ctr">
              <a:buNone/>
            </a:pPr>
            <a:r>
              <a:rPr lang="en-US" sz="2400" dirty="0">
                <a:solidFill>
                  <a:srgbClr val="111827"/>
                </a:solidFill>
                <a:latin typeface="Aptos" pitchFamily="34" charset="0"/>
                <a:ea typeface="Aptos" pitchFamily="34" charset="-122"/>
                <a:cs typeface="Aptos" pitchFamily="34" charset="-120"/>
              </a:rPr>
              <a:t>PSD is the algebraic form of</a:t>
            </a:r>
            <a:endParaRPr lang="en-US" sz="2400" dirty="0"/>
          </a:p>
          <a:p>
            <a:pPr marL="0" indent="0" algn="ctr">
              <a:buNone/>
            </a:pPr>
            <a:r>
              <a:rPr lang="en-US" sz="2400" dirty="0">
                <a:solidFill>
                  <a:srgbClr val="111827"/>
                </a:solidFill>
                <a:latin typeface="Aptos" pitchFamily="34" charset="0"/>
                <a:ea typeface="Aptos" pitchFamily="34" charset="-122"/>
                <a:cs typeface="Aptos" pitchFamily="34" charset="-120"/>
              </a:rPr>
              <a:t>“nonnegative energy / variance.”</a:t>
            </a:r>
            <a:endParaRPr lang="en-US" sz="2400" dirty="0"/>
          </a:p>
        </p:txBody>
      </p:sp>
      <p:sp>
        <p:nvSpPr>
          <p:cNvPr id="11" name="Shape 9"/>
          <p:cNvSpPr/>
          <p:nvPr/>
        </p:nvSpPr>
        <p:spPr>
          <a:xfrm>
            <a:off x="7635240" y="3337560"/>
            <a:ext cx="3611880" cy="731520"/>
          </a:xfrm>
          <a:prstGeom prst="roundRect">
            <a:avLst>
              <a:gd name="adj" fmla="val 10000"/>
            </a:avLst>
          </a:prstGeom>
          <a:solidFill>
            <a:srgbClr val="F8FAFC"/>
          </a:solidFill>
          <a:ln w="12700">
            <a:solidFill>
              <a:srgbClr val="E3EAF0"/>
            </a:solidFill>
            <a:prstDash val="solid"/>
          </a:ln>
        </p:spPr>
        <p:txBody>
          <a:bodyPr/>
          <a:lstStyle/>
          <a:p>
            <a:endParaRPr lang="en-US"/>
          </a:p>
        </p:txBody>
      </p:sp>
      <p:sp>
        <p:nvSpPr>
          <p:cNvPr id="12" name="Text 10"/>
          <p:cNvSpPr/>
          <p:nvPr/>
        </p:nvSpPr>
        <p:spPr>
          <a:xfrm>
            <a:off x="7772400" y="3429000"/>
            <a:ext cx="3337560" cy="548640"/>
          </a:xfrm>
          <a:prstGeom prst="rect">
            <a:avLst/>
          </a:prstGeom>
          <a:noFill/>
          <a:ln/>
        </p:spPr>
        <p:txBody>
          <a:bodyPr wrap="square" lIns="0" tIns="0" rIns="0" bIns="0" rtlCol="0" anchor="ctr">
            <a:normAutofit/>
          </a:bodyPr>
          <a:lstStyle/>
          <a:p>
            <a:pPr marL="0" indent="0" algn="ctr">
              <a:buNone/>
            </a:pPr>
            <a:r>
              <a:rPr lang="en-US" sz="2000" dirty="0">
                <a:solidFill>
                  <a:srgbClr val="111827"/>
                </a:solidFill>
                <a:latin typeface="Courier New" pitchFamily="34" charset="0"/>
                <a:ea typeface="Courier New" pitchFamily="34" charset="-122"/>
                <a:cs typeface="Courier New" pitchFamily="34" charset="-120"/>
              </a:rPr>
              <a:t>C = 1/(m−1) XᵀX</a:t>
            </a:r>
            <a:endParaRPr lang="en-US" sz="2000" dirty="0"/>
          </a:p>
        </p:txBody>
      </p:sp>
      <p:sp>
        <p:nvSpPr>
          <p:cNvPr id="13" name="Text 11"/>
          <p:cNvSpPr/>
          <p:nvPr/>
        </p:nvSpPr>
        <p:spPr>
          <a:xfrm>
            <a:off x="7589520" y="4572000"/>
            <a:ext cx="3794760" cy="502920"/>
          </a:xfrm>
          <a:prstGeom prst="rect">
            <a:avLst/>
          </a:prstGeom>
          <a:noFill/>
          <a:ln/>
        </p:spPr>
        <p:txBody>
          <a:bodyPr wrap="square" lIns="1016" tIns="1016" rIns="1016" bIns="1016" rtlCol="0" anchor="ctr">
            <a:normAutofit/>
          </a:bodyPr>
          <a:lstStyle/>
          <a:p>
            <a:pPr marL="0" indent="0" algn="ctr">
              <a:buNone/>
            </a:pPr>
            <a:r>
              <a:rPr lang="en-US" sz="2000" dirty="0">
                <a:solidFill>
                  <a:srgbClr val="111827"/>
                </a:solidFill>
                <a:latin typeface="Aptos" pitchFamily="34" charset="0"/>
                <a:ea typeface="Aptos" pitchFamily="34" charset="-122"/>
                <a:cs typeface="Aptos" pitchFamily="34" charset="-120"/>
              </a:rPr>
              <a:t>For any x: xᵀCx = ||Xx||₂²/(m−1) ≥ 0</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PSD matrices: equivalent definitions</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17 / 25</a:t>
            </a:r>
            <a:endParaRPr lang="en-US" sz="850" dirty="0"/>
          </a:p>
        </p:txBody>
      </p:sp>
      <p:sp>
        <p:nvSpPr>
          <p:cNvPr id="8" name="Shape 6"/>
          <p:cNvSpPr/>
          <p:nvPr/>
        </p:nvSpPr>
        <p:spPr>
          <a:xfrm>
            <a:off x="777240" y="1005840"/>
            <a:ext cx="10698480" cy="749808"/>
          </a:xfrm>
          <a:prstGeom prst="roundRect">
            <a:avLst>
              <a:gd name="adj" fmla="val 10976"/>
            </a:avLst>
          </a:prstGeom>
          <a:solidFill>
            <a:srgbClr val="EAF4F4"/>
          </a:solidFill>
          <a:ln w="15240">
            <a:solidFill>
              <a:srgbClr val="0E6B68"/>
            </a:solidFill>
            <a:prstDash val="solid"/>
          </a:ln>
        </p:spPr>
        <p:txBody>
          <a:bodyPr/>
          <a:lstStyle/>
          <a:p>
            <a:endParaRPr lang="en-US"/>
          </a:p>
        </p:txBody>
      </p:sp>
      <p:sp>
        <p:nvSpPr>
          <p:cNvPr id="9" name="Text 7"/>
          <p:cNvSpPr/>
          <p:nvPr/>
        </p:nvSpPr>
        <p:spPr>
          <a:xfrm>
            <a:off x="923544" y="1060704"/>
            <a:ext cx="10405872" cy="640080"/>
          </a:xfrm>
          <a:prstGeom prst="rect">
            <a:avLst/>
          </a:prstGeom>
          <a:noFill/>
          <a:ln/>
        </p:spPr>
        <p:txBody>
          <a:bodyPr wrap="square" lIns="0" tIns="0" rIns="0" bIns="0" rtlCol="0" anchor="ctr">
            <a:normAutofit/>
          </a:bodyPr>
          <a:lstStyle/>
          <a:p>
            <a:pPr marL="0" indent="0" algn="ctr">
              <a:buNone/>
            </a:pPr>
            <a:r>
              <a:rPr lang="en-US" sz="2500" dirty="0">
                <a:solidFill>
                  <a:srgbClr val="111827"/>
                </a:solidFill>
                <a:latin typeface="Aptos" pitchFamily="34" charset="0"/>
                <a:ea typeface="Aptos" pitchFamily="34" charset="-122"/>
                <a:cs typeface="Aptos" pitchFamily="34" charset="-120"/>
              </a:rPr>
              <a:t>A symmetric matrix A is PSD if xᵀAx ≥ 0 for every x.</a:t>
            </a:r>
            <a:endParaRPr lang="en-US" sz="2500" dirty="0"/>
          </a:p>
        </p:txBody>
      </p:sp>
      <p:sp>
        <p:nvSpPr>
          <p:cNvPr id="10" name="Shape 8"/>
          <p:cNvSpPr/>
          <p:nvPr/>
        </p:nvSpPr>
        <p:spPr>
          <a:xfrm>
            <a:off x="868680" y="2331720"/>
            <a:ext cx="3154680" cy="914400"/>
          </a:xfrm>
          <a:prstGeom prst="roundRect">
            <a:avLst>
              <a:gd name="adj" fmla="val 10000"/>
            </a:avLst>
          </a:prstGeom>
          <a:solidFill>
            <a:srgbClr val="F3F6F8"/>
          </a:solidFill>
          <a:ln w="13970">
            <a:solidFill>
              <a:srgbClr val="E3EAF0"/>
            </a:solidFill>
            <a:prstDash val="solid"/>
          </a:ln>
        </p:spPr>
        <p:txBody>
          <a:bodyPr/>
          <a:lstStyle/>
          <a:p>
            <a:endParaRPr lang="en-US"/>
          </a:p>
        </p:txBody>
      </p:sp>
      <p:sp>
        <p:nvSpPr>
          <p:cNvPr id="11" name="Text 9"/>
          <p:cNvSpPr/>
          <p:nvPr/>
        </p:nvSpPr>
        <p:spPr>
          <a:xfrm>
            <a:off x="1014984" y="2441448"/>
            <a:ext cx="286207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Quadratic-form test</a:t>
            </a:r>
            <a:endParaRPr lang="en-US" sz="1500" dirty="0"/>
          </a:p>
        </p:txBody>
      </p:sp>
      <p:sp>
        <p:nvSpPr>
          <p:cNvPr id="12" name="Text 10"/>
          <p:cNvSpPr/>
          <p:nvPr/>
        </p:nvSpPr>
        <p:spPr>
          <a:xfrm>
            <a:off x="1014984" y="2816352"/>
            <a:ext cx="2862072" cy="320040"/>
          </a:xfrm>
          <a:prstGeom prst="rect">
            <a:avLst/>
          </a:prstGeom>
          <a:noFill/>
          <a:ln/>
        </p:spPr>
        <p:txBody>
          <a:bodyPr wrap="square" lIns="0" tIns="0" rIns="0" bIns="0" rtlCol="0" anchor="ctr">
            <a:normAutofit/>
          </a:bodyPr>
          <a:lstStyle/>
          <a:p>
            <a:pPr marL="0" indent="0" algn="l">
              <a:buNone/>
            </a:pPr>
            <a:r>
              <a:rPr lang="en-US" sz="2300" dirty="0">
                <a:solidFill>
                  <a:srgbClr val="111827"/>
                </a:solidFill>
                <a:latin typeface="Aptos" pitchFamily="34" charset="0"/>
                <a:ea typeface="Aptos" pitchFamily="34" charset="-122"/>
                <a:cs typeface="Aptos" pitchFamily="34" charset="-120"/>
              </a:rPr>
              <a:t>xᵀAx ≥ 0 for all x.</a:t>
            </a:r>
            <a:endParaRPr lang="en-US" sz="2300" dirty="0"/>
          </a:p>
        </p:txBody>
      </p:sp>
      <p:sp>
        <p:nvSpPr>
          <p:cNvPr id="13" name="Shape 11"/>
          <p:cNvSpPr/>
          <p:nvPr/>
        </p:nvSpPr>
        <p:spPr>
          <a:xfrm>
            <a:off x="4526280" y="2331720"/>
            <a:ext cx="3154680" cy="914400"/>
          </a:xfrm>
          <a:prstGeom prst="roundRect">
            <a:avLst>
              <a:gd name="adj" fmla="val 10000"/>
            </a:avLst>
          </a:prstGeom>
          <a:solidFill>
            <a:srgbClr val="F3F6F8"/>
          </a:solidFill>
          <a:ln w="13970">
            <a:solidFill>
              <a:srgbClr val="E3EAF0"/>
            </a:solidFill>
            <a:prstDash val="solid"/>
          </a:ln>
        </p:spPr>
        <p:txBody>
          <a:bodyPr/>
          <a:lstStyle/>
          <a:p>
            <a:endParaRPr lang="en-US"/>
          </a:p>
        </p:txBody>
      </p:sp>
      <p:sp>
        <p:nvSpPr>
          <p:cNvPr id="14" name="Text 12"/>
          <p:cNvSpPr/>
          <p:nvPr/>
        </p:nvSpPr>
        <p:spPr>
          <a:xfrm>
            <a:off x="4672584" y="2441448"/>
            <a:ext cx="286207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Eigenvalue test</a:t>
            </a:r>
            <a:endParaRPr lang="en-US" sz="1500" dirty="0"/>
          </a:p>
        </p:txBody>
      </p:sp>
      <p:sp>
        <p:nvSpPr>
          <p:cNvPr id="15" name="Text 13"/>
          <p:cNvSpPr/>
          <p:nvPr/>
        </p:nvSpPr>
        <p:spPr>
          <a:xfrm>
            <a:off x="4672584" y="2816352"/>
            <a:ext cx="2862072" cy="320040"/>
          </a:xfrm>
          <a:prstGeom prst="rect">
            <a:avLst/>
          </a:prstGeom>
          <a:noFill/>
          <a:ln/>
        </p:spPr>
        <p:txBody>
          <a:bodyPr wrap="square" lIns="0" tIns="0" rIns="0" bIns="0" rtlCol="0" anchor="ctr">
            <a:normAutofit/>
          </a:bodyPr>
          <a:lstStyle/>
          <a:p>
            <a:pPr marL="0" indent="0" algn="l">
              <a:buNone/>
            </a:pPr>
            <a:r>
              <a:rPr lang="en-US" sz="2300" dirty="0">
                <a:solidFill>
                  <a:srgbClr val="111827"/>
                </a:solidFill>
                <a:latin typeface="Aptos" pitchFamily="34" charset="0"/>
                <a:ea typeface="Aptos" pitchFamily="34" charset="-122"/>
                <a:cs typeface="Aptos" pitchFamily="34" charset="-120"/>
              </a:rPr>
              <a:t>All eigenvalues satisfy λᵢ ≥ 0.</a:t>
            </a:r>
            <a:endParaRPr lang="en-US" sz="2300" dirty="0"/>
          </a:p>
        </p:txBody>
      </p:sp>
      <p:sp>
        <p:nvSpPr>
          <p:cNvPr id="16" name="Shape 14"/>
          <p:cNvSpPr/>
          <p:nvPr/>
        </p:nvSpPr>
        <p:spPr>
          <a:xfrm>
            <a:off x="8183880" y="2331720"/>
            <a:ext cx="3154680" cy="914400"/>
          </a:xfrm>
          <a:prstGeom prst="roundRect">
            <a:avLst>
              <a:gd name="adj" fmla="val 10000"/>
            </a:avLst>
          </a:prstGeom>
          <a:solidFill>
            <a:srgbClr val="F3F6F8"/>
          </a:solidFill>
          <a:ln w="13970">
            <a:solidFill>
              <a:srgbClr val="E3EAF0"/>
            </a:solidFill>
            <a:prstDash val="solid"/>
          </a:ln>
        </p:spPr>
        <p:txBody>
          <a:bodyPr/>
          <a:lstStyle/>
          <a:p>
            <a:endParaRPr lang="en-US"/>
          </a:p>
        </p:txBody>
      </p:sp>
      <p:sp>
        <p:nvSpPr>
          <p:cNvPr id="17" name="Text 15"/>
          <p:cNvSpPr/>
          <p:nvPr/>
        </p:nvSpPr>
        <p:spPr>
          <a:xfrm>
            <a:off x="8330184" y="2441448"/>
            <a:ext cx="286207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Factorization test</a:t>
            </a:r>
            <a:endParaRPr lang="en-US" sz="1500" dirty="0"/>
          </a:p>
        </p:txBody>
      </p:sp>
      <p:sp>
        <p:nvSpPr>
          <p:cNvPr id="18" name="Text 16"/>
          <p:cNvSpPr/>
          <p:nvPr/>
        </p:nvSpPr>
        <p:spPr>
          <a:xfrm>
            <a:off x="8330184" y="2816352"/>
            <a:ext cx="2862072" cy="320040"/>
          </a:xfrm>
          <a:prstGeom prst="rect">
            <a:avLst/>
          </a:prstGeom>
          <a:noFill/>
          <a:ln/>
        </p:spPr>
        <p:txBody>
          <a:bodyPr wrap="square" lIns="0" tIns="0" rIns="0" bIns="0" rtlCol="0" anchor="ctr">
            <a:normAutofit/>
          </a:bodyPr>
          <a:lstStyle/>
          <a:p>
            <a:pPr marL="0" indent="0" algn="l">
              <a:buNone/>
            </a:pPr>
            <a:r>
              <a:rPr lang="en-US" sz="2300" dirty="0">
                <a:solidFill>
                  <a:srgbClr val="111827"/>
                </a:solidFill>
                <a:latin typeface="Aptos" pitchFamily="34" charset="0"/>
                <a:ea typeface="Aptos" pitchFamily="34" charset="-122"/>
                <a:cs typeface="Aptos" pitchFamily="34" charset="-120"/>
              </a:rPr>
              <a:t>A = BᵀB for some B.</a:t>
            </a:r>
            <a:endParaRPr lang="en-US" sz="2300" dirty="0"/>
          </a:p>
        </p:txBody>
      </p:sp>
      <p:sp>
        <p:nvSpPr>
          <p:cNvPr id="19" name="Text 17"/>
          <p:cNvSpPr/>
          <p:nvPr/>
        </p:nvSpPr>
        <p:spPr>
          <a:xfrm>
            <a:off x="914400" y="4343400"/>
            <a:ext cx="10287000" cy="594360"/>
          </a:xfrm>
          <a:prstGeom prst="rect">
            <a:avLst/>
          </a:prstGeom>
          <a:noFill/>
          <a:ln/>
        </p:spPr>
        <p:txBody>
          <a:bodyPr wrap="square" lIns="1016" tIns="1016" rIns="1016" bIns="1016" rtlCol="0" anchor="ctr">
            <a:normAutofit/>
          </a:bodyPr>
          <a:lstStyle/>
          <a:p>
            <a:pPr marL="0" indent="0" algn="ctr">
              <a:buNone/>
            </a:pPr>
            <a:r>
              <a:rPr lang="en-US" sz="2300" b="1" dirty="0">
                <a:solidFill>
                  <a:srgbClr val="083D62"/>
                </a:solidFill>
                <a:latin typeface="Aptos" pitchFamily="34" charset="0"/>
                <a:ea typeface="Aptos" pitchFamily="34" charset="-122"/>
                <a:cs typeface="Aptos" pitchFamily="34" charset="-120"/>
              </a:rPr>
              <a:t>Positive definite (PD) means xᵀAx &gt; 0 for every nonzero x; equivalently all λᵢ &gt; 0.</a:t>
            </a:r>
            <a:endParaRPr lang="en-US" sz="2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Example 5: PSD, positive definite, and indefinite</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18 / 25</a:t>
            </a:r>
            <a:endParaRPr lang="en-US" sz="850" dirty="0"/>
          </a:p>
        </p:txBody>
      </p:sp>
      <p:sp>
        <p:nvSpPr>
          <p:cNvPr id="8" name="Shape 6"/>
          <p:cNvSpPr/>
          <p:nvPr/>
        </p:nvSpPr>
        <p:spPr>
          <a:xfrm>
            <a:off x="685800" y="1097280"/>
            <a:ext cx="3520440" cy="1828800"/>
          </a:xfrm>
          <a:prstGeom prst="roundRect">
            <a:avLst>
              <a:gd name="adj" fmla="val 5000"/>
            </a:avLst>
          </a:prstGeom>
          <a:solidFill>
            <a:srgbClr val="EAF4F4"/>
          </a:solidFill>
          <a:ln w="13970">
            <a:solidFill>
              <a:srgbClr val="0E6B68"/>
            </a:solidFill>
            <a:prstDash val="solid"/>
          </a:ln>
        </p:spPr>
        <p:txBody>
          <a:bodyPr/>
          <a:lstStyle/>
          <a:p>
            <a:endParaRPr lang="en-US"/>
          </a:p>
        </p:txBody>
      </p:sp>
      <p:sp>
        <p:nvSpPr>
          <p:cNvPr id="9" name="Text 7"/>
          <p:cNvSpPr/>
          <p:nvPr/>
        </p:nvSpPr>
        <p:spPr>
          <a:xfrm>
            <a:off x="832104" y="1207008"/>
            <a:ext cx="32278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Positive definite</a:t>
            </a:r>
            <a:endParaRPr lang="en-US" sz="1500" dirty="0"/>
          </a:p>
        </p:txBody>
      </p:sp>
      <p:sp>
        <p:nvSpPr>
          <p:cNvPr id="10" name="Text 8"/>
          <p:cNvSpPr/>
          <p:nvPr/>
        </p:nvSpPr>
        <p:spPr>
          <a:xfrm>
            <a:off x="832104" y="1581912"/>
            <a:ext cx="3227832" cy="123444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A = [2 0; 0 1]</a:t>
            </a:r>
            <a:endParaRPr lang="en-US" sz="1800" dirty="0"/>
          </a:p>
          <a:p>
            <a:pPr marL="0" indent="0" algn="l">
              <a:buNone/>
            </a:pPr>
            <a:r>
              <a:rPr lang="en-US" sz="1800" dirty="0">
                <a:solidFill>
                  <a:srgbClr val="111827"/>
                </a:solidFill>
                <a:latin typeface="Aptos" pitchFamily="34" charset="0"/>
                <a:ea typeface="Aptos" pitchFamily="34" charset="-122"/>
                <a:cs typeface="Aptos" pitchFamily="34" charset="-120"/>
              </a:rPr>
              <a:t>Eigenvalues: 2, 1</a:t>
            </a:r>
            <a:endParaRPr lang="en-US" sz="1800" dirty="0"/>
          </a:p>
          <a:p>
            <a:pPr marL="0" indent="0" algn="l">
              <a:buNone/>
            </a:pPr>
            <a:r>
              <a:rPr lang="en-US" sz="1800" dirty="0">
                <a:solidFill>
                  <a:srgbClr val="111827"/>
                </a:solidFill>
                <a:latin typeface="Aptos" pitchFamily="34" charset="0"/>
                <a:ea typeface="Aptos" pitchFamily="34" charset="-122"/>
                <a:cs typeface="Aptos" pitchFamily="34" charset="-120"/>
              </a:rPr>
              <a:t>xᵀAx &gt; 0 for x ≠ 0</a:t>
            </a:r>
            <a:endParaRPr lang="en-US" sz="1800" dirty="0"/>
          </a:p>
        </p:txBody>
      </p:sp>
      <p:sp>
        <p:nvSpPr>
          <p:cNvPr id="11" name="Shape 9"/>
          <p:cNvSpPr/>
          <p:nvPr/>
        </p:nvSpPr>
        <p:spPr>
          <a:xfrm>
            <a:off x="4343400" y="1097280"/>
            <a:ext cx="3520440" cy="1828800"/>
          </a:xfrm>
          <a:prstGeom prst="roundRect">
            <a:avLst>
              <a:gd name="adj" fmla="val 5000"/>
            </a:avLst>
          </a:prstGeom>
          <a:solidFill>
            <a:srgbClr val="F8FAFC"/>
          </a:solidFill>
          <a:ln w="13970">
            <a:solidFill>
              <a:srgbClr val="E3EAF0"/>
            </a:solidFill>
            <a:prstDash val="solid"/>
          </a:ln>
        </p:spPr>
        <p:txBody>
          <a:bodyPr/>
          <a:lstStyle/>
          <a:p>
            <a:endParaRPr lang="en-US"/>
          </a:p>
        </p:txBody>
      </p:sp>
      <p:sp>
        <p:nvSpPr>
          <p:cNvPr id="12" name="Text 10"/>
          <p:cNvSpPr/>
          <p:nvPr/>
        </p:nvSpPr>
        <p:spPr>
          <a:xfrm>
            <a:off x="4489704" y="1207008"/>
            <a:ext cx="32278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PSD but singular</a:t>
            </a:r>
            <a:endParaRPr lang="en-US" sz="1500" dirty="0"/>
          </a:p>
        </p:txBody>
      </p:sp>
      <p:sp>
        <p:nvSpPr>
          <p:cNvPr id="13" name="Text 11"/>
          <p:cNvSpPr/>
          <p:nvPr/>
        </p:nvSpPr>
        <p:spPr>
          <a:xfrm>
            <a:off x="4489704" y="1581912"/>
            <a:ext cx="3227832" cy="123444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A = [1 2; 2 4]</a:t>
            </a:r>
            <a:endParaRPr lang="en-US" sz="1800" dirty="0"/>
          </a:p>
          <a:p>
            <a:pPr marL="0" indent="0" algn="l">
              <a:buNone/>
            </a:pPr>
            <a:r>
              <a:rPr lang="en-US" sz="1800" dirty="0">
                <a:solidFill>
                  <a:srgbClr val="111827"/>
                </a:solidFill>
                <a:latin typeface="Aptos" pitchFamily="34" charset="0"/>
                <a:ea typeface="Aptos" pitchFamily="34" charset="-122"/>
                <a:cs typeface="Aptos" pitchFamily="34" charset="-120"/>
              </a:rPr>
              <a:t>Eigenvalues: 5, 0</a:t>
            </a:r>
            <a:endParaRPr lang="en-US" sz="1800" dirty="0"/>
          </a:p>
          <a:p>
            <a:pPr marL="0" indent="0" algn="l">
              <a:buNone/>
            </a:pPr>
            <a:r>
              <a:rPr lang="en-US" sz="1800" dirty="0">
                <a:solidFill>
                  <a:srgbClr val="111827"/>
                </a:solidFill>
                <a:latin typeface="Aptos" pitchFamily="34" charset="0"/>
                <a:ea typeface="Aptos" pitchFamily="34" charset="-122"/>
                <a:cs typeface="Aptos" pitchFamily="34" charset="-120"/>
              </a:rPr>
              <a:t>xᵀAx ≥ 0, but some direction has zero energy</a:t>
            </a:r>
            <a:endParaRPr lang="en-US" sz="1800" dirty="0"/>
          </a:p>
        </p:txBody>
      </p:sp>
      <p:sp>
        <p:nvSpPr>
          <p:cNvPr id="14" name="Shape 12"/>
          <p:cNvSpPr/>
          <p:nvPr/>
        </p:nvSpPr>
        <p:spPr>
          <a:xfrm>
            <a:off x="8001000" y="1097280"/>
            <a:ext cx="3520440" cy="1828800"/>
          </a:xfrm>
          <a:prstGeom prst="roundRect">
            <a:avLst>
              <a:gd name="adj" fmla="val 5000"/>
            </a:avLst>
          </a:prstGeom>
          <a:solidFill>
            <a:srgbClr val="FFF7ED"/>
          </a:solidFill>
          <a:ln w="13970">
            <a:solidFill>
              <a:srgbClr val="A85C00"/>
            </a:solidFill>
            <a:prstDash val="solid"/>
          </a:ln>
        </p:spPr>
        <p:txBody>
          <a:bodyPr/>
          <a:lstStyle/>
          <a:p>
            <a:endParaRPr lang="en-US"/>
          </a:p>
        </p:txBody>
      </p:sp>
      <p:sp>
        <p:nvSpPr>
          <p:cNvPr id="15" name="Text 13"/>
          <p:cNvSpPr/>
          <p:nvPr/>
        </p:nvSpPr>
        <p:spPr>
          <a:xfrm>
            <a:off x="8147304" y="1207008"/>
            <a:ext cx="32278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Indefinite</a:t>
            </a:r>
            <a:endParaRPr lang="en-US" sz="1500" dirty="0"/>
          </a:p>
        </p:txBody>
      </p:sp>
      <p:sp>
        <p:nvSpPr>
          <p:cNvPr id="16" name="Text 14"/>
          <p:cNvSpPr/>
          <p:nvPr/>
        </p:nvSpPr>
        <p:spPr>
          <a:xfrm>
            <a:off x="8147304" y="1581912"/>
            <a:ext cx="3227832" cy="1234440"/>
          </a:xfrm>
          <a:prstGeom prst="rect">
            <a:avLst/>
          </a:prstGeom>
          <a:noFill/>
          <a:ln/>
        </p:spPr>
        <p:txBody>
          <a:bodyPr wrap="square" lIns="0" tIns="0" rIns="0" bIns="0" rtlCol="0" anchor="ctr">
            <a:normAutofit/>
          </a:bodyPr>
          <a:lstStyle/>
          <a:p>
            <a:pPr marL="0" indent="0" algn="l">
              <a:buNone/>
            </a:pPr>
            <a:r>
              <a:rPr lang="en-US" sz="1800" dirty="0">
                <a:solidFill>
                  <a:srgbClr val="111827"/>
                </a:solidFill>
                <a:latin typeface="Aptos" pitchFamily="34" charset="0"/>
                <a:ea typeface="Aptos" pitchFamily="34" charset="-122"/>
                <a:cs typeface="Aptos" pitchFamily="34" charset="-120"/>
              </a:rPr>
              <a:t>A = [1 2; 2 1]</a:t>
            </a:r>
            <a:endParaRPr lang="en-US" sz="1800" dirty="0"/>
          </a:p>
          <a:p>
            <a:pPr marL="0" indent="0" algn="l">
              <a:buNone/>
            </a:pPr>
            <a:r>
              <a:rPr lang="en-US" sz="1800" dirty="0">
                <a:solidFill>
                  <a:srgbClr val="111827"/>
                </a:solidFill>
                <a:latin typeface="Aptos" pitchFamily="34" charset="0"/>
                <a:ea typeface="Aptos" pitchFamily="34" charset="-122"/>
                <a:cs typeface="Aptos" pitchFamily="34" charset="-120"/>
              </a:rPr>
              <a:t>Eigenvalues: 3, −1</a:t>
            </a:r>
            <a:endParaRPr lang="en-US" sz="1800" dirty="0"/>
          </a:p>
          <a:p>
            <a:pPr marL="0" indent="0" algn="l">
              <a:buNone/>
            </a:pPr>
            <a:r>
              <a:rPr lang="en-US" sz="1800" dirty="0">
                <a:solidFill>
                  <a:srgbClr val="111827"/>
                </a:solidFill>
                <a:latin typeface="Aptos" pitchFamily="34" charset="0"/>
                <a:ea typeface="Aptos" pitchFamily="34" charset="-122"/>
                <a:cs typeface="Aptos" pitchFamily="34" charset="-120"/>
              </a:rPr>
              <a:t>Some directions give negative xᵀAx</a:t>
            </a:r>
            <a:endParaRPr lang="en-US" sz="1800" dirty="0"/>
          </a:p>
        </p:txBody>
      </p:sp>
      <p:sp>
        <p:nvSpPr>
          <p:cNvPr id="17" name="Shape 15"/>
          <p:cNvSpPr/>
          <p:nvPr/>
        </p:nvSpPr>
        <p:spPr>
          <a:xfrm>
            <a:off x="1097280" y="3794760"/>
            <a:ext cx="9966960" cy="749808"/>
          </a:xfrm>
          <a:prstGeom prst="roundRect">
            <a:avLst>
              <a:gd name="adj" fmla="val 10976"/>
            </a:avLst>
          </a:prstGeom>
          <a:solidFill>
            <a:srgbClr val="F8FAFC"/>
          </a:solidFill>
          <a:ln w="15240">
            <a:solidFill>
              <a:srgbClr val="083D62"/>
            </a:solidFill>
            <a:prstDash val="solid"/>
          </a:ln>
        </p:spPr>
        <p:txBody>
          <a:bodyPr/>
          <a:lstStyle/>
          <a:p>
            <a:endParaRPr lang="en-US"/>
          </a:p>
        </p:txBody>
      </p:sp>
      <p:sp>
        <p:nvSpPr>
          <p:cNvPr id="18" name="Text 16"/>
          <p:cNvSpPr/>
          <p:nvPr/>
        </p:nvSpPr>
        <p:spPr>
          <a:xfrm>
            <a:off x="1243584" y="3849624"/>
            <a:ext cx="9674352" cy="640080"/>
          </a:xfrm>
          <a:prstGeom prst="rect">
            <a:avLst/>
          </a:prstGeom>
          <a:noFill/>
          <a:ln/>
        </p:spPr>
        <p:txBody>
          <a:bodyPr wrap="square" lIns="0" tIns="0" rIns="0" bIns="0" rtlCol="0" anchor="ctr">
            <a:normAutofit/>
          </a:bodyPr>
          <a:lstStyle/>
          <a:p>
            <a:pPr marL="0" indent="0" algn="ctr">
              <a:buNone/>
            </a:pPr>
            <a:r>
              <a:rPr lang="en-US" sz="2300" dirty="0">
                <a:solidFill>
                  <a:srgbClr val="111827"/>
                </a:solidFill>
                <a:latin typeface="Aptos" pitchFamily="34" charset="0"/>
                <a:ea typeface="Aptos" pitchFamily="34" charset="-122"/>
                <a:cs typeface="Aptos" pitchFamily="34" charset="-120"/>
              </a:rPr>
              <a:t>PSD is a property of symmetric matrices and all directions x, not just entries.</a:t>
            </a:r>
            <a:endParaRPr lang="en-US" sz="2300" dirty="0"/>
          </a:p>
        </p:txBody>
      </p:sp>
      <p:sp>
        <p:nvSpPr>
          <p:cNvPr id="19" name="Text 17"/>
          <p:cNvSpPr/>
          <p:nvPr/>
        </p:nvSpPr>
        <p:spPr>
          <a:xfrm>
            <a:off x="1097280" y="4956048"/>
            <a:ext cx="9966960" cy="365760"/>
          </a:xfrm>
          <a:prstGeom prst="rect">
            <a:avLst/>
          </a:prstGeom>
          <a:noFill/>
          <a:ln/>
        </p:spPr>
        <p:txBody>
          <a:bodyPr wrap="square" lIns="1016" tIns="1016" rIns="1016" bIns="1016" rtlCol="0" anchor="ctr">
            <a:normAutofit/>
          </a:bodyPr>
          <a:lstStyle/>
          <a:p>
            <a:pPr marL="0" indent="0" algn="ctr">
              <a:buNone/>
            </a:pPr>
            <a:r>
              <a:rPr lang="en-US" sz="2200" b="1" dirty="0">
                <a:solidFill>
                  <a:srgbClr val="9D174D"/>
                </a:solidFill>
                <a:latin typeface="Aptos" pitchFamily="34" charset="0"/>
                <a:ea typeface="Aptos" pitchFamily="34" charset="-122"/>
                <a:cs typeface="Aptos" pitchFamily="34" charset="-120"/>
              </a:rPr>
              <a:t>Common mistake: nonnegative entries do not guarantee PSD.</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Example 6: quadratic-form reading</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19 / 25</a:t>
            </a:r>
            <a:endParaRPr lang="en-US" sz="850" dirty="0"/>
          </a:p>
        </p:txBody>
      </p:sp>
      <p:sp>
        <p:nvSpPr>
          <p:cNvPr id="8" name="Shape 6"/>
          <p:cNvSpPr/>
          <p:nvPr/>
        </p:nvSpPr>
        <p:spPr>
          <a:xfrm>
            <a:off x="822960" y="1051560"/>
            <a:ext cx="2926080" cy="1051560"/>
          </a:xfrm>
          <a:prstGeom prst="roundRect">
            <a:avLst>
              <a:gd name="adj" fmla="val 6957"/>
            </a:avLst>
          </a:prstGeom>
          <a:solidFill>
            <a:srgbClr val="F8FAFC"/>
          </a:solidFill>
          <a:ln w="12700">
            <a:solidFill>
              <a:srgbClr val="E3EAF0"/>
            </a:solidFill>
            <a:prstDash val="solid"/>
          </a:ln>
        </p:spPr>
        <p:txBody>
          <a:bodyPr/>
          <a:lstStyle/>
          <a:p>
            <a:endParaRPr lang="en-US"/>
          </a:p>
        </p:txBody>
      </p:sp>
      <p:sp>
        <p:nvSpPr>
          <p:cNvPr id="9" name="Text 7"/>
          <p:cNvSpPr/>
          <p:nvPr/>
        </p:nvSpPr>
        <p:spPr>
          <a:xfrm>
            <a:off x="960120" y="1143000"/>
            <a:ext cx="2651760" cy="868680"/>
          </a:xfrm>
          <a:prstGeom prst="rect">
            <a:avLst/>
          </a:prstGeom>
          <a:noFill/>
          <a:ln/>
        </p:spPr>
        <p:txBody>
          <a:bodyPr wrap="square" lIns="0" tIns="0" rIns="0" bIns="0" rtlCol="0" anchor="ctr">
            <a:normAutofit/>
          </a:bodyPr>
          <a:lstStyle/>
          <a:p>
            <a:pPr marL="0" indent="0" algn="ctr">
              <a:buNone/>
            </a:pPr>
            <a:r>
              <a:rPr lang="en-US" sz="2400" dirty="0">
                <a:solidFill>
                  <a:srgbClr val="111827"/>
                </a:solidFill>
                <a:latin typeface="Courier New" pitchFamily="34" charset="0"/>
                <a:ea typeface="Courier New" pitchFamily="34" charset="-122"/>
                <a:cs typeface="Courier New" pitchFamily="34" charset="-120"/>
              </a:rPr>
              <a:t>A = [ 1  2 ]</a:t>
            </a:r>
            <a:endParaRPr lang="en-US" sz="2400" dirty="0"/>
          </a:p>
          <a:p>
            <a:pPr marL="0" indent="0" algn="ctr">
              <a:buNone/>
            </a:pPr>
            <a:r>
              <a:rPr lang="en-US" sz="2400" dirty="0">
                <a:solidFill>
                  <a:srgbClr val="111827"/>
                </a:solidFill>
                <a:latin typeface="Courier New" pitchFamily="34" charset="0"/>
                <a:ea typeface="Courier New" pitchFamily="34" charset="-122"/>
                <a:cs typeface="Courier New" pitchFamily="34" charset="-120"/>
              </a:rPr>
              <a:t>    [ 2  4 ]</a:t>
            </a:r>
            <a:endParaRPr lang="en-US" sz="2400" dirty="0"/>
          </a:p>
        </p:txBody>
      </p:sp>
      <p:sp>
        <p:nvSpPr>
          <p:cNvPr id="10" name="Shape 8"/>
          <p:cNvSpPr/>
          <p:nvPr/>
        </p:nvSpPr>
        <p:spPr>
          <a:xfrm>
            <a:off x="4251960" y="1051560"/>
            <a:ext cx="6903720" cy="713232"/>
          </a:xfrm>
          <a:prstGeom prst="roundRect">
            <a:avLst>
              <a:gd name="adj" fmla="val 11538"/>
            </a:avLst>
          </a:prstGeom>
          <a:solidFill>
            <a:srgbClr val="F8FAFC"/>
          </a:solidFill>
          <a:ln w="15240">
            <a:solidFill>
              <a:srgbClr val="083D62"/>
            </a:solidFill>
            <a:prstDash val="solid"/>
          </a:ln>
        </p:spPr>
        <p:txBody>
          <a:bodyPr/>
          <a:lstStyle/>
          <a:p>
            <a:endParaRPr lang="en-US"/>
          </a:p>
        </p:txBody>
      </p:sp>
      <p:sp>
        <p:nvSpPr>
          <p:cNvPr id="11" name="Text 9"/>
          <p:cNvSpPr/>
          <p:nvPr/>
        </p:nvSpPr>
        <p:spPr>
          <a:xfrm>
            <a:off x="4398264" y="1106424"/>
            <a:ext cx="6611112" cy="603504"/>
          </a:xfrm>
          <a:prstGeom prst="rect">
            <a:avLst/>
          </a:prstGeom>
          <a:noFill/>
          <a:ln/>
        </p:spPr>
        <p:txBody>
          <a:bodyPr wrap="square" lIns="0" tIns="0" rIns="0" bIns="0" rtlCol="0" anchor="ctr">
            <a:normAutofit/>
          </a:bodyPr>
          <a:lstStyle/>
          <a:p>
            <a:pPr marL="0" indent="0" algn="ctr">
              <a:buNone/>
            </a:pPr>
            <a:r>
              <a:rPr lang="en-US" sz="2100" dirty="0">
                <a:solidFill>
                  <a:srgbClr val="111827"/>
                </a:solidFill>
                <a:latin typeface="Aptos" pitchFamily="34" charset="0"/>
                <a:ea typeface="Aptos" pitchFamily="34" charset="-122"/>
                <a:cs typeface="Aptos" pitchFamily="34" charset="-120"/>
              </a:rPr>
              <a:t>xᵀAx = [x₁ x₂] [1 2; 2 4] [x₁; x₂]</a:t>
            </a:r>
            <a:endParaRPr lang="en-US" sz="2100" dirty="0"/>
          </a:p>
        </p:txBody>
      </p:sp>
      <p:sp>
        <p:nvSpPr>
          <p:cNvPr id="12" name="Shape 10"/>
          <p:cNvSpPr/>
          <p:nvPr/>
        </p:nvSpPr>
        <p:spPr>
          <a:xfrm>
            <a:off x="4251960" y="2148840"/>
            <a:ext cx="6903720" cy="914400"/>
          </a:xfrm>
          <a:prstGeom prst="roundRect">
            <a:avLst>
              <a:gd name="adj" fmla="val 9000"/>
            </a:avLst>
          </a:prstGeom>
          <a:solidFill>
            <a:srgbClr val="EAF4F4"/>
          </a:solidFill>
          <a:ln w="15240">
            <a:solidFill>
              <a:srgbClr val="0E6B68"/>
            </a:solidFill>
            <a:prstDash val="solid"/>
          </a:ln>
        </p:spPr>
        <p:txBody>
          <a:bodyPr/>
          <a:lstStyle/>
          <a:p>
            <a:endParaRPr lang="en-US"/>
          </a:p>
        </p:txBody>
      </p:sp>
      <p:sp>
        <p:nvSpPr>
          <p:cNvPr id="13" name="Text 11"/>
          <p:cNvSpPr/>
          <p:nvPr/>
        </p:nvSpPr>
        <p:spPr>
          <a:xfrm>
            <a:off x="4398264" y="2203704"/>
            <a:ext cx="6611112" cy="804672"/>
          </a:xfrm>
          <a:prstGeom prst="rect">
            <a:avLst/>
          </a:prstGeom>
          <a:noFill/>
          <a:ln/>
        </p:spPr>
        <p:txBody>
          <a:bodyPr wrap="square" lIns="0" tIns="0" rIns="0" bIns="0" rtlCol="0" anchor="ctr">
            <a:normAutofit/>
          </a:bodyPr>
          <a:lstStyle/>
          <a:p>
            <a:pPr marL="0" indent="0" algn="ctr">
              <a:buNone/>
            </a:pPr>
            <a:r>
              <a:rPr lang="en-US" sz="2500" dirty="0">
                <a:solidFill>
                  <a:srgbClr val="111827"/>
                </a:solidFill>
                <a:latin typeface="Aptos" pitchFamily="34" charset="0"/>
                <a:ea typeface="Aptos" pitchFamily="34" charset="-122"/>
                <a:cs typeface="Aptos" pitchFamily="34" charset="-120"/>
              </a:rPr>
              <a:t>= x₁² + 4x₁x₂ + 4x₂²</a:t>
            </a:r>
            <a:endParaRPr lang="en-US" sz="2500" dirty="0"/>
          </a:p>
          <a:p>
            <a:pPr marL="0" indent="0" algn="ctr">
              <a:buNone/>
            </a:pPr>
            <a:r>
              <a:rPr lang="en-US" sz="2500" dirty="0">
                <a:solidFill>
                  <a:srgbClr val="111827"/>
                </a:solidFill>
                <a:latin typeface="Aptos" pitchFamily="34" charset="0"/>
                <a:ea typeface="Aptos" pitchFamily="34" charset="-122"/>
                <a:cs typeface="Aptos" pitchFamily="34" charset="-120"/>
              </a:rPr>
              <a:t>= (x₁ + 2x₂)² ≥ 0</a:t>
            </a:r>
            <a:endParaRPr lang="en-US" sz="2500" dirty="0"/>
          </a:p>
        </p:txBody>
      </p:sp>
      <p:sp>
        <p:nvSpPr>
          <p:cNvPr id="14" name="Text 12"/>
          <p:cNvSpPr/>
          <p:nvPr/>
        </p:nvSpPr>
        <p:spPr>
          <a:xfrm>
            <a:off x="868680" y="3886200"/>
            <a:ext cx="10287000" cy="1325880"/>
          </a:xfrm>
          <a:prstGeom prst="rect">
            <a:avLst/>
          </a:prstGeom>
          <a:noFill/>
          <a:ln/>
        </p:spPr>
        <p:txBody>
          <a:bodyPr wrap="square" lIns="1016" tIns="1016" rIns="1016" bIns="1016" rtlCol="0" anchor="ctr">
            <a:normAutofit/>
          </a:bodyPr>
          <a:lstStyle/>
          <a:p>
            <a:r>
              <a:rPr lang="en-US" sz="2100" dirty="0">
                <a:solidFill>
                  <a:srgbClr val="111827"/>
                </a:solidFill>
                <a:latin typeface="Aptos" pitchFamily="34" charset="0"/>
                <a:ea typeface="Aptos" pitchFamily="34" charset="-122"/>
                <a:cs typeface="Aptos" pitchFamily="34" charset="-120"/>
              </a:rPr>
              <a:t>The matrix is PSD because the quadratic form is a square.
</a:t>
            </a:r>
            <a:endParaRPr lang="en-US" sz="2100" dirty="0"/>
          </a:p>
          <a:p>
            <a:r>
              <a:rPr lang="en-US" sz="2100" dirty="0">
                <a:solidFill>
                  <a:srgbClr val="111827"/>
                </a:solidFill>
                <a:latin typeface="Aptos" pitchFamily="34" charset="0"/>
                <a:ea typeface="Aptos" pitchFamily="34" charset="-122"/>
                <a:cs typeface="Aptos" pitchFamily="34" charset="-120"/>
              </a:rPr>
              <a:t>It is not positive definite because x = (−2,1) gives xᵀAx = 0.
</a:t>
            </a:r>
            <a:endParaRPr lang="en-US" sz="2100" dirty="0"/>
          </a:p>
          <a:p>
            <a:r>
              <a:rPr lang="en-US" sz="2100" dirty="0">
                <a:solidFill>
                  <a:srgbClr val="111827"/>
                </a:solidFill>
                <a:latin typeface="Aptos" pitchFamily="34" charset="0"/>
                <a:ea typeface="Aptos" pitchFamily="34" charset="-122"/>
                <a:cs typeface="Aptos" pitchFamily="34" charset="-120"/>
              </a:rPr>
              <a:t>Rank one structure: A = [1,2]ᵀ [1,2].</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Gram and covariance matrices are always PSD</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20 / 25</a:t>
            </a:r>
            <a:endParaRPr lang="en-US" sz="850" dirty="0"/>
          </a:p>
        </p:txBody>
      </p:sp>
      <p:sp>
        <p:nvSpPr>
          <p:cNvPr id="8" name="Shape 6"/>
          <p:cNvSpPr/>
          <p:nvPr/>
        </p:nvSpPr>
        <p:spPr>
          <a:xfrm>
            <a:off x="777240" y="1005840"/>
            <a:ext cx="3291840" cy="640080"/>
          </a:xfrm>
          <a:prstGeom prst="roundRect">
            <a:avLst>
              <a:gd name="adj" fmla="val 12857"/>
            </a:avLst>
          </a:prstGeom>
          <a:solidFill>
            <a:srgbClr val="F8FAFC"/>
          </a:solidFill>
          <a:ln w="15240">
            <a:solidFill>
              <a:srgbClr val="083D62"/>
            </a:solidFill>
            <a:prstDash val="solid"/>
          </a:ln>
        </p:spPr>
        <p:txBody>
          <a:bodyPr/>
          <a:lstStyle/>
          <a:p>
            <a:endParaRPr lang="en-US"/>
          </a:p>
        </p:txBody>
      </p:sp>
      <p:sp>
        <p:nvSpPr>
          <p:cNvPr id="9" name="Text 7"/>
          <p:cNvSpPr/>
          <p:nvPr/>
        </p:nvSpPr>
        <p:spPr>
          <a:xfrm>
            <a:off x="923544" y="1060704"/>
            <a:ext cx="2999232" cy="530352"/>
          </a:xfrm>
          <a:prstGeom prst="rect">
            <a:avLst/>
          </a:prstGeom>
          <a:noFill/>
          <a:ln/>
        </p:spPr>
        <p:txBody>
          <a:bodyPr wrap="square" lIns="0" tIns="0" rIns="0" bIns="0" rtlCol="0" anchor="ctr">
            <a:normAutofit/>
          </a:bodyPr>
          <a:lstStyle/>
          <a:p>
            <a:pPr marL="0" indent="0" algn="ctr">
              <a:buNone/>
            </a:pPr>
            <a:r>
              <a:rPr lang="en-US" sz="2800" dirty="0">
                <a:solidFill>
                  <a:srgbClr val="111827"/>
                </a:solidFill>
                <a:latin typeface="Aptos" pitchFamily="34" charset="0"/>
                <a:ea typeface="Aptos" pitchFamily="34" charset="-122"/>
                <a:cs typeface="Aptos" pitchFamily="34" charset="-120"/>
              </a:rPr>
              <a:t>G = XᵀX</a:t>
            </a:r>
            <a:endParaRPr lang="en-US" sz="2800" dirty="0"/>
          </a:p>
        </p:txBody>
      </p:sp>
      <p:sp>
        <p:nvSpPr>
          <p:cNvPr id="10" name="Shape 8"/>
          <p:cNvSpPr/>
          <p:nvPr/>
        </p:nvSpPr>
        <p:spPr>
          <a:xfrm>
            <a:off x="4526280" y="1005840"/>
            <a:ext cx="6812280" cy="640080"/>
          </a:xfrm>
          <a:prstGeom prst="roundRect">
            <a:avLst>
              <a:gd name="adj" fmla="val 12857"/>
            </a:avLst>
          </a:prstGeom>
          <a:solidFill>
            <a:srgbClr val="EAF4F4"/>
          </a:solidFill>
          <a:ln w="15240">
            <a:solidFill>
              <a:srgbClr val="0E6B68"/>
            </a:solidFill>
            <a:prstDash val="solid"/>
          </a:ln>
        </p:spPr>
        <p:txBody>
          <a:bodyPr/>
          <a:lstStyle/>
          <a:p>
            <a:endParaRPr lang="en-US"/>
          </a:p>
        </p:txBody>
      </p:sp>
      <p:sp>
        <p:nvSpPr>
          <p:cNvPr id="11" name="Text 9"/>
          <p:cNvSpPr/>
          <p:nvPr/>
        </p:nvSpPr>
        <p:spPr>
          <a:xfrm>
            <a:off x="4672584" y="1060704"/>
            <a:ext cx="6519672" cy="530352"/>
          </a:xfrm>
          <a:prstGeom prst="rect">
            <a:avLst/>
          </a:prstGeom>
          <a:noFill/>
          <a:ln/>
        </p:spPr>
        <p:txBody>
          <a:bodyPr wrap="square" lIns="0" tIns="0" rIns="0" bIns="0" rtlCol="0" anchor="ctr">
            <a:normAutofit/>
          </a:bodyPr>
          <a:lstStyle/>
          <a:p>
            <a:pPr marL="0" indent="0" algn="ctr">
              <a:buNone/>
            </a:pPr>
            <a:r>
              <a:rPr lang="en-US" sz="2300" dirty="0">
                <a:solidFill>
                  <a:srgbClr val="111827"/>
                </a:solidFill>
                <a:latin typeface="Aptos" pitchFamily="34" charset="0"/>
                <a:ea typeface="Aptos" pitchFamily="34" charset="-122"/>
                <a:cs typeface="Aptos" pitchFamily="34" charset="-120"/>
              </a:rPr>
              <a:t>xᵀGx = xᵀXᵀXx = ||Xx||₂² ≥ 0</a:t>
            </a:r>
            <a:endParaRPr lang="en-US" sz="2300" dirty="0"/>
          </a:p>
        </p:txBody>
      </p:sp>
      <p:sp>
        <p:nvSpPr>
          <p:cNvPr id="12" name="Shape 10"/>
          <p:cNvSpPr/>
          <p:nvPr/>
        </p:nvSpPr>
        <p:spPr>
          <a:xfrm>
            <a:off x="777240" y="2468880"/>
            <a:ext cx="3291840" cy="640080"/>
          </a:xfrm>
          <a:prstGeom prst="roundRect">
            <a:avLst>
              <a:gd name="adj" fmla="val 12857"/>
            </a:avLst>
          </a:prstGeom>
          <a:solidFill>
            <a:srgbClr val="F8FAFC"/>
          </a:solidFill>
          <a:ln w="15240">
            <a:solidFill>
              <a:srgbClr val="083D62"/>
            </a:solidFill>
            <a:prstDash val="solid"/>
          </a:ln>
        </p:spPr>
        <p:txBody>
          <a:bodyPr/>
          <a:lstStyle/>
          <a:p>
            <a:endParaRPr lang="en-US"/>
          </a:p>
        </p:txBody>
      </p:sp>
      <p:sp>
        <p:nvSpPr>
          <p:cNvPr id="13" name="Text 11"/>
          <p:cNvSpPr/>
          <p:nvPr/>
        </p:nvSpPr>
        <p:spPr>
          <a:xfrm>
            <a:off x="923544" y="2523744"/>
            <a:ext cx="2999232" cy="530352"/>
          </a:xfrm>
          <a:prstGeom prst="rect">
            <a:avLst/>
          </a:prstGeom>
          <a:noFill/>
          <a:ln/>
        </p:spPr>
        <p:txBody>
          <a:bodyPr wrap="square" lIns="0" tIns="0" rIns="0" bIns="0" rtlCol="0" anchor="ctr">
            <a:normAutofit/>
          </a:bodyPr>
          <a:lstStyle/>
          <a:p>
            <a:pPr marL="0" indent="0" algn="ctr">
              <a:buNone/>
            </a:pPr>
            <a:r>
              <a:rPr lang="en-US" sz="2300" dirty="0">
                <a:solidFill>
                  <a:srgbClr val="111827"/>
                </a:solidFill>
                <a:latin typeface="Aptos" pitchFamily="34" charset="0"/>
                <a:ea typeface="Aptos" pitchFamily="34" charset="-122"/>
                <a:cs typeface="Aptos" pitchFamily="34" charset="-120"/>
              </a:rPr>
              <a:t>C = 1/(m−1) XᵀX</a:t>
            </a:r>
            <a:endParaRPr lang="en-US" sz="2300" dirty="0"/>
          </a:p>
        </p:txBody>
      </p:sp>
      <p:sp>
        <p:nvSpPr>
          <p:cNvPr id="14" name="Shape 12"/>
          <p:cNvSpPr/>
          <p:nvPr/>
        </p:nvSpPr>
        <p:spPr>
          <a:xfrm>
            <a:off x="4526280" y="2468880"/>
            <a:ext cx="6812280" cy="640080"/>
          </a:xfrm>
          <a:prstGeom prst="roundRect">
            <a:avLst>
              <a:gd name="adj" fmla="val 12857"/>
            </a:avLst>
          </a:prstGeom>
          <a:solidFill>
            <a:srgbClr val="EAF4F4"/>
          </a:solidFill>
          <a:ln w="15240">
            <a:solidFill>
              <a:srgbClr val="0E6B68"/>
            </a:solidFill>
            <a:prstDash val="solid"/>
          </a:ln>
        </p:spPr>
        <p:txBody>
          <a:bodyPr/>
          <a:lstStyle/>
          <a:p>
            <a:endParaRPr lang="en-US"/>
          </a:p>
        </p:txBody>
      </p:sp>
      <p:sp>
        <p:nvSpPr>
          <p:cNvPr id="15" name="Text 13"/>
          <p:cNvSpPr/>
          <p:nvPr/>
        </p:nvSpPr>
        <p:spPr>
          <a:xfrm>
            <a:off x="4672584" y="2523744"/>
            <a:ext cx="6519672" cy="530352"/>
          </a:xfrm>
          <a:prstGeom prst="rect">
            <a:avLst/>
          </a:prstGeom>
          <a:noFill/>
          <a:ln/>
        </p:spPr>
        <p:txBody>
          <a:bodyPr wrap="square" lIns="0" tIns="0" rIns="0" bIns="0" rtlCol="0" anchor="ctr">
            <a:normAutofit/>
          </a:bodyPr>
          <a:lstStyle/>
          <a:p>
            <a:pPr marL="0" indent="0" algn="ctr">
              <a:buNone/>
            </a:pPr>
            <a:r>
              <a:rPr lang="en-US" sz="2300" dirty="0">
                <a:solidFill>
                  <a:srgbClr val="111827"/>
                </a:solidFill>
                <a:latin typeface="Aptos" pitchFamily="34" charset="0"/>
                <a:ea typeface="Aptos" pitchFamily="34" charset="-122"/>
                <a:cs typeface="Aptos" pitchFamily="34" charset="-120"/>
              </a:rPr>
              <a:t>xᵀCx = ||Xx||₂²/(m−1) ≥ 0</a:t>
            </a:r>
            <a:endParaRPr lang="en-US" sz="2300" dirty="0"/>
          </a:p>
        </p:txBody>
      </p:sp>
      <p:sp>
        <p:nvSpPr>
          <p:cNvPr id="16" name="Text 14"/>
          <p:cNvSpPr/>
          <p:nvPr/>
        </p:nvSpPr>
        <p:spPr>
          <a:xfrm>
            <a:off x="914400" y="3886200"/>
            <a:ext cx="10149840" cy="1325880"/>
          </a:xfrm>
          <a:prstGeom prst="rect">
            <a:avLst/>
          </a:prstGeom>
          <a:noFill/>
          <a:ln/>
        </p:spPr>
        <p:txBody>
          <a:bodyPr wrap="square" lIns="1016" tIns="1016" rIns="1016" bIns="1016" rtlCol="0" anchor="ctr">
            <a:normAutofit/>
          </a:bodyPr>
          <a:lstStyle/>
          <a:p>
            <a:r>
              <a:rPr lang="en-US" sz="2100" dirty="0">
                <a:solidFill>
                  <a:srgbClr val="111827"/>
                </a:solidFill>
                <a:latin typeface="Aptos" pitchFamily="34" charset="0"/>
                <a:ea typeface="Aptos" pitchFamily="34" charset="-122"/>
                <a:cs typeface="Aptos" pitchFamily="34" charset="-120"/>
              </a:rPr>
              <a:t>PCA works because covariance matrices are symmetric PSD.
</a:t>
            </a:r>
            <a:endParaRPr lang="en-US" sz="2100" dirty="0"/>
          </a:p>
          <a:p>
            <a:r>
              <a:rPr lang="en-US" sz="2100" dirty="0">
                <a:solidFill>
                  <a:srgbClr val="111827"/>
                </a:solidFill>
                <a:latin typeface="Aptos" pitchFamily="34" charset="0"/>
                <a:ea typeface="Aptos" pitchFamily="34" charset="-122"/>
                <a:cs typeface="Aptos" pitchFamily="34" charset="-120"/>
              </a:rPr>
              <a:t>Eigenvalues of C are variances along principal directions.
</a:t>
            </a:r>
            <a:endParaRPr lang="en-US" sz="2100" dirty="0"/>
          </a:p>
          <a:p>
            <a:r>
              <a:rPr lang="en-US" sz="2100" dirty="0">
                <a:solidFill>
                  <a:srgbClr val="111827"/>
                </a:solidFill>
                <a:latin typeface="Aptos" pitchFamily="34" charset="0"/>
                <a:ea typeface="Aptos" pitchFamily="34" charset="-122"/>
                <a:cs typeface="Aptos" pitchFamily="34" charset="-120"/>
              </a:rPr>
              <a:t>Zero eigenvalues mean directions with no observed variance.</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PSD square roots and factorizations</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21 / 25</a:t>
            </a:r>
            <a:endParaRPr lang="en-US" sz="850" dirty="0"/>
          </a:p>
        </p:txBody>
      </p:sp>
      <p:sp>
        <p:nvSpPr>
          <p:cNvPr id="8" name="Shape 6"/>
          <p:cNvSpPr/>
          <p:nvPr/>
        </p:nvSpPr>
        <p:spPr>
          <a:xfrm>
            <a:off x="777240" y="1005840"/>
            <a:ext cx="10607040" cy="713232"/>
          </a:xfrm>
          <a:prstGeom prst="roundRect">
            <a:avLst>
              <a:gd name="adj" fmla="val 11538"/>
            </a:avLst>
          </a:prstGeom>
          <a:solidFill>
            <a:srgbClr val="EAF4F4"/>
          </a:solidFill>
          <a:ln w="15240">
            <a:solidFill>
              <a:srgbClr val="0E6B68"/>
            </a:solidFill>
            <a:prstDash val="solid"/>
          </a:ln>
        </p:spPr>
        <p:txBody>
          <a:bodyPr/>
          <a:lstStyle/>
          <a:p>
            <a:endParaRPr lang="en-US"/>
          </a:p>
        </p:txBody>
      </p:sp>
      <p:sp>
        <p:nvSpPr>
          <p:cNvPr id="9" name="Text 7"/>
          <p:cNvSpPr/>
          <p:nvPr/>
        </p:nvSpPr>
        <p:spPr>
          <a:xfrm>
            <a:off x="923544" y="1060704"/>
            <a:ext cx="10314432" cy="603504"/>
          </a:xfrm>
          <a:prstGeom prst="rect">
            <a:avLst/>
          </a:prstGeom>
          <a:noFill/>
          <a:ln/>
        </p:spPr>
        <p:txBody>
          <a:bodyPr wrap="square" lIns="0" tIns="0" rIns="0" bIns="0" rtlCol="0" anchor="ctr">
            <a:normAutofit/>
          </a:bodyPr>
          <a:lstStyle/>
          <a:p>
            <a:pPr marL="0" indent="0" algn="ctr">
              <a:buNone/>
            </a:pPr>
            <a:r>
              <a:rPr lang="en-US" sz="2500" dirty="0">
                <a:solidFill>
                  <a:srgbClr val="111827"/>
                </a:solidFill>
                <a:latin typeface="Aptos" pitchFamily="34" charset="0"/>
                <a:ea typeface="Aptos" pitchFamily="34" charset="-122"/>
                <a:cs typeface="Aptos" pitchFamily="34" charset="-120"/>
              </a:rPr>
              <a:t>A = Q Λ Qᵀ,   Λ = diag(λᵢ),   λᵢ ≥ 0</a:t>
            </a:r>
            <a:endParaRPr lang="en-US" sz="2500" dirty="0"/>
          </a:p>
        </p:txBody>
      </p:sp>
      <p:sp>
        <p:nvSpPr>
          <p:cNvPr id="10" name="Shape 8"/>
          <p:cNvSpPr/>
          <p:nvPr/>
        </p:nvSpPr>
        <p:spPr>
          <a:xfrm>
            <a:off x="914400" y="2240280"/>
            <a:ext cx="3337560" cy="1234440"/>
          </a:xfrm>
          <a:prstGeom prst="roundRect">
            <a:avLst>
              <a:gd name="adj" fmla="val 7407"/>
            </a:avLst>
          </a:prstGeom>
          <a:solidFill>
            <a:srgbClr val="F3F6F8"/>
          </a:solidFill>
          <a:ln w="13970">
            <a:solidFill>
              <a:srgbClr val="E3EAF0"/>
            </a:solidFill>
            <a:prstDash val="solid"/>
          </a:ln>
        </p:spPr>
        <p:txBody>
          <a:bodyPr/>
          <a:lstStyle/>
          <a:p>
            <a:endParaRPr lang="en-US"/>
          </a:p>
        </p:txBody>
      </p:sp>
      <p:sp>
        <p:nvSpPr>
          <p:cNvPr id="11" name="Text 9"/>
          <p:cNvSpPr/>
          <p:nvPr/>
        </p:nvSpPr>
        <p:spPr>
          <a:xfrm>
            <a:off x="1060704" y="2350008"/>
            <a:ext cx="304495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Square root</a:t>
            </a:r>
            <a:endParaRPr lang="en-US" sz="1500" dirty="0"/>
          </a:p>
        </p:txBody>
      </p:sp>
      <p:sp>
        <p:nvSpPr>
          <p:cNvPr id="12" name="Text 10"/>
          <p:cNvSpPr/>
          <p:nvPr/>
        </p:nvSpPr>
        <p:spPr>
          <a:xfrm>
            <a:off x="1060704" y="2724912"/>
            <a:ext cx="3044952" cy="640080"/>
          </a:xfrm>
          <a:prstGeom prst="rect">
            <a:avLst/>
          </a:prstGeom>
          <a:noFill/>
          <a:ln/>
        </p:spPr>
        <p:txBody>
          <a:bodyPr wrap="square" lIns="0" tIns="0" rIns="0" bIns="0" rtlCol="0" anchor="ctr">
            <a:normAutofit/>
          </a:bodyPr>
          <a:lstStyle/>
          <a:p>
            <a:pPr marL="0" indent="0" algn="l">
              <a:buNone/>
            </a:pPr>
            <a:r>
              <a:rPr lang="en-US" sz="2000" dirty="0">
                <a:solidFill>
                  <a:srgbClr val="111827"/>
                </a:solidFill>
                <a:latin typeface="Aptos" pitchFamily="34" charset="0"/>
                <a:ea typeface="Aptos" pitchFamily="34" charset="-122"/>
                <a:cs typeface="Aptos" pitchFamily="34" charset="-120"/>
              </a:rPr>
              <a:t>A¹ᐟ² = Q Λ¹ᐟ² Qᵀ</a:t>
            </a:r>
            <a:endParaRPr lang="en-US" sz="2000" dirty="0"/>
          </a:p>
          <a:p>
            <a:pPr marL="0" indent="0" algn="l">
              <a:buNone/>
            </a:pPr>
            <a:r>
              <a:rPr lang="en-US" sz="2000" dirty="0">
                <a:solidFill>
                  <a:srgbClr val="111827"/>
                </a:solidFill>
                <a:latin typeface="Aptos" pitchFamily="34" charset="0"/>
                <a:ea typeface="Aptos" pitchFamily="34" charset="-122"/>
                <a:cs typeface="Aptos" pitchFamily="34" charset="-120"/>
              </a:rPr>
              <a:t>so A¹ᐟ² A¹ᐟ² = A.</a:t>
            </a:r>
            <a:endParaRPr lang="en-US" sz="2000" dirty="0"/>
          </a:p>
        </p:txBody>
      </p:sp>
      <p:sp>
        <p:nvSpPr>
          <p:cNvPr id="13" name="Shape 11"/>
          <p:cNvSpPr/>
          <p:nvPr/>
        </p:nvSpPr>
        <p:spPr>
          <a:xfrm>
            <a:off x="4434840" y="2240280"/>
            <a:ext cx="3337560" cy="1234440"/>
          </a:xfrm>
          <a:prstGeom prst="roundRect">
            <a:avLst>
              <a:gd name="adj" fmla="val 7407"/>
            </a:avLst>
          </a:prstGeom>
          <a:solidFill>
            <a:srgbClr val="F3F6F8"/>
          </a:solidFill>
          <a:ln w="13970">
            <a:solidFill>
              <a:srgbClr val="E3EAF0"/>
            </a:solidFill>
            <a:prstDash val="solid"/>
          </a:ln>
        </p:spPr>
        <p:txBody>
          <a:bodyPr/>
          <a:lstStyle/>
          <a:p>
            <a:endParaRPr lang="en-US"/>
          </a:p>
        </p:txBody>
      </p:sp>
      <p:sp>
        <p:nvSpPr>
          <p:cNvPr id="14" name="Text 12"/>
          <p:cNvSpPr/>
          <p:nvPr/>
        </p:nvSpPr>
        <p:spPr>
          <a:xfrm>
            <a:off x="4581144" y="2350008"/>
            <a:ext cx="304495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Gram factor</a:t>
            </a:r>
            <a:endParaRPr lang="en-US" sz="1500" dirty="0"/>
          </a:p>
        </p:txBody>
      </p:sp>
      <p:sp>
        <p:nvSpPr>
          <p:cNvPr id="15" name="Text 13"/>
          <p:cNvSpPr/>
          <p:nvPr/>
        </p:nvSpPr>
        <p:spPr>
          <a:xfrm>
            <a:off x="4581144" y="2724912"/>
            <a:ext cx="3044952" cy="640080"/>
          </a:xfrm>
          <a:prstGeom prst="rect">
            <a:avLst/>
          </a:prstGeom>
          <a:noFill/>
          <a:ln/>
        </p:spPr>
        <p:txBody>
          <a:bodyPr wrap="square" lIns="0" tIns="0" rIns="0" bIns="0" rtlCol="0" anchor="ctr">
            <a:normAutofit/>
          </a:bodyPr>
          <a:lstStyle/>
          <a:p>
            <a:pPr marL="0" indent="0" algn="l">
              <a:buNone/>
            </a:pPr>
            <a:r>
              <a:rPr lang="en-US" sz="2000" dirty="0">
                <a:solidFill>
                  <a:srgbClr val="111827"/>
                </a:solidFill>
                <a:latin typeface="Aptos" pitchFamily="34" charset="0"/>
                <a:ea typeface="Aptos" pitchFamily="34" charset="-122"/>
                <a:cs typeface="Aptos" pitchFamily="34" charset="-120"/>
              </a:rPr>
              <a:t>A = BᵀB with</a:t>
            </a:r>
            <a:endParaRPr lang="en-US" sz="2000" dirty="0"/>
          </a:p>
          <a:p>
            <a:pPr marL="0" indent="0" algn="l">
              <a:buNone/>
            </a:pPr>
            <a:r>
              <a:rPr lang="en-US" sz="2000" dirty="0">
                <a:solidFill>
                  <a:srgbClr val="111827"/>
                </a:solidFill>
                <a:latin typeface="Aptos" pitchFamily="34" charset="0"/>
                <a:ea typeface="Aptos" pitchFamily="34" charset="-122"/>
                <a:cs typeface="Aptos" pitchFamily="34" charset="-120"/>
              </a:rPr>
              <a:t>B = Λ¹ᐟ² Qᵀ.</a:t>
            </a:r>
            <a:endParaRPr lang="en-US" sz="2000" dirty="0"/>
          </a:p>
        </p:txBody>
      </p:sp>
      <p:sp>
        <p:nvSpPr>
          <p:cNvPr id="16" name="Shape 14"/>
          <p:cNvSpPr/>
          <p:nvPr/>
        </p:nvSpPr>
        <p:spPr>
          <a:xfrm>
            <a:off x="7955280" y="2240280"/>
            <a:ext cx="3337560" cy="1234440"/>
          </a:xfrm>
          <a:prstGeom prst="roundRect">
            <a:avLst>
              <a:gd name="adj" fmla="val 7407"/>
            </a:avLst>
          </a:prstGeom>
          <a:solidFill>
            <a:srgbClr val="F3F6F8"/>
          </a:solidFill>
          <a:ln w="13970">
            <a:solidFill>
              <a:srgbClr val="E3EAF0"/>
            </a:solidFill>
            <a:prstDash val="solid"/>
          </a:ln>
        </p:spPr>
        <p:txBody>
          <a:bodyPr/>
          <a:lstStyle/>
          <a:p>
            <a:endParaRPr lang="en-US"/>
          </a:p>
        </p:txBody>
      </p:sp>
      <p:sp>
        <p:nvSpPr>
          <p:cNvPr id="17" name="Text 15"/>
          <p:cNvSpPr/>
          <p:nvPr/>
        </p:nvSpPr>
        <p:spPr>
          <a:xfrm>
            <a:off x="8101584" y="2350008"/>
            <a:ext cx="304495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Cholesky</a:t>
            </a:r>
            <a:endParaRPr lang="en-US" sz="1500" dirty="0"/>
          </a:p>
        </p:txBody>
      </p:sp>
      <p:sp>
        <p:nvSpPr>
          <p:cNvPr id="18" name="Text 16"/>
          <p:cNvSpPr/>
          <p:nvPr/>
        </p:nvSpPr>
        <p:spPr>
          <a:xfrm>
            <a:off x="8101584" y="2724912"/>
            <a:ext cx="3044952" cy="640080"/>
          </a:xfrm>
          <a:prstGeom prst="rect">
            <a:avLst/>
          </a:prstGeom>
          <a:noFill/>
          <a:ln/>
        </p:spPr>
        <p:txBody>
          <a:bodyPr wrap="square" lIns="0" tIns="0" rIns="0" bIns="0" rtlCol="0" anchor="ctr">
            <a:normAutofit/>
          </a:bodyPr>
          <a:lstStyle/>
          <a:p>
            <a:pPr marL="0" indent="0" algn="l">
              <a:buNone/>
            </a:pPr>
            <a:r>
              <a:rPr lang="en-US" sz="2000" dirty="0">
                <a:solidFill>
                  <a:srgbClr val="111827"/>
                </a:solidFill>
                <a:latin typeface="Aptos" pitchFamily="34" charset="0"/>
                <a:ea typeface="Aptos" pitchFamily="34" charset="-122"/>
                <a:cs typeface="Aptos" pitchFamily="34" charset="-120"/>
              </a:rPr>
              <a:t>If A is positive definite,</a:t>
            </a:r>
            <a:endParaRPr lang="en-US" sz="2000" dirty="0"/>
          </a:p>
          <a:p>
            <a:pPr marL="0" indent="0" algn="l">
              <a:buNone/>
            </a:pPr>
            <a:r>
              <a:rPr lang="en-US" sz="2000" dirty="0">
                <a:solidFill>
                  <a:srgbClr val="111827"/>
                </a:solidFill>
                <a:latin typeface="Aptos" pitchFamily="34" charset="0"/>
                <a:ea typeface="Aptos" pitchFamily="34" charset="-122"/>
                <a:cs typeface="Aptos" pitchFamily="34" charset="-120"/>
              </a:rPr>
              <a:t>A = RᵀR with triangular R.</a:t>
            </a:r>
            <a:endParaRPr lang="en-US" sz="2000" dirty="0"/>
          </a:p>
        </p:txBody>
      </p:sp>
      <p:sp>
        <p:nvSpPr>
          <p:cNvPr id="19" name="Text 17"/>
          <p:cNvSpPr/>
          <p:nvPr/>
        </p:nvSpPr>
        <p:spPr>
          <a:xfrm>
            <a:off x="914400" y="4343400"/>
            <a:ext cx="10287000" cy="713232"/>
          </a:xfrm>
          <a:prstGeom prst="rect">
            <a:avLst/>
          </a:prstGeom>
          <a:noFill/>
          <a:ln/>
        </p:spPr>
        <p:txBody>
          <a:bodyPr wrap="square" lIns="1016" tIns="1016" rIns="1016" bIns="1016" rtlCol="0" anchor="ctr">
            <a:normAutofit/>
          </a:bodyPr>
          <a:lstStyle/>
          <a:p>
            <a:pPr marL="0" indent="0" algn="ctr">
              <a:buNone/>
            </a:pPr>
            <a:r>
              <a:rPr lang="en-US" sz="2200" b="1" dirty="0">
                <a:solidFill>
                  <a:srgbClr val="083D62"/>
                </a:solidFill>
                <a:latin typeface="Aptos" pitchFamily="34" charset="0"/>
                <a:ea typeface="Aptos" pitchFamily="34" charset="-122"/>
                <a:cs typeface="Aptos" pitchFamily="34" charset="-120"/>
              </a:rPr>
              <a:t>These factorizations turn “PSD” into computational tools: sampling Gaussians, whitening data, solving least squares, and building kernels.</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Numerical caution: tiny negative eigenvalues may be roundoff</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22 / 25</a:t>
            </a:r>
            <a:endParaRPr lang="en-US" sz="850" dirty="0"/>
          </a:p>
        </p:txBody>
      </p:sp>
      <p:sp>
        <p:nvSpPr>
          <p:cNvPr id="8" name="Text 6"/>
          <p:cNvSpPr/>
          <p:nvPr/>
        </p:nvSpPr>
        <p:spPr>
          <a:xfrm>
            <a:off x="731520" y="987552"/>
            <a:ext cx="10789920" cy="457200"/>
          </a:xfrm>
          <a:prstGeom prst="rect">
            <a:avLst/>
          </a:prstGeom>
          <a:noFill/>
          <a:ln/>
        </p:spPr>
        <p:txBody>
          <a:bodyPr wrap="square" lIns="1016" tIns="1016" rIns="1016" bIns="1016" rtlCol="0" anchor="ctr">
            <a:normAutofit/>
          </a:bodyPr>
          <a:lstStyle/>
          <a:p>
            <a:pPr marL="0" indent="0" algn="l">
              <a:buNone/>
            </a:pPr>
            <a:r>
              <a:rPr lang="en-US" sz="2200" dirty="0">
                <a:solidFill>
                  <a:srgbClr val="111827"/>
                </a:solidFill>
                <a:latin typeface="Aptos" pitchFamily="34" charset="0"/>
                <a:ea typeface="Aptos" pitchFamily="34" charset="-122"/>
                <a:cs typeface="Aptos" pitchFamily="34" charset="-120"/>
              </a:rPr>
              <a:t>In exact theory, covariance and Gram matrices are PSD. In floating point, computed eigenvalues can look like this:</a:t>
            </a:r>
            <a:endParaRPr lang="en-US" sz="2200" dirty="0"/>
          </a:p>
        </p:txBody>
      </p:sp>
      <p:sp>
        <p:nvSpPr>
          <p:cNvPr id="9" name="Shape 7"/>
          <p:cNvSpPr/>
          <p:nvPr/>
        </p:nvSpPr>
        <p:spPr>
          <a:xfrm>
            <a:off x="914400" y="1874520"/>
            <a:ext cx="10378440" cy="658368"/>
          </a:xfrm>
          <a:prstGeom prst="roundRect">
            <a:avLst>
              <a:gd name="adj" fmla="val 11111"/>
            </a:avLst>
          </a:prstGeom>
          <a:solidFill>
            <a:srgbClr val="F8FAFC"/>
          </a:solidFill>
          <a:ln w="12700">
            <a:solidFill>
              <a:srgbClr val="E3EAF0"/>
            </a:solidFill>
            <a:prstDash val="solid"/>
          </a:ln>
        </p:spPr>
        <p:txBody>
          <a:bodyPr/>
          <a:lstStyle/>
          <a:p>
            <a:endParaRPr lang="en-US"/>
          </a:p>
        </p:txBody>
      </p:sp>
      <p:sp>
        <p:nvSpPr>
          <p:cNvPr id="10" name="Text 8"/>
          <p:cNvSpPr/>
          <p:nvPr/>
        </p:nvSpPr>
        <p:spPr>
          <a:xfrm>
            <a:off x="1051560" y="1965960"/>
            <a:ext cx="10104120" cy="475488"/>
          </a:xfrm>
          <a:prstGeom prst="rect">
            <a:avLst/>
          </a:prstGeom>
          <a:noFill/>
          <a:ln/>
        </p:spPr>
        <p:txBody>
          <a:bodyPr wrap="square" lIns="0" tIns="0" rIns="0" bIns="0" rtlCol="0" anchor="ctr">
            <a:normAutofit/>
          </a:bodyPr>
          <a:lstStyle/>
          <a:p>
            <a:pPr marL="0" indent="0" algn="ctr">
              <a:buNone/>
            </a:pPr>
            <a:r>
              <a:rPr lang="en-US" sz="2000" dirty="0">
                <a:solidFill>
                  <a:srgbClr val="111827"/>
                </a:solidFill>
                <a:latin typeface="Courier New" pitchFamily="34" charset="0"/>
                <a:ea typeface="Courier New" pitchFamily="34" charset="-122"/>
                <a:cs typeface="Courier New" pitchFamily="34" charset="-120"/>
              </a:rPr>
              <a:t>λ = [ 12.6, 3.2, 0.08, 0.00001, −0.0000000003 ]</a:t>
            </a:r>
            <a:endParaRPr lang="en-US" sz="2000" dirty="0"/>
          </a:p>
        </p:txBody>
      </p:sp>
      <p:sp>
        <p:nvSpPr>
          <p:cNvPr id="11" name="Shape 9"/>
          <p:cNvSpPr/>
          <p:nvPr/>
        </p:nvSpPr>
        <p:spPr>
          <a:xfrm>
            <a:off x="914400" y="2971800"/>
            <a:ext cx="4937760" cy="1234440"/>
          </a:xfrm>
          <a:prstGeom prst="roundRect">
            <a:avLst>
              <a:gd name="adj" fmla="val 7407"/>
            </a:avLst>
          </a:prstGeom>
          <a:solidFill>
            <a:srgbClr val="F3F6F8"/>
          </a:solidFill>
          <a:ln w="13970">
            <a:solidFill>
              <a:srgbClr val="E3EAF0"/>
            </a:solidFill>
            <a:prstDash val="solid"/>
          </a:ln>
        </p:spPr>
        <p:txBody>
          <a:bodyPr/>
          <a:lstStyle/>
          <a:p>
            <a:endParaRPr lang="en-US"/>
          </a:p>
        </p:txBody>
      </p:sp>
      <p:sp>
        <p:nvSpPr>
          <p:cNvPr id="12" name="Text 10"/>
          <p:cNvSpPr/>
          <p:nvPr/>
        </p:nvSpPr>
        <p:spPr>
          <a:xfrm>
            <a:off x="1060704" y="3081528"/>
            <a:ext cx="464515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Interpretation</a:t>
            </a:r>
            <a:endParaRPr lang="en-US" sz="1500" dirty="0"/>
          </a:p>
        </p:txBody>
      </p:sp>
      <p:sp>
        <p:nvSpPr>
          <p:cNvPr id="13" name="Text 11"/>
          <p:cNvSpPr/>
          <p:nvPr/>
        </p:nvSpPr>
        <p:spPr>
          <a:xfrm>
            <a:off x="1060704" y="3456432"/>
            <a:ext cx="4645152" cy="640080"/>
          </a:xfrm>
          <a:prstGeom prst="rect">
            <a:avLst/>
          </a:prstGeom>
          <a:noFill/>
          <a:ln/>
        </p:spPr>
        <p:txBody>
          <a:bodyPr wrap="square" lIns="0" tIns="0" rIns="0" bIns="0" rtlCol="0" anchor="ctr">
            <a:normAutofit/>
          </a:bodyPr>
          <a:lstStyle/>
          <a:p>
            <a:pPr marL="0" indent="0" algn="l">
              <a:buNone/>
            </a:pPr>
            <a:r>
              <a:rPr lang="en-US" sz="1900" dirty="0">
                <a:solidFill>
                  <a:srgbClr val="111827"/>
                </a:solidFill>
                <a:latin typeface="Aptos" pitchFamily="34" charset="0"/>
                <a:ea typeface="Aptos" pitchFamily="34" charset="-122"/>
                <a:cs typeface="Aptos" pitchFamily="34" charset="-120"/>
              </a:rPr>
              <a:t>A negative eigenvalue at the scale of roundoff often means numerical error, not real negative variance.</a:t>
            </a:r>
            <a:endParaRPr lang="en-US" sz="1900" dirty="0"/>
          </a:p>
        </p:txBody>
      </p:sp>
      <p:sp>
        <p:nvSpPr>
          <p:cNvPr id="14" name="Shape 12"/>
          <p:cNvSpPr/>
          <p:nvPr/>
        </p:nvSpPr>
        <p:spPr>
          <a:xfrm>
            <a:off x="6355080" y="2971800"/>
            <a:ext cx="4937760" cy="1234440"/>
          </a:xfrm>
          <a:prstGeom prst="roundRect">
            <a:avLst>
              <a:gd name="adj" fmla="val 7407"/>
            </a:avLst>
          </a:prstGeom>
          <a:solidFill>
            <a:srgbClr val="F3F6F8"/>
          </a:solidFill>
          <a:ln w="13970">
            <a:solidFill>
              <a:srgbClr val="E3EAF0"/>
            </a:solidFill>
            <a:prstDash val="solid"/>
          </a:ln>
        </p:spPr>
        <p:txBody>
          <a:bodyPr/>
          <a:lstStyle/>
          <a:p>
            <a:endParaRPr lang="en-US"/>
          </a:p>
        </p:txBody>
      </p:sp>
      <p:sp>
        <p:nvSpPr>
          <p:cNvPr id="15" name="Text 13"/>
          <p:cNvSpPr/>
          <p:nvPr/>
        </p:nvSpPr>
        <p:spPr>
          <a:xfrm>
            <a:off x="6501384" y="3081528"/>
            <a:ext cx="464515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Common repair</a:t>
            </a:r>
            <a:endParaRPr lang="en-US" sz="1500" dirty="0"/>
          </a:p>
        </p:txBody>
      </p:sp>
      <p:sp>
        <p:nvSpPr>
          <p:cNvPr id="16" name="Text 14"/>
          <p:cNvSpPr/>
          <p:nvPr/>
        </p:nvSpPr>
        <p:spPr>
          <a:xfrm>
            <a:off x="6501384" y="3456432"/>
            <a:ext cx="4645152" cy="640080"/>
          </a:xfrm>
          <a:prstGeom prst="rect">
            <a:avLst/>
          </a:prstGeom>
          <a:noFill/>
          <a:ln/>
        </p:spPr>
        <p:txBody>
          <a:bodyPr wrap="square" lIns="0" tIns="0" rIns="0" bIns="0" rtlCol="0" anchor="ctr">
            <a:normAutofit/>
          </a:bodyPr>
          <a:lstStyle/>
          <a:p>
            <a:pPr marL="0" indent="0" algn="l">
              <a:buNone/>
            </a:pPr>
            <a:r>
              <a:rPr lang="en-US" sz="1900" dirty="0">
                <a:solidFill>
                  <a:srgbClr val="111827"/>
                </a:solidFill>
                <a:latin typeface="Aptos" pitchFamily="34" charset="0"/>
                <a:ea typeface="Aptos" pitchFamily="34" charset="-122"/>
                <a:cs typeface="Aptos" pitchFamily="34" charset="-120"/>
              </a:rPr>
              <a:t>Symmetrize A ← (A+Aᵀ)/2 and threshold tiny negative eigenvalues to zero when mathematically justified.</a:t>
            </a:r>
            <a:endParaRPr lang="en-US" sz="1900" dirty="0"/>
          </a:p>
        </p:txBody>
      </p:sp>
      <p:sp>
        <p:nvSpPr>
          <p:cNvPr id="17" name="Shape 15"/>
          <p:cNvSpPr/>
          <p:nvPr/>
        </p:nvSpPr>
        <p:spPr>
          <a:xfrm>
            <a:off x="1188720" y="4892040"/>
            <a:ext cx="9784080" cy="566928"/>
          </a:xfrm>
          <a:prstGeom prst="roundRect">
            <a:avLst>
              <a:gd name="adj" fmla="val 14516"/>
            </a:avLst>
          </a:prstGeom>
          <a:solidFill>
            <a:srgbClr val="FFF7ED"/>
          </a:solidFill>
          <a:ln w="15240">
            <a:solidFill>
              <a:srgbClr val="A85C00"/>
            </a:solidFill>
            <a:prstDash val="solid"/>
          </a:ln>
        </p:spPr>
        <p:txBody>
          <a:bodyPr/>
          <a:lstStyle/>
          <a:p>
            <a:endParaRPr lang="en-US"/>
          </a:p>
        </p:txBody>
      </p:sp>
      <p:sp>
        <p:nvSpPr>
          <p:cNvPr id="18" name="Text 16"/>
          <p:cNvSpPr/>
          <p:nvPr/>
        </p:nvSpPr>
        <p:spPr>
          <a:xfrm>
            <a:off x="1335024" y="4946904"/>
            <a:ext cx="9491472" cy="457200"/>
          </a:xfrm>
          <a:prstGeom prst="rect">
            <a:avLst/>
          </a:prstGeom>
          <a:noFill/>
          <a:ln/>
        </p:spPr>
        <p:txBody>
          <a:bodyPr wrap="square" lIns="0" tIns="0" rIns="0" bIns="0" rtlCol="0" anchor="ctr">
            <a:normAutofit/>
          </a:bodyPr>
          <a:lstStyle/>
          <a:p>
            <a:pPr marL="0" indent="0" algn="ctr">
              <a:buNone/>
            </a:pPr>
            <a:r>
              <a:rPr lang="en-US" sz="2200" dirty="0">
                <a:solidFill>
                  <a:srgbClr val="111827"/>
                </a:solidFill>
                <a:latin typeface="Aptos" pitchFamily="34" charset="0"/>
                <a:ea typeface="Aptos" pitchFamily="34" charset="-122"/>
                <a:cs typeface="Aptos" pitchFamily="34" charset="-120"/>
              </a:rPr>
              <a:t>But large negative eigenvalues are a real warning: the matrix is not PSD.</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Connections to earlier and later topics</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23 / 25</a:t>
            </a:r>
            <a:endParaRPr lang="en-US" sz="850" dirty="0"/>
          </a:p>
        </p:txBody>
      </p:sp>
      <p:sp>
        <p:nvSpPr>
          <p:cNvPr id="8" name="Shape 6"/>
          <p:cNvSpPr/>
          <p:nvPr/>
        </p:nvSpPr>
        <p:spPr>
          <a:xfrm>
            <a:off x="777240" y="1143000"/>
            <a:ext cx="342900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9" name="Text 7"/>
          <p:cNvSpPr/>
          <p:nvPr/>
        </p:nvSpPr>
        <p:spPr>
          <a:xfrm>
            <a:off x="923544" y="1252728"/>
            <a:ext cx="31363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SVD</a:t>
            </a:r>
            <a:endParaRPr lang="en-US" sz="1500" dirty="0"/>
          </a:p>
        </p:txBody>
      </p:sp>
      <p:sp>
        <p:nvSpPr>
          <p:cNvPr id="10" name="Text 8"/>
          <p:cNvSpPr/>
          <p:nvPr/>
        </p:nvSpPr>
        <p:spPr>
          <a:xfrm>
            <a:off x="923544" y="1627632"/>
            <a:ext cx="3136392" cy="548640"/>
          </a:xfrm>
          <a:prstGeom prst="rect">
            <a:avLst/>
          </a:prstGeom>
          <a:noFill/>
          <a:ln/>
        </p:spPr>
        <p:txBody>
          <a:bodyPr wrap="square" lIns="0" tIns="0" rIns="0" bIns="0" rtlCol="0" anchor="ctr">
            <a:normAutofit/>
          </a:bodyPr>
          <a:lstStyle/>
          <a:p>
            <a:pPr marL="0" indent="0" algn="l">
              <a:buNone/>
            </a:pPr>
            <a:r>
              <a:rPr lang="en-US" sz="2000" dirty="0">
                <a:solidFill>
                  <a:srgbClr val="111827"/>
                </a:solidFill>
                <a:latin typeface="Aptos" pitchFamily="34" charset="0"/>
                <a:ea typeface="Aptos" pitchFamily="34" charset="-122"/>
                <a:cs typeface="Aptos" pitchFamily="34" charset="-120"/>
              </a:rPr>
              <a:t>AᵀA is PSD. Its eigenvalues are σᵢ².</a:t>
            </a:r>
            <a:endParaRPr lang="en-US" sz="2000" dirty="0"/>
          </a:p>
        </p:txBody>
      </p:sp>
      <p:sp>
        <p:nvSpPr>
          <p:cNvPr id="11" name="Shape 9"/>
          <p:cNvSpPr/>
          <p:nvPr/>
        </p:nvSpPr>
        <p:spPr>
          <a:xfrm>
            <a:off x="4434840" y="1143000"/>
            <a:ext cx="342900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12" name="Text 10"/>
          <p:cNvSpPr/>
          <p:nvPr/>
        </p:nvSpPr>
        <p:spPr>
          <a:xfrm>
            <a:off x="4581144" y="1252728"/>
            <a:ext cx="31363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PCA</a:t>
            </a:r>
            <a:endParaRPr lang="en-US" sz="1500" dirty="0"/>
          </a:p>
        </p:txBody>
      </p:sp>
      <p:sp>
        <p:nvSpPr>
          <p:cNvPr id="13" name="Text 11"/>
          <p:cNvSpPr/>
          <p:nvPr/>
        </p:nvSpPr>
        <p:spPr>
          <a:xfrm>
            <a:off x="4581144" y="1627632"/>
            <a:ext cx="3136392" cy="548640"/>
          </a:xfrm>
          <a:prstGeom prst="rect">
            <a:avLst/>
          </a:prstGeom>
          <a:noFill/>
          <a:ln/>
        </p:spPr>
        <p:txBody>
          <a:bodyPr wrap="square" lIns="0" tIns="0" rIns="0" bIns="0" rtlCol="0" anchor="ctr">
            <a:normAutofit/>
          </a:bodyPr>
          <a:lstStyle/>
          <a:p>
            <a:pPr marL="0" indent="0" algn="l">
              <a:buNone/>
            </a:pPr>
            <a:r>
              <a:rPr lang="en-US" sz="2000" dirty="0">
                <a:solidFill>
                  <a:srgbClr val="111827"/>
                </a:solidFill>
                <a:latin typeface="Aptos" pitchFamily="34" charset="0"/>
                <a:ea typeface="Aptos" pitchFamily="34" charset="-122"/>
                <a:cs typeface="Aptos" pitchFamily="34" charset="-120"/>
              </a:rPr>
              <a:t>Covariance C is PSD. Its eigenvectors are principal directions.</a:t>
            </a:r>
            <a:endParaRPr lang="en-US" sz="2000" dirty="0"/>
          </a:p>
        </p:txBody>
      </p:sp>
      <p:sp>
        <p:nvSpPr>
          <p:cNvPr id="14" name="Shape 12"/>
          <p:cNvSpPr/>
          <p:nvPr/>
        </p:nvSpPr>
        <p:spPr>
          <a:xfrm>
            <a:off x="8092440" y="1143000"/>
            <a:ext cx="342900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15" name="Text 13"/>
          <p:cNvSpPr/>
          <p:nvPr/>
        </p:nvSpPr>
        <p:spPr>
          <a:xfrm>
            <a:off x="8238744" y="1252728"/>
            <a:ext cx="31363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Least squares</a:t>
            </a:r>
            <a:endParaRPr lang="en-US" sz="1500" dirty="0"/>
          </a:p>
        </p:txBody>
      </p:sp>
      <p:sp>
        <p:nvSpPr>
          <p:cNvPr id="16" name="Text 14"/>
          <p:cNvSpPr/>
          <p:nvPr/>
        </p:nvSpPr>
        <p:spPr>
          <a:xfrm>
            <a:off x="8238744" y="1627632"/>
            <a:ext cx="3136392" cy="548640"/>
          </a:xfrm>
          <a:prstGeom prst="rect">
            <a:avLst/>
          </a:prstGeom>
          <a:noFill/>
          <a:ln/>
        </p:spPr>
        <p:txBody>
          <a:bodyPr wrap="square" lIns="0" tIns="0" rIns="0" bIns="0" rtlCol="0" anchor="ctr">
            <a:normAutofit/>
          </a:bodyPr>
          <a:lstStyle/>
          <a:p>
            <a:pPr marL="0" indent="0" algn="l">
              <a:buNone/>
            </a:pPr>
            <a:r>
              <a:rPr lang="en-US" sz="1900" dirty="0">
                <a:solidFill>
                  <a:srgbClr val="111827"/>
                </a:solidFill>
                <a:latin typeface="Aptos" pitchFamily="34" charset="0"/>
                <a:ea typeface="Aptos" pitchFamily="34" charset="-122"/>
                <a:cs typeface="Aptos" pitchFamily="34" charset="-120"/>
              </a:rPr>
              <a:t>Normal equations use AᵀA, but forming it can square conditioning.</a:t>
            </a:r>
            <a:endParaRPr lang="en-US" sz="1900" dirty="0"/>
          </a:p>
        </p:txBody>
      </p:sp>
      <p:sp>
        <p:nvSpPr>
          <p:cNvPr id="17" name="Shape 15"/>
          <p:cNvSpPr/>
          <p:nvPr/>
        </p:nvSpPr>
        <p:spPr>
          <a:xfrm>
            <a:off x="777240" y="3337560"/>
            <a:ext cx="342900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18" name="Text 16"/>
          <p:cNvSpPr/>
          <p:nvPr/>
        </p:nvSpPr>
        <p:spPr>
          <a:xfrm>
            <a:off x="923544" y="3447288"/>
            <a:ext cx="31363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Eigenvalue algorithms</a:t>
            </a:r>
            <a:endParaRPr lang="en-US" sz="1500" dirty="0"/>
          </a:p>
        </p:txBody>
      </p:sp>
      <p:sp>
        <p:nvSpPr>
          <p:cNvPr id="19" name="Text 17"/>
          <p:cNvSpPr/>
          <p:nvPr/>
        </p:nvSpPr>
        <p:spPr>
          <a:xfrm>
            <a:off x="923544" y="3822192"/>
            <a:ext cx="3136392" cy="548640"/>
          </a:xfrm>
          <a:prstGeom prst="rect">
            <a:avLst/>
          </a:prstGeom>
          <a:noFill/>
          <a:ln/>
        </p:spPr>
        <p:txBody>
          <a:bodyPr wrap="square" lIns="0" tIns="0" rIns="0" bIns="0" rtlCol="0" anchor="ctr">
            <a:normAutofit/>
          </a:bodyPr>
          <a:lstStyle/>
          <a:p>
            <a:pPr marL="0" indent="0" algn="l">
              <a:buNone/>
            </a:pPr>
            <a:r>
              <a:rPr lang="en-US" sz="2000" dirty="0">
                <a:solidFill>
                  <a:srgbClr val="111827"/>
                </a:solidFill>
                <a:latin typeface="Aptos" pitchFamily="34" charset="0"/>
                <a:ea typeface="Aptos" pitchFamily="34" charset="-122"/>
                <a:cs typeface="Aptos" pitchFamily="34" charset="-120"/>
              </a:rPr>
              <a:t>QR iteration converges toward Schur form.</a:t>
            </a:r>
            <a:endParaRPr lang="en-US" sz="2000" dirty="0"/>
          </a:p>
        </p:txBody>
      </p:sp>
      <p:sp>
        <p:nvSpPr>
          <p:cNvPr id="20" name="Shape 18"/>
          <p:cNvSpPr/>
          <p:nvPr/>
        </p:nvSpPr>
        <p:spPr>
          <a:xfrm>
            <a:off x="4434840" y="3337560"/>
            <a:ext cx="342900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21" name="Text 19"/>
          <p:cNvSpPr/>
          <p:nvPr/>
        </p:nvSpPr>
        <p:spPr>
          <a:xfrm>
            <a:off x="4581144" y="3447288"/>
            <a:ext cx="31363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Matrix functions</a:t>
            </a:r>
            <a:endParaRPr lang="en-US" sz="1500" dirty="0"/>
          </a:p>
        </p:txBody>
      </p:sp>
      <p:sp>
        <p:nvSpPr>
          <p:cNvPr id="22" name="Text 20"/>
          <p:cNvSpPr/>
          <p:nvPr/>
        </p:nvSpPr>
        <p:spPr>
          <a:xfrm>
            <a:off x="4581144" y="3822192"/>
            <a:ext cx="3136392" cy="548640"/>
          </a:xfrm>
          <a:prstGeom prst="rect">
            <a:avLst/>
          </a:prstGeom>
          <a:noFill/>
          <a:ln/>
        </p:spPr>
        <p:txBody>
          <a:bodyPr wrap="square" lIns="0" tIns="0" rIns="0" bIns="0" rtlCol="0" anchor="ctr">
            <a:normAutofit/>
          </a:bodyPr>
          <a:lstStyle/>
          <a:p>
            <a:pPr marL="0" indent="0" algn="l">
              <a:buNone/>
            </a:pPr>
            <a:r>
              <a:rPr lang="en-US" sz="1900" dirty="0">
                <a:solidFill>
                  <a:srgbClr val="111827"/>
                </a:solidFill>
                <a:latin typeface="Aptos" pitchFamily="34" charset="0"/>
                <a:ea typeface="Aptos" pitchFamily="34" charset="-122"/>
                <a:cs typeface="Aptos" pitchFamily="34" charset="-120"/>
              </a:rPr>
              <a:t>Schur form helps compute exp(A), powers, and functions of matrices.</a:t>
            </a:r>
            <a:endParaRPr lang="en-US" sz="1900" dirty="0"/>
          </a:p>
        </p:txBody>
      </p:sp>
      <p:sp>
        <p:nvSpPr>
          <p:cNvPr id="23" name="Shape 21"/>
          <p:cNvSpPr/>
          <p:nvPr/>
        </p:nvSpPr>
        <p:spPr>
          <a:xfrm>
            <a:off x="8092440" y="3337560"/>
            <a:ext cx="342900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24" name="Text 22"/>
          <p:cNvSpPr/>
          <p:nvPr/>
        </p:nvSpPr>
        <p:spPr>
          <a:xfrm>
            <a:off x="8238744" y="3447288"/>
            <a:ext cx="313639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Scientific ML</a:t>
            </a:r>
            <a:endParaRPr lang="en-US" sz="1500" dirty="0"/>
          </a:p>
        </p:txBody>
      </p:sp>
      <p:sp>
        <p:nvSpPr>
          <p:cNvPr id="25" name="Text 23"/>
          <p:cNvSpPr/>
          <p:nvPr/>
        </p:nvSpPr>
        <p:spPr>
          <a:xfrm>
            <a:off x="8238744" y="3822192"/>
            <a:ext cx="3136392" cy="548640"/>
          </a:xfrm>
          <a:prstGeom prst="rect">
            <a:avLst/>
          </a:prstGeom>
          <a:noFill/>
          <a:ln/>
        </p:spPr>
        <p:txBody>
          <a:bodyPr wrap="square" lIns="0" tIns="0" rIns="0" bIns="0" rtlCol="0" anchor="ctr">
            <a:normAutofit/>
          </a:bodyPr>
          <a:lstStyle/>
          <a:p>
            <a:pPr marL="0" indent="0" algn="l">
              <a:buNone/>
            </a:pPr>
            <a:r>
              <a:rPr lang="en-US" sz="1900" dirty="0">
                <a:solidFill>
                  <a:srgbClr val="111827"/>
                </a:solidFill>
                <a:latin typeface="Aptos" pitchFamily="34" charset="0"/>
                <a:ea typeface="Aptos" pitchFamily="34" charset="-122"/>
                <a:cs typeface="Aptos" pitchFamily="34" charset="-120"/>
              </a:rPr>
              <a:t>PSD appears in kernels, covariance models, Gaussian processes, and energy norms.</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83D62"/>
          </a:solidFill>
          <a:ln w="12700">
            <a:solidFill>
              <a:srgbClr val="083D62"/>
            </a:solidFill>
            <a:prstDash val="solid"/>
          </a:ln>
        </p:spPr>
        <p:txBody>
          <a:bodyPr/>
          <a:lstStyle/>
          <a:p>
            <a:endParaRPr lang="en-US"/>
          </a:p>
        </p:txBody>
      </p:sp>
      <p:sp>
        <p:nvSpPr>
          <p:cNvPr id="3" name="Text 1"/>
          <p:cNvSpPr/>
          <p:nvPr/>
        </p:nvSpPr>
        <p:spPr>
          <a:xfrm>
            <a:off x="438912" y="137160"/>
            <a:ext cx="11201400" cy="347472"/>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In-class practice and exit questions</a:t>
            </a:r>
            <a:endParaRPr lang="en-US" sz="2400" dirty="0"/>
          </a:p>
        </p:txBody>
      </p:sp>
      <p:sp>
        <p:nvSpPr>
          <p:cNvPr id="4" name="Shape 2"/>
          <p:cNvSpPr/>
          <p:nvPr/>
        </p:nvSpPr>
        <p:spPr>
          <a:xfrm>
            <a:off x="0" y="6547104"/>
            <a:ext cx="12191695" cy="310896"/>
          </a:xfrm>
          <a:prstGeom prst="rect">
            <a:avLst/>
          </a:prstGeom>
          <a:solidFill>
            <a:srgbClr val="083D62"/>
          </a:solidFill>
          <a:ln w="12700">
            <a:solidFill>
              <a:srgbClr val="083D62"/>
            </a:solidFill>
            <a:prstDash val="solid"/>
          </a:ln>
        </p:spPr>
        <p:txBody>
          <a:bodyPr/>
          <a:lstStyle/>
          <a:p>
            <a:endParaRPr lang="en-US"/>
          </a:p>
        </p:txBody>
      </p:sp>
      <p:sp>
        <p:nvSpPr>
          <p:cNvPr id="5" name="Text 3"/>
          <p:cNvSpPr/>
          <p:nvPr/>
        </p:nvSpPr>
        <p:spPr>
          <a:xfrm>
            <a:off x="411480" y="6611112"/>
            <a:ext cx="3840480" cy="164592"/>
          </a:xfrm>
          <a:prstGeom prst="rect">
            <a:avLst/>
          </a:prstGeom>
          <a:noFill/>
          <a:ln/>
        </p:spPr>
        <p:txBody>
          <a:bodyPr wrap="square" lIns="0" tIns="0" rIns="0" bIns="0" rtlCol="0" anchor="ctr"/>
          <a:lstStyle/>
          <a:p>
            <a:pPr marL="0" indent="0">
              <a:buNone/>
            </a:pPr>
            <a:r>
              <a:rPr lang="en-US" sz="850" dirty="0">
                <a:solidFill>
                  <a:srgbClr val="FFFFFF"/>
                </a:solidFill>
                <a:latin typeface="Aptos" pitchFamily="34" charset="0"/>
                <a:ea typeface="Aptos" pitchFamily="34" charset="-122"/>
                <a:cs typeface="Aptos" pitchFamily="34" charset="-120"/>
              </a:rPr>
              <a:t>MATH 616 · Computational Linear Algebra</a:t>
            </a:r>
            <a:endParaRPr lang="en-US" sz="850" dirty="0"/>
          </a:p>
        </p:txBody>
      </p:sp>
      <p:sp>
        <p:nvSpPr>
          <p:cNvPr id="6" name="Text 4"/>
          <p:cNvSpPr/>
          <p:nvPr/>
        </p:nvSpPr>
        <p:spPr>
          <a:xfrm>
            <a:off x="4434840" y="6611112"/>
            <a:ext cx="3840480" cy="164592"/>
          </a:xfrm>
          <a:prstGeom prst="rect">
            <a:avLst/>
          </a:prstGeom>
          <a:noFill/>
          <a:ln/>
        </p:spPr>
        <p:txBody>
          <a:bodyPr wrap="square" lIns="0" tIns="0" rIns="0" bIns="0" rtlCol="0" anchor="ctr"/>
          <a:lstStyle/>
          <a:p>
            <a:pPr marL="0" indent="0" algn="ctr">
              <a:buNone/>
            </a:pPr>
            <a:r>
              <a:rPr lang="en-US" sz="850" dirty="0">
                <a:solidFill>
                  <a:srgbClr val="FFFFFF"/>
                </a:solidFill>
                <a:latin typeface="Aptos" pitchFamily="34" charset="0"/>
                <a:ea typeface="Aptos" pitchFamily="34" charset="-122"/>
                <a:cs typeface="Aptos" pitchFamily="34" charset="-120"/>
              </a:rPr>
              <a:t>Week 3 · Schur, Spectral Theorem, PSD</a:t>
            </a:r>
            <a:endParaRPr lang="en-US" sz="850" dirty="0"/>
          </a:p>
        </p:txBody>
      </p:sp>
      <p:sp>
        <p:nvSpPr>
          <p:cNvPr id="7" name="Text 5"/>
          <p:cNvSpPr/>
          <p:nvPr/>
        </p:nvSpPr>
        <p:spPr>
          <a:xfrm>
            <a:off x="11201400" y="6611112"/>
            <a:ext cx="594360" cy="164592"/>
          </a:xfrm>
          <a:prstGeom prst="rect">
            <a:avLst/>
          </a:prstGeom>
          <a:noFill/>
          <a:ln/>
        </p:spPr>
        <p:txBody>
          <a:bodyPr wrap="square" lIns="0" tIns="0" rIns="0" bIns="0" rtlCol="0" anchor="ctr"/>
          <a:lstStyle/>
          <a:p>
            <a:pPr marL="0" indent="0" algn="r">
              <a:buNone/>
            </a:pPr>
            <a:r>
              <a:rPr lang="en-US" sz="850" dirty="0">
                <a:solidFill>
                  <a:srgbClr val="FFFFFF"/>
                </a:solidFill>
                <a:latin typeface="Aptos" pitchFamily="34" charset="0"/>
                <a:ea typeface="Aptos" pitchFamily="34" charset="-122"/>
                <a:cs typeface="Aptos" pitchFamily="34" charset="-120"/>
              </a:rPr>
              <a:t>24 / 25</a:t>
            </a:r>
            <a:endParaRPr lang="en-US" sz="850" dirty="0"/>
          </a:p>
        </p:txBody>
      </p:sp>
      <p:sp>
        <p:nvSpPr>
          <p:cNvPr id="8" name="Shape 6"/>
          <p:cNvSpPr/>
          <p:nvPr/>
        </p:nvSpPr>
        <p:spPr>
          <a:xfrm>
            <a:off x="777240" y="960120"/>
            <a:ext cx="534924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9" name="Text 7"/>
          <p:cNvSpPr/>
          <p:nvPr/>
        </p:nvSpPr>
        <p:spPr>
          <a:xfrm>
            <a:off x="923544" y="1069848"/>
            <a:ext cx="50566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Practice 1</a:t>
            </a:r>
            <a:endParaRPr lang="en-US" sz="1500" dirty="0"/>
          </a:p>
        </p:txBody>
      </p:sp>
      <p:sp>
        <p:nvSpPr>
          <p:cNvPr id="10" name="Text 8"/>
          <p:cNvSpPr/>
          <p:nvPr/>
        </p:nvSpPr>
        <p:spPr>
          <a:xfrm>
            <a:off x="923544" y="1444752"/>
            <a:ext cx="5056632" cy="548640"/>
          </a:xfrm>
          <a:prstGeom prst="rect">
            <a:avLst/>
          </a:prstGeom>
          <a:noFill/>
          <a:ln/>
        </p:spPr>
        <p:txBody>
          <a:bodyPr wrap="square" lIns="0" tIns="0" rIns="0" bIns="0" rtlCol="0" anchor="ctr">
            <a:normAutofit/>
          </a:bodyPr>
          <a:lstStyle/>
          <a:p>
            <a:pPr marL="0" indent="0" algn="l">
              <a:buNone/>
            </a:pPr>
            <a:r>
              <a:rPr lang="en-US" sz="2000" dirty="0">
                <a:solidFill>
                  <a:srgbClr val="111827"/>
                </a:solidFill>
                <a:latin typeface="Aptos" pitchFamily="34" charset="0"/>
                <a:ea typeface="Aptos" pitchFamily="34" charset="-122"/>
                <a:cs typeface="Aptos" pitchFamily="34" charset="-120"/>
              </a:rPr>
              <a:t>For A = [1 1; 0 1], explain why diagonalization fails but Schur holds.</a:t>
            </a:r>
            <a:endParaRPr lang="en-US" sz="2000" dirty="0"/>
          </a:p>
        </p:txBody>
      </p:sp>
      <p:sp>
        <p:nvSpPr>
          <p:cNvPr id="11" name="Shape 9"/>
          <p:cNvSpPr/>
          <p:nvPr/>
        </p:nvSpPr>
        <p:spPr>
          <a:xfrm>
            <a:off x="6263640" y="960120"/>
            <a:ext cx="534924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12" name="Text 10"/>
          <p:cNvSpPr/>
          <p:nvPr/>
        </p:nvSpPr>
        <p:spPr>
          <a:xfrm>
            <a:off x="6409944" y="1069848"/>
            <a:ext cx="50566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Practice 2</a:t>
            </a:r>
            <a:endParaRPr lang="en-US" sz="1500" dirty="0"/>
          </a:p>
        </p:txBody>
      </p:sp>
      <p:sp>
        <p:nvSpPr>
          <p:cNvPr id="13" name="Text 11"/>
          <p:cNvSpPr/>
          <p:nvPr/>
        </p:nvSpPr>
        <p:spPr>
          <a:xfrm>
            <a:off x="6409944" y="1444752"/>
            <a:ext cx="5056632" cy="548640"/>
          </a:xfrm>
          <a:prstGeom prst="rect">
            <a:avLst/>
          </a:prstGeom>
          <a:noFill/>
          <a:ln/>
        </p:spPr>
        <p:txBody>
          <a:bodyPr wrap="square" lIns="0" tIns="0" rIns="0" bIns="0" rtlCol="0" anchor="ctr">
            <a:normAutofit/>
          </a:bodyPr>
          <a:lstStyle/>
          <a:p>
            <a:pPr marL="0" indent="0" algn="l">
              <a:buNone/>
            </a:pPr>
            <a:r>
              <a:rPr lang="en-US" sz="2000" dirty="0">
                <a:solidFill>
                  <a:srgbClr val="111827"/>
                </a:solidFill>
                <a:latin typeface="Aptos" pitchFamily="34" charset="0"/>
                <a:ea typeface="Aptos" pitchFamily="34" charset="-122"/>
                <a:cs typeface="Aptos" pitchFamily="34" charset="-120"/>
              </a:rPr>
              <a:t>Diagonalize A = [3 1; 1 3] using the spectral theorem.</a:t>
            </a:r>
            <a:endParaRPr lang="en-US" sz="2000" dirty="0"/>
          </a:p>
        </p:txBody>
      </p:sp>
      <p:sp>
        <p:nvSpPr>
          <p:cNvPr id="14" name="Shape 12"/>
          <p:cNvSpPr/>
          <p:nvPr/>
        </p:nvSpPr>
        <p:spPr>
          <a:xfrm>
            <a:off x="777240" y="2606040"/>
            <a:ext cx="5349240" cy="1143000"/>
          </a:xfrm>
          <a:prstGeom prst="roundRect">
            <a:avLst>
              <a:gd name="adj" fmla="val 8000"/>
            </a:avLst>
          </a:prstGeom>
          <a:solidFill>
            <a:srgbClr val="F3F6F8"/>
          </a:solidFill>
          <a:ln w="13970">
            <a:solidFill>
              <a:srgbClr val="E3EAF0"/>
            </a:solidFill>
            <a:prstDash val="solid"/>
          </a:ln>
        </p:spPr>
        <p:txBody>
          <a:bodyPr/>
          <a:lstStyle/>
          <a:p>
            <a:endParaRPr lang="en-US"/>
          </a:p>
        </p:txBody>
      </p:sp>
      <p:sp>
        <p:nvSpPr>
          <p:cNvPr id="15" name="Text 13"/>
          <p:cNvSpPr/>
          <p:nvPr/>
        </p:nvSpPr>
        <p:spPr>
          <a:xfrm>
            <a:off x="923544" y="2715768"/>
            <a:ext cx="50566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Practice 3</a:t>
            </a:r>
            <a:endParaRPr lang="en-US" sz="1500" dirty="0"/>
          </a:p>
        </p:txBody>
      </p:sp>
      <p:sp>
        <p:nvSpPr>
          <p:cNvPr id="16" name="Text 14"/>
          <p:cNvSpPr/>
          <p:nvPr/>
        </p:nvSpPr>
        <p:spPr>
          <a:xfrm>
            <a:off x="923544" y="3090672"/>
            <a:ext cx="5056632" cy="548640"/>
          </a:xfrm>
          <a:prstGeom prst="rect">
            <a:avLst/>
          </a:prstGeom>
          <a:noFill/>
          <a:ln/>
        </p:spPr>
        <p:txBody>
          <a:bodyPr wrap="square" lIns="0" tIns="0" rIns="0" bIns="0" rtlCol="0" anchor="ctr">
            <a:normAutofit/>
          </a:bodyPr>
          <a:lstStyle/>
          <a:p>
            <a:pPr marL="0" indent="0" algn="l">
              <a:buNone/>
            </a:pPr>
            <a:r>
              <a:rPr lang="en-US" sz="2000" dirty="0">
                <a:solidFill>
                  <a:srgbClr val="111827"/>
                </a:solidFill>
                <a:latin typeface="Aptos" pitchFamily="34" charset="0"/>
                <a:ea typeface="Aptos" pitchFamily="34" charset="-122"/>
                <a:cs typeface="Aptos" pitchFamily="34" charset="-120"/>
              </a:rPr>
              <a:t>Classify [1 2; 2 4] and [1 2; 2 1] as PSD, PD, or indefinite.</a:t>
            </a:r>
            <a:endParaRPr lang="en-US" sz="2000" dirty="0"/>
          </a:p>
        </p:txBody>
      </p:sp>
      <p:sp>
        <p:nvSpPr>
          <p:cNvPr id="17" name="Shape 15"/>
          <p:cNvSpPr/>
          <p:nvPr/>
        </p:nvSpPr>
        <p:spPr>
          <a:xfrm>
            <a:off x="6263640" y="2606040"/>
            <a:ext cx="5349240" cy="1143000"/>
          </a:xfrm>
          <a:prstGeom prst="roundRect">
            <a:avLst>
              <a:gd name="adj" fmla="val 8000"/>
            </a:avLst>
          </a:prstGeom>
          <a:solidFill>
            <a:srgbClr val="EAF4F4"/>
          </a:solidFill>
          <a:ln w="13970">
            <a:solidFill>
              <a:srgbClr val="0E6B68"/>
            </a:solidFill>
            <a:prstDash val="solid"/>
          </a:ln>
        </p:spPr>
        <p:txBody>
          <a:bodyPr/>
          <a:lstStyle/>
          <a:p>
            <a:endParaRPr lang="en-US"/>
          </a:p>
        </p:txBody>
      </p:sp>
      <p:sp>
        <p:nvSpPr>
          <p:cNvPr id="18" name="Text 16"/>
          <p:cNvSpPr/>
          <p:nvPr/>
        </p:nvSpPr>
        <p:spPr>
          <a:xfrm>
            <a:off x="6409944" y="2715768"/>
            <a:ext cx="5056632" cy="274320"/>
          </a:xfrm>
          <a:prstGeom prst="rect">
            <a:avLst/>
          </a:prstGeom>
          <a:noFill/>
          <a:ln/>
        </p:spPr>
        <p:txBody>
          <a:bodyPr wrap="square" lIns="0" tIns="0" rIns="0" bIns="0" rtlCol="0" anchor="ctr">
            <a:normAutofit/>
          </a:bodyPr>
          <a:lstStyle/>
          <a:p>
            <a:pPr marL="0" indent="0" algn="l">
              <a:buNone/>
            </a:pPr>
            <a:r>
              <a:rPr lang="en-US" sz="1500" b="1" dirty="0">
                <a:solidFill>
                  <a:srgbClr val="083D62"/>
                </a:solidFill>
                <a:latin typeface="Aptos" pitchFamily="34" charset="0"/>
                <a:ea typeface="Aptos" pitchFamily="34" charset="-122"/>
                <a:cs typeface="Aptos" pitchFamily="34" charset="-120"/>
              </a:rPr>
              <a:t>Exit question</a:t>
            </a:r>
            <a:endParaRPr lang="en-US" sz="1500" dirty="0"/>
          </a:p>
        </p:txBody>
      </p:sp>
      <p:sp>
        <p:nvSpPr>
          <p:cNvPr id="19" name="Text 17"/>
          <p:cNvSpPr/>
          <p:nvPr/>
        </p:nvSpPr>
        <p:spPr>
          <a:xfrm>
            <a:off x="6409944" y="3090672"/>
            <a:ext cx="5056632" cy="548640"/>
          </a:xfrm>
          <a:prstGeom prst="rect">
            <a:avLst/>
          </a:prstGeom>
          <a:noFill/>
          <a:ln/>
        </p:spPr>
        <p:txBody>
          <a:bodyPr wrap="square" lIns="0" tIns="0" rIns="0" bIns="0" rtlCol="0" anchor="ctr">
            <a:normAutofit/>
          </a:bodyPr>
          <a:lstStyle/>
          <a:p>
            <a:pPr marL="0" indent="0" algn="l">
              <a:buNone/>
            </a:pPr>
            <a:r>
              <a:rPr lang="en-US" sz="2000" dirty="0">
                <a:solidFill>
                  <a:srgbClr val="111827"/>
                </a:solidFill>
                <a:latin typeface="Aptos" pitchFamily="34" charset="0"/>
                <a:ea typeface="Aptos" pitchFamily="34" charset="-122"/>
                <a:cs typeface="Aptos" pitchFamily="34" charset="-120"/>
              </a:rPr>
              <a:t>In one sentence: why is Schur more reliable than diagonalization for numerical eigenvalue computation?</a:t>
            </a:r>
            <a:endParaRPr lang="en-US" sz="2000" dirty="0"/>
          </a:p>
        </p:txBody>
      </p:sp>
      <p:sp>
        <p:nvSpPr>
          <p:cNvPr id="20" name="Text 18"/>
          <p:cNvSpPr/>
          <p:nvPr/>
        </p:nvSpPr>
        <p:spPr>
          <a:xfrm>
            <a:off x="922950" y="4383173"/>
            <a:ext cx="10278450" cy="1148947"/>
          </a:xfrm>
          <a:prstGeom prst="rect">
            <a:avLst/>
          </a:prstGeom>
          <a:noFill/>
          <a:ln/>
        </p:spPr>
        <p:txBody>
          <a:bodyPr wrap="square" lIns="1016" tIns="1016" rIns="1016" bIns="1016" rtlCol="0" anchor="ctr">
            <a:normAutofit/>
          </a:bodyPr>
          <a:lstStyle/>
          <a:p>
            <a:pPr marL="0" indent="0" algn="ctr">
              <a:buNone/>
            </a:pPr>
            <a:r>
              <a:rPr lang="en-US" sz="2300" b="1" dirty="0">
                <a:solidFill>
                  <a:srgbClr val="083D62"/>
                </a:solidFill>
                <a:latin typeface="Aptos" pitchFamily="34" charset="0"/>
                <a:ea typeface="Aptos" pitchFamily="34" charset="-122"/>
                <a:cs typeface="Aptos" pitchFamily="34" charset="-120"/>
              </a:rPr>
              <a:t>Summary: Schur is universal and stable; the spectral theorem is the diagonal case for symmetric/normal matrices; PSD means nonnegative energy in every direction.</a:t>
            </a:r>
            <a:endParaRPr lang="en-US" sz="2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3465</Words>
  <Application>Microsoft Office PowerPoint</Application>
  <PresentationFormat>Widescreen</PresentationFormat>
  <Paragraphs>388</Paragraphs>
  <Slides>25</Slides>
  <Notes>25</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Old Dominion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 616 Week 3: Schur, Spectral Theorem, PSD Matrices</dc:title>
  <dc:subject>MATH 616 Week 3: Schur decomposition, spectral theorem, positive semidefinite matrices</dc:subject>
  <dc:creator>Dr. Xuping Xie</dc:creator>
  <cp:lastModifiedBy>Xie, Xuping</cp:lastModifiedBy>
  <cp:revision>8</cp:revision>
  <dcterms:created xsi:type="dcterms:W3CDTF">2026-09-09T02:13:39Z</dcterms:created>
  <dcterms:modified xsi:type="dcterms:W3CDTF">2026-09-15T20:25:16Z</dcterms:modified>
</cp:coreProperties>
</file>